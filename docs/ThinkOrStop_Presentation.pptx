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 Ashwini Khandelwal" initials="M" lastIdx="1" clrIdx="0">
    <p:extLst>
      <p:ext uri="{19B8F6BF-5375-455C-9EA6-DF929625EA0E}">
        <p15:presenceInfo xmlns:p15="http://schemas.microsoft.com/office/powerpoint/2012/main" userId="S::Ashwini.Khandelwal@universalai.in::50d79649-c9a3-4c46-b849-05008ff456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55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706" autoAdjust="0"/>
  </p:normalViewPr>
  <p:slideViewPr>
    <p:cSldViewPr snapToGrid="0">
      <p:cViewPr varScale="1">
        <p:scale>
          <a:sx n="110" d="100"/>
          <a:sy n="110" d="100"/>
        </p:scale>
        <p:origin x="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solidFill>
                  <a:srgbClr val="1A1A1A"/>
                </a:solidFill>
              </a:rPr>
              <a:t>Validation accuracy per exit (%), seed 0</a:t>
            </a:r>
          </a:p>
        </c:rich>
      </c:tx>
      <c:overlay val="0"/>
    </c:title>
    <c:autoTitleDeleted val="0"/>
    <c:plotArea>
      <c:layout/>
      <c:lineChart>
        <c:grouping val="standard"/>
        <c:varyColors val="0"/>
        <c:ser>
          <c:idx val="0"/>
          <c:order val="0"/>
          <c:tx>
            <c:strRef>
              <c:f>Sheet1!$B$1</c:f>
              <c:strCache>
                <c:ptCount val="1"/>
                <c:pt idx="0">
                  <c:v>Exit 1</c:v>
                </c:pt>
              </c:strCache>
            </c:strRef>
          </c:tx>
          <c:spPr>
            <a:ln w="28575">
              <a:solidFill>
                <a:srgbClr val="2A55A1"/>
              </a:solidFill>
            </a:ln>
          </c:spPr>
          <c:marker>
            <c:symbol val="none"/>
          </c:marker>
          <c:cat>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Sheet1!$B$2:$B$31</c:f>
              <c:numCache>
                <c:formatCode>General</c:formatCode>
                <c:ptCount val="30"/>
                <c:pt idx="0">
                  <c:v>42.36</c:v>
                </c:pt>
                <c:pt idx="1">
                  <c:v>49.54</c:v>
                </c:pt>
                <c:pt idx="2">
                  <c:v>49.54</c:v>
                </c:pt>
                <c:pt idx="3">
                  <c:v>55.66</c:v>
                </c:pt>
                <c:pt idx="4">
                  <c:v>56.38</c:v>
                </c:pt>
                <c:pt idx="5">
                  <c:v>58.04</c:v>
                </c:pt>
                <c:pt idx="6">
                  <c:v>59.54</c:v>
                </c:pt>
                <c:pt idx="7">
                  <c:v>60.76</c:v>
                </c:pt>
                <c:pt idx="8">
                  <c:v>62.44</c:v>
                </c:pt>
                <c:pt idx="9">
                  <c:v>61.34</c:v>
                </c:pt>
                <c:pt idx="10">
                  <c:v>63.1</c:v>
                </c:pt>
                <c:pt idx="11">
                  <c:v>61.88</c:v>
                </c:pt>
                <c:pt idx="12">
                  <c:v>63.88</c:v>
                </c:pt>
                <c:pt idx="13">
                  <c:v>63.38</c:v>
                </c:pt>
                <c:pt idx="14">
                  <c:v>61.64</c:v>
                </c:pt>
                <c:pt idx="15">
                  <c:v>65.959999999999994</c:v>
                </c:pt>
                <c:pt idx="16">
                  <c:v>65.94</c:v>
                </c:pt>
                <c:pt idx="17">
                  <c:v>65.180000000000007</c:v>
                </c:pt>
                <c:pt idx="18">
                  <c:v>66.239999999999995</c:v>
                </c:pt>
                <c:pt idx="19">
                  <c:v>66.92</c:v>
                </c:pt>
                <c:pt idx="20">
                  <c:v>67.2</c:v>
                </c:pt>
                <c:pt idx="21">
                  <c:v>67</c:v>
                </c:pt>
                <c:pt idx="22">
                  <c:v>67.760000000000005</c:v>
                </c:pt>
                <c:pt idx="23">
                  <c:v>68.12</c:v>
                </c:pt>
                <c:pt idx="24">
                  <c:v>68.22</c:v>
                </c:pt>
                <c:pt idx="25">
                  <c:v>68.34</c:v>
                </c:pt>
                <c:pt idx="26">
                  <c:v>68.34</c:v>
                </c:pt>
                <c:pt idx="27">
                  <c:v>68.459999999999994</c:v>
                </c:pt>
                <c:pt idx="28">
                  <c:v>68.5</c:v>
                </c:pt>
                <c:pt idx="29">
                  <c:v>68.62</c:v>
                </c:pt>
              </c:numCache>
            </c:numRef>
          </c:val>
          <c:smooth val="0"/>
          <c:extLst>
            <c:ext xmlns:c16="http://schemas.microsoft.com/office/drawing/2014/chart" uri="{C3380CC4-5D6E-409C-BE32-E72D297353CC}">
              <c16:uniqueId val="{00000000-1723-4C51-BBBD-CCEC0B768D4A}"/>
            </c:ext>
          </c:extLst>
        </c:ser>
        <c:ser>
          <c:idx val="1"/>
          <c:order val="1"/>
          <c:tx>
            <c:strRef>
              <c:f>Sheet1!$C$1</c:f>
              <c:strCache>
                <c:ptCount val="1"/>
                <c:pt idx="0">
                  <c:v>Exit 2</c:v>
                </c:pt>
              </c:strCache>
            </c:strRef>
          </c:tx>
          <c:spPr>
            <a:ln w="28575">
              <a:solidFill>
                <a:srgbClr val="C2570C"/>
              </a:solidFill>
            </a:ln>
          </c:spPr>
          <c:marker>
            <c:symbol val="none"/>
          </c:marker>
          <c:cat>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Sheet1!$C$2:$C$31</c:f>
              <c:numCache>
                <c:formatCode>General</c:formatCode>
                <c:ptCount val="30"/>
                <c:pt idx="0">
                  <c:v>52.76</c:v>
                </c:pt>
                <c:pt idx="1">
                  <c:v>66.8</c:v>
                </c:pt>
                <c:pt idx="2">
                  <c:v>68.099999999999994</c:v>
                </c:pt>
                <c:pt idx="3">
                  <c:v>72.260000000000005</c:v>
                </c:pt>
                <c:pt idx="4">
                  <c:v>70.58</c:v>
                </c:pt>
                <c:pt idx="5">
                  <c:v>75.260000000000005</c:v>
                </c:pt>
                <c:pt idx="6">
                  <c:v>75.739999999999995</c:v>
                </c:pt>
                <c:pt idx="7">
                  <c:v>77.680000000000007</c:v>
                </c:pt>
                <c:pt idx="8">
                  <c:v>78.7</c:v>
                </c:pt>
                <c:pt idx="9">
                  <c:v>77.260000000000005</c:v>
                </c:pt>
                <c:pt idx="10">
                  <c:v>80.42</c:v>
                </c:pt>
                <c:pt idx="11">
                  <c:v>80.42</c:v>
                </c:pt>
                <c:pt idx="12">
                  <c:v>80.540000000000006</c:v>
                </c:pt>
                <c:pt idx="13">
                  <c:v>79.680000000000007</c:v>
                </c:pt>
                <c:pt idx="14">
                  <c:v>79.06</c:v>
                </c:pt>
                <c:pt idx="15">
                  <c:v>82.5</c:v>
                </c:pt>
                <c:pt idx="16">
                  <c:v>84.84</c:v>
                </c:pt>
                <c:pt idx="17">
                  <c:v>81.36</c:v>
                </c:pt>
                <c:pt idx="18">
                  <c:v>86.02</c:v>
                </c:pt>
                <c:pt idx="19">
                  <c:v>84.28</c:v>
                </c:pt>
                <c:pt idx="20">
                  <c:v>85.7</c:v>
                </c:pt>
                <c:pt idx="21">
                  <c:v>85.44</c:v>
                </c:pt>
                <c:pt idx="22">
                  <c:v>86.32</c:v>
                </c:pt>
                <c:pt idx="23">
                  <c:v>86.4</c:v>
                </c:pt>
                <c:pt idx="24">
                  <c:v>86.8</c:v>
                </c:pt>
                <c:pt idx="25">
                  <c:v>86.9</c:v>
                </c:pt>
                <c:pt idx="26">
                  <c:v>86.98</c:v>
                </c:pt>
                <c:pt idx="27">
                  <c:v>87.18</c:v>
                </c:pt>
                <c:pt idx="28">
                  <c:v>87.3</c:v>
                </c:pt>
                <c:pt idx="29">
                  <c:v>87.28</c:v>
                </c:pt>
              </c:numCache>
            </c:numRef>
          </c:val>
          <c:smooth val="0"/>
          <c:extLst>
            <c:ext xmlns:c16="http://schemas.microsoft.com/office/drawing/2014/chart" uri="{C3380CC4-5D6E-409C-BE32-E72D297353CC}">
              <c16:uniqueId val="{00000001-1723-4C51-BBBD-CCEC0B768D4A}"/>
            </c:ext>
          </c:extLst>
        </c:ser>
        <c:ser>
          <c:idx val="2"/>
          <c:order val="2"/>
          <c:tx>
            <c:strRef>
              <c:f>Sheet1!$D$1</c:f>
              <c:strCache>
                <c:ptCount val="1"/>
                <c:pt idx="0">
                  <c:v>Exit 3</c:v>
                </c:pt>
              </c:strCache>
            </c:strRef>
          </c:tx>
          <c:spPr>
            <a:ln w="28575">
              <a:solidFill>
                <a:srgbClr val="518113"/>
              </a:solidFill>
            </a:ln>
          </c:spPr>
          <c:marker>
            <c:symbol val="none"/>
          </c:marker>
          <c:cat>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Sheet1!$D$2:$D$31</c:f>
              <c:numCache>
                <c:formatCode>General</c:formatCode>
                <c:ptCount val="30"/>
                <c:pt idx="0">
                  <c:v>51.7</c:v>
                </c:pt>
                <c:pt idx="1">
                  <c:v>70.06</c:v>
                </c:pt>
                <c:pt idx="2">
                  <c:v>73.42</c:v>
                </c:pt>
                <c:pt idx="3">
                  <c:v>75.3</c:v>
                </c:pt>
                <c:pt idx="4">
                  <c:v>72.400000000000006</c:v>
                </c:pt>
                <c:pt idx="5">
                  <c:v>80.42</c:v>
                </c:pt>
                <c:pt idx="6">
                  <c:v>81.900000000000006</c:v>
                </c:pt>
                <c:pt idx="7">
                  <c:v>80.94</c:v>
                </c:pt>
                <c:pt idx="8">
                  <c:v>83.14</c:v>
                </c:pt>
                <c:pt idx="9">
                  <c:v>82.02</c:v>
                </c:pt>
                <c:pt idx="10">
                  <c:v>82.98</c:v>
                </c:pt>
                <c:pt idx="11">
                  <c:v>84.44</c:v>
                </c:pt>
                <c:pt idx="12">
                  <c:v>84.26</c:v>
                </c:pt>
                <c:pt idx="13">
                  <c:v>83.48</c:v>
                </c:pt>
                <c:pt idx="14">
                  <c:v>83.46</c:v>
                </c:pt>
                <c:pt idx="15">
                  <c:v>85.96</c:v>
                </c:pt>
                <c:pt idx="16">
                  <c:v>87.88</c:v>
                </c:pt>
                <c:pt idx="17">
                  <c:v>86.26</c:v>
                </c:pt>
                <c:pt idx="18">
                  <c:v>88.06</c:v>
                </c:pt>
                <c:pt idx="19">
                  <c:v>87.72</c:v>
                </c:pt>
                <c:pt idx="20">
                  <c:v>89.04</c:v>
                </c:pt>
                <c:pt idx="21">
                  <c:v>89.24</c:v>
                </c:pt>
                <c:pt idx="22">
                  <c:v>90.28</c:v>
                </c:pt>
                <c:pt idx="23">
                  <c:v>90.3</c:v>
                </c:pt>
                <c:pt idx="24">
                  <c:v>90.18</c:v>
                </c:pt>
                <c:pt idx="25">
                  <c:v>90.46</c:v>
                </c:pt>
                <c:pt idx="26">
                  <c:v>90.8</c:v>
                </c:pt>
                <c:pt idx="27">
                  <c:v>90.84</c:v>
                </c:pt>
                <c:pt idx="28">
                  <c:v>90.94</c:v>
                </c:pt>
                <c:pt idx="29">
                  <c:v>90.94</c:v>
                </c:pt>
              </c:numCache>
            </c:numRef>
          </c:val>
          <c:smooth val="0"/>
          <c:extLst>
            <c:ext xmlns:c16="http://schemas.microsoft.com/office/drawing/2014/chart" uri="{C3380CC4-5D6E-409C-BE32-E72D297353CC}">
              <c16:uniqueId val="{00000002-1723-4C51-BBBD-CCEC0B768D4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3E7EF"/>
            </a:solidFill>
          </a:ln>
        </c:spPr>
        <c:txPr>
          <a:bodyPr/>
          <a:lstStyle/>
          <a:p>
            <a:pPr>
              <a:defRPr sz="900">
                <a:solidFill>
                  <a:srgbClr val="5B6676"/>
                </a:solidFill>
              </a:defRPr>
            </a:pPr>
            <a:endParaRPr lang="en-US"/>
          </a:p>
        </c:txPr>
        <c:crossAx val="2140495176"/>
        <c:crosses val="autoZero"/>
        <c:auto val="1"/>
        <c:lblAlgn val="ctr"/>
        <c:lblOffset val="100"/>
        <c:tickLblSkip val="5"/>
        <c:tickMarkSkip val="5"/>
        <c:noMultiLvlLbl val="0"/>
      </c:catAx>
      <c:valAx>
        <c:axId val="2140495176"/>
        <c:scaling>
          <c:orientation val="minMax"/>
          <c:max val="95"/>
          <c:min val="40"/>
        </c:scaling>
        <c:delete val="0"/>
        <c:axPos val="l"/>
        <c:majorGridlines>
          <c:spPr>
            <a:ln>
              <a:solidFill>
                <a:srgbClr val="E3E7EF"/>
              </a:solidFill>
            </a:ln>
          </c:spPr>
        </c:majorGridlines>
        <c:numFmt formatCode="0" sourceLinked="0"/>
        <c:majorTickMark val="out"/>
        <c:minorTickMark val="none"/>
        <c:tickLblPos val="nextTo"/>
        <c:spPr>
          <a:ln>
            <a:noFill/>
          </a:ln>
        </c:spPr>
        <c:txPr>
          <a:bodyPr/>
          <a:lstStyle/>
          <a:p>
            <a:pPr>
              <a:defRPr sz="1000">
                <a:solidFill>
                  <a:srgbClr val="5B6676"/>
                </a:solidFill>
              </a:defRPr>
            </a:pPr>
            <a:endParaRPr lang="en-US"/>
          </a:p>
        </c:txPr>
        <c:crossAx val="2118791784"/>
        <c:crosses val="autoZero"/>
        <c:crossBetween val="between"/>
        <c:majorUnit val="10"/>
      </c:valAx>
    </c:plotArea>
    <c:legend>
      <c:legendPos val="b"/>
      <c:overlay val="0"/>
      <c:txPr>
        <a:bodyPr/>
        <a:lstStyle/>
        <a:p>
          <a:pPr>
            <a:defRPr sz="1000"/>
          </a:pPr>
          <a:endParaRPr lang="en-US"/>
        </a:p>
      </c:txPr>
    </c:legend>
    <c:plotVisOnly val="1"/>
    <c:dispBlanksAs val="gap"/>
    <c:showDLblsOverMax val="0"/>
  </c:chart>
  <c:txPr>
    <a:bodyPr/>
    <a:lstStyle/>
    <a:p>
      <a:pPr>
        <a:defRPr sz="1000">
          <a:solidFill>
            <a:srgbClr val="5B66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1A1A1A"/>
                </a:solidFill>
              </a:rPr>
              <a:t>Accuracy (%) vs compute (% of full network)</a:t>
            </a:r>
          </a:p>
        </c:rich>
      </c:tx>
      <c:overlay val="0"/>
    </c:title>
    <c:autoTitleDeleted val="0"/>
    <c:plotArea>
      <c:layout/>
      <c:scatterChart>
        <c:scatterStyle val="lineMarker"/>
        <c:varyColors val="0"/>
        <c:ser>
          <c:idx val="0"/>
          <c:order val="0"/>
          <c:tx>
            <c:strRef>
              <c:f>Sheet1!$B$1</c:f>
              <c:strCache>
                <c:ptCount val="1"/>
                <c:pt idx="0">
                  <c:v>Think-or-Stop: every τ (test, seed 0)</c:v>
                </c:pt>
              </c:strCache>
            </c:strRef>
          </c:tx>
          <c:spPr>
            <a:ln w="28575">
              <a:solidFill>
                <a:srgbClr val="518113"/>
              </a:solidFill>
            </a:ln>
          </c:spPr>
          <c:marker>
            <c:symbol val="none"/>
          </c:marker>
          <c:xVal>
            <c:numRef>
              <c:f>Sheet1!$A$2:$A$80</c:f>
              <c:numCache>
                <c:formatCode>General</c:formatCode>
                <c:ptCount val="79"/>
                <c:pt idx="0">
                  <c:v>27.177450176056041</c:v>
                </c:pt>
                <c:pt idx="1">
                  <c:v>27.414761734139464</c:v>
                </c:pt>
                <c:pt idx="2">
                  <c:v>27.770707639810933</c:v>
                </c:pt>
                <c:pt idx="3">
                  <c:v>28.223084404766492</c:v>
                </c:pt>
                <c:pt idx="4">
                  <c:v>28.582755180802778</c:v>
                </c:pt>
                <c:pt idx="5">
                  <c:v>28.946129395750209</c:v>
                </c:pt>
                <c:pt idx="6">
                  <c:v>29.335461973401561</c:v>
                </c:pt>
                <c:pt idx="7">
                  <c:v>29.743354608515986</c:v>
                </c:pt>
                <c:pt idx="8">
                  <c:v>30.24766095775157</c:v>
                </c:pt>
                <c:pt idx="9">
                  <c:v>30.688931692264422</c:v>
                </c:pt>
                <c:pt idx="10">
                  <c:v>31.171017408033112</c:v>
                </c:pt>
                <c:pt idx="11">
                  <c:v>31.679061486505717</c:v>
                </c:pt>
                <c:pt idx="12">
                  <c:v>32.168558366387437</c:v>
                </c:pt>
                <c:pt idx="13">
                  <c:v>32.776745315636759</c:v>
                </c:pt>
                <c:pt idx="14">
                  <c:v>33.470205658238633</c:v>
                </c:pt>
                <c:pt idx="15">
                  <c:v>34.015331275020806</c:v>
                </c:pt>
                <c:pt idx="16">
                  <c:v>34.601284731931017</c:v>
                </c:pt>
                <c:pt idx="17">
                  <c:v>35.216857127548963</c:v>
                </c:pt>
                <c:pt idx="18">
                  <c:v>35.940004989510314</c:v>
                </c:pt>
                <c:pt idx="19">
                  <c:v>36.611266130098969</c:v>
                </c:pt>
                <c:pt idx="20">
                  <c:v>37.378902408192175</c:v>
                </c:pt>
                <c:pt idx="21">
                  <c:v>38.120653190523946</c:v>
                </c:pt>
                <c:pt idx="22">
                  <c:v>38.762248243206813</c:v>
                </c:pt>
                <c:pt idx="23">
                  <c:v>39.504029029573729</c:v>
                </c:pt>
                <c:pt idx="24">
                  <c:v>40.249526113724002</c:v>
                </c:pt>
                <c:pt idx="25">
                  <c:v>40.92825414020524</c:v>
                </c:pt>
                <c:pt idx="26">
                  <c:v>41.592129834425279</c:v>
                </c:pt>
                <c:pt idx="27">
                  <c:v>42.274527009491791</c:v>
                </c:pt>
                <c:pt idx="28">
                  <c:v>43.05709705937015</c:v>
                </c:pt>
                <c:pt idx="29">
                  <c:v>43.743261967708833</c:v>
                </c:pt>
                <c:pt idx="30">
                  <c:v>44.451681799840266</c:v>
                </c:pt>
                <c:pt idx="31">
                  <c:v>45.074828238619148</c:v>
                </c:pt>
                <c:pt idx="32">
                  <c:v>45.838872521360294</c:v>
                </c:pt>
                <c:pt idx="33">
                  <c:v>46.525058861152644</c:v>
                </c:pt>
                <c:pt idx="34">
                  <c:v>47.125946089848028</c:v>
                </c:pt>
                <c:pt idx="35">
                  <c:v>47.81208528044229</c:v>
                </c:pt>
                <c:pt idx="36">
                  <c:v>48.51313252507731</c:v>
                </c:pt>
                <c:pt idx="37">
                  <c:v>49.236417548342168</c:v>
                </c:pt>
                <c:pt idx="38">
                  <c:v>49.933744208903093</c:v>
                </c:pt>
                <c:pt idx="39">
                  <c:v>50.631032292847422</c:v>
                </c:pt>
                <c:pt idx="40">
                  <c:v>51.254148727591151</c:v>
                </c:pt>
                <c:pt idx="41">
                  <c:v>52.047936251471327</c:v>
                </c:pt>
                <c:pt idx="42">
                  <c:v>52.782378740667689</c:v>
                </c:pt>
                <c:pt idx="43">
                  <c:v>53.464857355258154</c:v>
                </c:pt>
                <c:pt idx="44">
                  <c:v>54.165874595858035</c:v>
                </c:pt>
                <c:pt idx="45">
                  <c:v>54.922512000776891</c:v>
                </c:pt>
                <c:pt idx="46">
                  <c:v>55.705176349051413</c:v>
                </c:pt>
                <c:pt idx="47">
                  <c:v>56.44706429268669</c:v>
                </c:pt>
                <c:pt idx="48">
                  <c:v>57.355877023639898</c:v>
                </c:pt>
                <c:pt idx="49">
                  <c:v>58.231303082613231</c:v>
                </c:pt>
                <c:pt idx="50">
                  <c:v>59.10304284783836</c:v>
                </c:pt>
                <c:pt idx="51">
                  <c:v>59.982210922339455</c:v>
                </c:pt>
                <c:pt idx="52">
                  <c:v>60.761150400249143</c:v>
                </c:pt>
                <c:pt idx="53">
                  <c:v>61.614321535429703</c:v>
                </c:pt>
                <c:pt idx="54">
                  <c:v>62.638120896839368</c:v>
                </c:pt>
                <c:pt idx="55">
                  <c:v>63.491262027984796</c:v>
                </c:pt>
                <c:pt idx="56">
                  <c:v>64.503972504114671</c:v>
                </c:pt>
                <c:pt idx="57">
                  <c:v>65.431323861077303</c:v>
                </c:pt>
                <c:pt idx="58">
                  <c:v>66.392134756962278</c:v>
                </c:pt>
                <c:pt idx="59">
                  <c:v>67.41230354640328</c:v>
                </c:pt>
                <c:pt idx="60">
                  <c:v>68.566040455217475</c:v>
                </c:pt>
                <c:pt idx="61">
                  <c:v>69.73461683742066</c:v>
                </c:pt>
                <c:pt idx="62">
                  <c:v>70.903180360751648</c:v>
                </c:pt>
                <c:pt idx="63">
                  <c:v>72.283307107708112</c:v>
                </c:pt>
                <c:pt idx="64">
                  <c:v>73.770983603263602</c:v>
                </c:pt>
                <c:pt idx="65">
                  <c:v>75.329244038958365</c:v>
                </c:pt>
                <c:pt idx="66">
                  <c:v>77.17692992751816</c:v>
                </c:pt>
                <c:pt idx="67">
                  <c:v>79.213915543329222</c:v>
                </c:pt>
                <c:pt idx="68">
                  <c:v>81.770557050362243</c:v>
                </c:pt>
                <c:pt idx="69">
                  <c:v>85.318489936425607</c:v>
                </c:pt>
                <c:pt idx="70">
                  <c:v>85.741582093350715</c:v>
                </c:pt>
                <c:pt idx="71">
                  <c:v>86.754866932439015</c:v>
                </c:pt>
                <c:pt idx="72">
                  <c:v>88.135640909296384</c:v>
                </c:pt>
                <c:pt idx="73">
                  <c:v>89.950763093697304</c:v>
                </c:pt>
                <c:pt idx="74">
                  <c:v>91.327906498586017</c:v>
                </c:pt>
                <c:pt idx="75">
                  <c:v>93.269279936643272</c:v>
                </c:pt>
                <c:pt idx="76">
                  <c:v>94.954533154291397</c:v>
                </c:pt>
                <c:pt idx="77">
                  <c:v>97.972394211498298</c:v>
                </c:pt>
                <c:pt idx="78">
                  <c:v>100.06596869333431</c:v>
                </c:pt>
              </c:numCache>
            </c:numRef>
          </c:xVal>
          <c:yVal>
            <c:numRef>
              <c:f>Sheet1!$B$2:$B$80</c:f>
              <c:numCache>
                <c:formatCode>General</c:formatCode>
                <c:ptCount val="79"/>
                <c:pt idx="0">
                  <c:v>69.010000000000005</c:v>
                </c:pt>
                <c:pt idx="1">
                  <c:v>69.239999999999995</c:v>
                </c:pt>
                <c:pt idx="2">
                  <c:v>69.69</c:v>
                </c:pt>
                <c:pt idx="3">
                  <c:v>70.25</c:v>
                </c:pt>
                <c:pt idx="4">
                  <c:v>70.599999999999994</c:v>
                </c:pt>
                <c:pt idx="5">
                  <c:v>70.960000000000008</c:v>
                </c:pt>
                <c:pt idx="6">
                  <c:v>71.31</c:v>
                </c:pt>
                <c:pt idx="7">
                  <c:v>71.740000000000009</c:v>
                </c:pt>
                <c:pt idx="8">
                  <c:v>72.3</c:v>
                </c:pt>
                <c:pt idx="9">
                  <c:v>72.789999999999992</c:v>
                </c:pt>
                <c:pt idx="10">
                  <c:v>73.2</c:v>
                </c:pt>
                <c:pt idx="11">
                  <c:v>73.72999999999999</c:v>
                </c:pt>
                <c:pt idx="12">
                  <c:v>74.27</c:v>
                </c:pt>
                <c:pt idx="13">
                  <c:v>74.8</c:v>
                </c:pt>
                <c:pt idx="14">
                  <c:v>75.349999999999994</c:v>
                </c:pt>
                <c:pt idx="15">
                  <c:v>75.790000000000006</c:v>
                </c:pt>
                <c:pt idx="16">
                  <c:v>76.3</c:v>
                </c:pt>
                <c:pt idx="17">
                  <c:v>76.819999999999993</c:v>
                </c:pt>
                <c:pt idx="18">
                  <c:v>77.34</c:v>
                </c:pt>
                <c:pt idx="19">
                  <c:v>77.900000000000006</c:v>
                </c:pt>
                <c:pt idx="20">
                  <c:v>78.569999999999993</c:v>
                </c:pt>
                <c:pt idx="21">
                  <c:v>79.12</c:v>
                </c:pt>
                <c:pt idx="22">
                  <c:v>79.52</c:v>
                </c:pt>
                <c:pt idx="23">
                  <c:v>80</c:v>
                </c:pt>
                <c:pt idx="24">
                  <c:v>80.56</c:v>
                </c:pt>
                <c:pt idx="25">
                  <c:v>81</c:v>
                </c:pt>
                <c:pt idx="26">
                  <c:v>81.28</c:v>
                </c:pt>
                <c:pt idx="27">
                  <c:v>81.58</c:v>
                </c:pt>
                <c:pt idx="28">
                  <c:v>82.03</c:v>
                </c:pt>
                <c:pt idx="29">
                  <c:v>82.6</c:v>
                </c:pt>
                <c:pt idx="30">
                  <c:v>83.07</c:v>
                </c:pt>
                <c:pt idx="31">
                  <c:v>83.460000000000008</c:v>
                </c:pt>
                <c:pt idx="32">
                  <c:v>83.81</c:v>
                </c:pt>
                <c:pt idx="33">
                  <c:v>84.11</c:v>
                </c:pt>
                <c:pt idx="34">
                  <c:v>84.33</c:v>
                </c:pt>
                <c:pt idx="35">
                  <c:v>84.570000000000007</c:v>
                </c:pt>
                <c:pt idx="36">
                  <c:v>84.89</c:v>
                </c:pt>
                <c:pt idx="37">
                  <c:v>85.2</c:v>
                </c:pt>
                <c:pt idx="38">
                  <c:v>85.58</c:v>
                </c:pt>
                <c:pt idx="39">
                  <c:v>85.850000000000009</c:v>
                </c:pt>
                <c:pt idx="40">
                  <c:v>86.050000000000011</c:v>
                </c:pt>
                <c:pt idx="41">
                  <c:v>86.32</c:v>
                </c:pt>
                <c:pt idx="42">
                  <c:v>86.66</c:v>
                </c:pt>
                <c:pt idx="43">
                  <c:v>86.86</c:v>
                </c:pt>
                <c:pt idx="44">
                  <c:v>87.17</c:v>
                </c:pt>
                <c:pt idx="45">
                  <c:v>87.42</c:v>
                </c:pt>
                <c:pt idx="46">
                  <c:v>87.67</c:v>
                </c:pt>
                <c:pt idx="47">
                  <c:v>87.87</c:v>
                </c:pt>
                <c:pt idx="48">
                  <c:v>88.12</c:v>
                </c:pt>
                <c:pt idx="49">
                  <c:v>88.32</c:v>
                </c:pt>
                <c:pt idx="50">
                  <c:v>88.47</c:v>
                </c:pt>
                <c:pt idx="51">
                  <c:v>88.56</c:v>
                </c:pt>
                <c:pt idx="52">
                  <c:v>88.649999999999991</c:v>
                </c:pt>
                <c:pt idx="53">
                  <c:v>88.88000000000001</c:v>
                </c:pt>
                <c:pt idx="54">
                  <c:v>89.08</c:v>
                </c:pt>
                <c:pt idx="55">
                  <c:v>89.21</c:v>
                </c:pt>
                <c:pt idx="56">
                  <c:v>89.31</c:v>
                </c:pt>
                <c:pt idx="57">
                  <c:v>89.41</c:v>
                </c:pt>
                <c:pt idx="58">
                  <c:v>89.45</c:v>
                </c:pt>
                <c:pt idx="59">
                  <c:v>89.47</c:v>
                </c:pt>
                <c:pt idx="60">
                  <c:v>89.59</c:v>
                </c:pt>
                <c:pt idx="61">
                  <c:v>89.68</c:v>
                </c:pt>
                <c:pt idx="62">
                  <c:v>89.79</c:v>
                </c:pt>
                <c:pt idx="63">
                  <c:v>89.86</c:v>
                </c:pt>
                <c:pt idx="64">
                  <c:v>89.91</c:v>
                </c:pt>
                <c:pt idx="65">
                  <c:v>89.929999999999993</c:v>
                </c:pt>
                <c:pt idx="66">
                  <c:v>89.94</c:v>
                </c:pt>
                <c:pt idx="67">
                  <c:v>90.01</c:v>
                </c:pt>
                <c:pt idx="68">
                  <c:v>90.039999999999992</c:v>
                </c:pt>
                <c:pt idx="69">
                  <c:v>90.05</c:v>
                </c:pt>
                <c:pt idx="70">
                  <c:v>90.039999999999992</c:v>
                </c:pt>
                <c:pt idx="71">
                  <c:v>90.039999999999992</c:v>
                </c:pt>
                <c:pt idx="72">
                  <c:v>90.03</c:v>
                </c:pt>
                <c:pt idx="73">
                  <c:v>90.03</c:v>
                </c:pt>
                <c:pt idx="74">
                  <c:v>90.03</c:v>
                </c:pt>
                <c:pt idx="75">
                  <c:v>90.039999999999992</c:v>
                </c:pt>
                <c:pt idx="76">
                  <c:v>90.039999999999992</c:v>
                </c:pt>
                <c:pt idx="77">
                  <c:v>90.039999999999992</c:v>
                </c:pt>
                <c:pt idx="78">
                  <c:v>90.039999999999992</c:v>
                </c:pt>
              </c:numCache>
            </c:numRef>
          </c:yVal>
          <c:smooth val="0"/>
          <c:extLst>
            <c:ext xmlns:c16="http://schemas.microsoft.com/office/drawing/2014/chart" uri="{C3380CC4-5D6E-409C-BE32-E72D297353CC}">
              <c16:uniqueId val="{00000000-22DE-4A2A-8E7C-916A99B9DBAA}"/>
            </c:ext>
          </c:extLst>
        </c:ser>
        <c:ser>
          <c:idx val="1"/>
          <c:order val="1"/>
          <c:tx>
            <c:strRef>
              <c:f>Sheet1!$B$82</c:f>
              <c:strCache>
                <c:ptCount val="1"/>
                <c:pt idx="0">
                  <c:v>Exit 1 only</c:v>
                </c:pt>
              </c:strCache>
            </c:strRef>
          </c:tx>
          <c:spPr>
            <a:ln w="47625">
              <a:noFill/>
            </a:ln>
          </c:spPr>
          <c:marker>
            <c:symbol val="circle"/>
            <c:size val="10"/>
            <c:spPr>
              <a:solidFill>
                <a:srgbClr val="2A55A1"/>
              </a:solidFill>
              <a:ln>
                <a:solidFill>
                  <a:srgbClr val="FFFFFF"/>
                </a:solidFill>
              </a:ln>
            </c:spPr>
          </c:marker>
          <c:xVal>
            <c:numRef>
              <c:f>Sheet1!$A$83:$A$83</c:f>
              <c:numCache>
                <c:formatCode>General</c:formatCode>
                <c:ptCount val="1"/>
                <c:pt idx="0">
                  <c:v>25.868601748337806</c:v>
                </c:pt>
              </c:numCache>
            </c:numRef>
          </c:xVal>
          <c:yVal>
            <c:numRef>
              <c:f>Sheet1!$B$83:$B$83</c:f>
              <c:numCache>
                <c:formatCode>General</c:formatCode>
                <c:ptCount val="1"/>
                <c:pt idx="0">
                  <c:v>67.443333333333328</c:v>
                </c:pt>
              </c:numCache>
            </c:numRef>
          </c:yVal>
          <c:smooth val="0"/>
          <c:extLst>
            <c:ext xmlns:c16="http://schemas.microsoft.com/office/drawing/2014/chart" uri="{C3380CC4-5D6E-409C-BE32-E72D297353CC}">
              <c16:uniqueId val="{00000001-22DE-4A2A-8E7C-916A99B9DBAA}"/>
            </c:ext>
          </c:extLst>
        </c:ser>
        <c:ser>
          <c:idx val="2"/>
          <c:order val="2"/>
          <c:tx>
            <c:strRef>
              <c:f>Sheet1!$B$85</c:f>
              <c:strCache>
                <c:ptCount val="1"/>
                <c:pt idx="0">
                  <c:v>Exit 2 only</c:v>
                </c:pt>
              </c:strCache>
            </c:strRef>
          </c:tx>
          <c:spPr>
            <a:ln w="47625">
              <a:noFill/>
            </a:ln>
          </c:spPr>
          <c:marker>
            <c:symbol val="circle"/>
            <c:size val="10"/>
            <c:spPr>
              <a:solidFill>
                <a:srgbClr val="2A55A1"/>
              </a:solidFill>
              <a:ln>
                <a:solidFill>
                  <a:srgbClr val="FFFFFF"/>
                </a:solidFill>
              </a:ln>
            </c:spPr>
          </c:marker>
          <c:xVal>
            <c:numRef>
              <c:f>Sheet1!$A$86:$A$86</c:f>
              <c:numCache>
                <c:formatCode>General</c:formatCode>
                <c:ptCount val="1"/>
                <c:pt idx="0">
                  <c:v>62.923585147332872</c:v>
                </c:pt>
              </c:numCache>
            </c:numRef>
          </c:xVal>
          <c:yVal>
            <c:numRef>
              <c:f>Sheet1!$B$86:$B$86</c:f>
              <c:numCache>
                <c:formatCode>General</c:formatCode>
                <c:ptCount val="1"/>
                <c:pt idx="0">
                  <c:v>85.893333333333331</c:v>
                </c:pt>
              </c:numCache>
            </c:numRef>
          </c:yVal>
          <c:smooth val="0"/>
          <c:extLst>
            <c:ext xmlns:c16="http://schemas.microsoft.com/office/drawing/2014/chart" uri="{C3380CC4-5D6E-409C-BE32-E72D297353CC}">
              <c16:uniqueId val="{00000002-22DE-4A2A-8E7C-916A99B9DBAA}"/>
            </c:ext>
          </c:extLst>
        </c:ser>
        <c:ser>
          <c:idx val="3"/>
          <c:order val="3"/>
          <c:tx>
            <c:strRef>
              <c:f>Sheet1!$B$88</c:f>
              <c:strCache>
                <c:ptCount val="1"/>
                <c:pt idx="0">
                  <c:v>Exit 3 only</c:v>
                </c:pt>
              </c:strCache>
            </c:strRef>
          </c:tx>
          <c:spPr>
            <a:ln w="47625">
              <a:noFill/>
            </a:ln>
          </c:spPr>
          <c:marker>
            <c:symbol val="circle"/>
            <c:size val="10"/>
            <c:spPr>
              <a:solidFill>
                <a:srgbClr val="2A55A1"/>
              </a:solidFill>
              <a:ln>
                <a:solidFill>
                  <a:srgbClr val="FFFFFF"/>
                </a:solidFill>
              </a:ln>
            </c:spPr>
          </c:marker>
          <c:xVal>
            <c:numRef>
              <c:f>Sheet1!$A$89:$A$89</c:f>
              <c:numCache>
                <c:formatCode>General</c:formatCode>
                <c:ptCount val="1"/>
                <c:pt idx="0">
                  <c:v>100</c:v>
                </c:pt>
              </c:numCache>
            </c:numRef>
          </c:xVal>
          <c:yVal>
            <c:numRef>
              <c:f>Sheet1!$B$89:$B$89</c:f>
              <c:numCache>
                <c:formatCode>General</c:formatCode>
                <c:ptCount val="1"/>
                <c:pt idx="0">
                  <c:v>90.106666666666655</c:v>
                </c:pt>
              </c:numCache>
            </c:numRef>
          </c:yVal>
          <c:smooth val="0"/>
          <c:extLst>
            <c:ext xmlns:c16="http://schemas.microsoft.com/office/drawing/2014/chart" uri="{C3380CC4-5D6E-409C-BE32-E72D297353CC}">
              <c16:uniqueId val="{00000003-22DE-4A2A-8E7C-916A99B9DBAA}"/>
            </c:ext>
          </c:extLst>
        </c:ser>
        <c:ser>
          <c:idx val="4"/>
          <c:order val="4"/>
          <c:tx>
            <c:strRef>
              <c:f>Sheet1!$B$91</c:f>
              <c:strCache>
                <c:ptCount val="1"/>
                <c:pt idx="0">
                  <c:v>Standard CNN</c:v>
                </c:pt>
              </c:strCache>
            </c:strRef>
          </c:tx>
          <c:spPr>
            <a:ln w="47625">
              <a:noFill/>
            </a:ln>
          </c:spPr>
          <c:marker>
            <c:symbol val="square"/>
            <c:size val="10"/>
            <c:spPr>
              <a:solidFill>
                <a:srgbClr val="5B6676"/>
              </a:solidFill>
              <a:ln>
                <a:solidFill>
                  <a:srgbClr val="FFFFFF"/>
                </a:solidFill>
              </a:ln>
            </c:spPr>
          </c:marker>
          <c:xVal>
            <c:numRef>
              <c:f>Sheet1!$A$92:$A$92</c:f>
              <c:numCache>
                <c:formatCode>General</c:formatCode>
                <c:ptCount val="1"/>
                <c:pt idx="0">
                  <c:v>100</c:v>
                </c:pt>
              </c:numCache>
            </c:numRef>
          </c:xVal>
          <c:yVal>
            <c:numRef>
              <c:f>Sheet1!$B$92:$B$92</c:f>
              <c:numCache>
                <c:formatCode>General</c:formatCode>
                <c:ptCount val="1"/>
                <c:pt idx="0">
                  <c:v>90.373333333333335</c:v>
                </c:pt>
              </c:numCache>
            </c:numRef>
          </c:yVal>
          <c:smooth val="0"/>
          <c:extLst>
            <c:ext xmlns:c16="http://schemas.microsoft.com/office/drawing/2014/chart" uri="{C3380CC4-5D6E-409C-BE32-E72D297353CC}">
              <c16:uniqueId val="{00000004-22DE-4A2A-8E7C-916A99B9DBAA}"/>
            </c:ext>
          </c:extLst>
        </c:ser>
        <c:ser>
          <c:idx val="5"/>
          <c:order val="5"/>
          <c:tx>
            <c:strRef>
              <c:f>Sheet1!$B$94</c:f>
              <c:strCache>
                <c:ptCount val="1"/>
                <c:pt idx="0">
                  <c:v>Think-or-Stop (val-selected τ)</c:v>
                </c:pt>
              </c:strCache>
            </c:strRef>
          </c:tx>
          <c:spPr>
            <a:ln w="47625">
              <a:noFill/>
            </a:ln>
          </c:spPr>
          <c:marker>
            <c:symbol val="diamond"/>
            <c:size val="12"/>
            <c:spPr>
              <a:solidFill>
                <a:srgbClr val="C2570C"/>
              </a:solidFill>
              <a:ln>
                <a:solidFill>
                  <a:srgbClr val="FFFFFF"/>
                </a:solidFill>
              </a:ln>
            </c:spPr>
          </c:marker>
          <c:xVal>
            <c:numRef>
              <c:f>Sheet1!$A$95:$A$95</c:f>
              <c:numCache>
                <c:formatCode>General</c:formatCode>
                <c:ptCount val="1"/>
                <c:pt idx="0">
                  <c:v>63.500007685185345</c:v>
                </c:pt>
              </c:numCache>
            </c:numRef>
          </c:xVal>
          <c:yVal>
            <c:numRef>
              <c:f>Sheet1!$B$95:$B$95</c:f>
              <c:numCache>
                <c:formatCode>General</c:formatCode>
                <c:ptCount val="1"/>
                <c:pt idx="0">
                  <c:v>89.276666666666671</c:v>
                </c:pt>
              </c:numCache>
            </c:numRef>
          </c:yVal>
          <c:smooth val="0"/>
          <c:extLst>
            <c:ext xmlns:c16="http://schemas.microsoft.com/office/drawing/2014/chart" uri="{C3380CC4-5D6E-409C-BE32-E72D297353CC}">
              <c16:uniqueId val="{00000005-22DE-4A2A-8E7C-916A99B9DBAA}"/>
            </c:ext>
          </c:extLst>
        </c:ser>
        <c:dLbls>
          <c:showLegendKey val="0"/>
          <c:showVal val="0"/>
          <c:showCatName val="0"/>
          <c:showSerName val="0"/>
          <c:showPercent val="0"/>
          <c:showBubbleSize val="0"/>
        </c:dLbls>
        <c:axId val="-2128940872"/>
        <c:axId val="-2129643912"/>
      </c:scatterChart>
      <c:valAx>
        <c:axId val="-2128940872"/>
        <c:scaling>
          <c:orientation val="minMax"/>
          <c:max val="105"/>
          <c:min val="20"/>
        </c:scaling>
        <c:delete val="0"/>
        <c:axPos val="b"/>
        <c:numFmt formatCode="General" sourceLinked="1"/>
        <c:majorTickMark val="out"/>
        <c:minorTickMark val="none"/>
        <c:tickLblPos val="nextTo"/>
        <c:spPr>
          <a:ln>
            <a:solidFill>
              <a:srgbClr val="E3E7EF"/>
            </a:solidFill>
          </a:ln>
        </c:spPr>
        <c:txPr>
          <a:bodyPr/>
          <a:lstStyle/>
          <a:p>
            <a:pPr>
              <a:defRPr sz="1000">
                <a:solidFill>
                  <a:srgbClr val="5B6676"/>
                </a:solidFill>
              </a:defRPr>
            </a:pPr>
            <a:endParaRPr lang="en-US"/>
          </a:p>
        </c:txPr>
        <c:crossAx val="-2129643912"/>
        <c:crosses val="autoZero"/>
        <c:crossBetween val="midCat"/>
      </c:valAx>
      <c:valAx>
        <c:axId val="-2129643912"/>
        <c:scaling>
          <c:orientation val="minMax"/>
          <c:max val="92"/>
          <c:min val="65"/>
        </c:scaling>
        <c:delete val="0"/>
        <c:axPos val="l"/>
        <c:majorGridlines>
          <c:spPr>
            <a:ln>
              <a:solidFill>
                <a:srgbClr val="E3E7EF"/>
              </a:solidFill>
            </a:ln>
          </c:spPr>
        </c:majorGridlines>
        <c:numFmt formatCode="0" sourceLinked="0"/>
        <c:majorTickMark val="out"/>
        <c:minorTickMark val="none"/>
        <c:tickLblPos val="nextTo"/>
        <c:spPr>
          <a:ln>
            <a:noFill/>
          </a:ln>
        </c:spPr>
        <c:txPr>
          <a:bodyPr/>
          <a:lstStyle/>
          <a:p>
            <a:pPr>
              <a:defRPr sz="1000">
                <a:solidFill>
                  <a:srgbClr val="5B6676"/>
                </a:solidFill>
              </a:defRPr>
            </a:pPr>
            <a:endParaRPr lang="en-US"/>
          </a:p>
        </c:txPr>
        <c:crossAx val="-2128940872"/>
        <c:crosses val="autoZero"/>
        <c:crossBetween val="midCat"/>
        <c:majorUnit val="5"/>
      </c:valAx>
    </c:plotArea>
    <c:legend>
      <c:legendPos val="b"/>
      <c:overlay val="0"/>
      <c:txPr>
        <a:bodyPr/>
        <a:lstStyle/>
        <a:p>
          <a:pPr>
            <a:defRPr sz="950"/>
          </a:pPr>
          <a:endParaRPr lang="en-US"/>
        </a:p>
      </c:txPr>
    </c:legend>
    <c:plotVisOnly val="1"/>
    <c:dispBlanksAs val="gap"/>
    <c:showDLblsOverMax val="0"/>
  </c:chart>
  <c:txPr>
    <a:bodyPr/>
    <a:lstStyle/>
    <a:p>
      <a:pPr>
        <a:defRPr sz="950">
          <a:solidFill>
            <a:srgbClr val="5B66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solidFill>
                  <a:srgbClr val="1A1A1A"/>
                </a:solidFill>
              </a:rPr>
              <a:t>Latency per image, batch size 1 (ms) - lower is better</a:t>
            </a:r>
          </a:p>
        </c:rich>
      </c:tx>
      <c:overlay val="0"/>
    </c:title>
    <c:autoTitleDeleted val="0"/>
    <c:plotArea>
      <c:layout/>
      <c:barChart>
        <c:barDir val="bar"/>
        <c:grouping val="clustered"/>
        <c:varyColors val="1"/>
        <c:ser>
          <c:idx val="0"/>
          <c:order val="0"/>
          <c:tx>
            <c:strRef>
              <c:f>Sheet1!$B$1</c:f>
              <c:strCache>
                <c:ptCount val="1"/>
                <c:pt idx="0">
                  <c:v>ms per image (batch size 1)</c:v>
                </c:pt>
              </c:strCache>
            </c:strRef>
          </c:tx>
          <c:invertIfNegative val="1"/>
          <c:dPt>
            <c:idx val="0"/>
            <c:invertIfNegative val="1"/>
            <c:bubble3D val="0"/>
            <c:spPr>
              <a:solidFill>
                <a:srgbClr val="2A55A1"/>
              </a:solidFill>
            </c:spPr>
            <c:extLst>
              <c:ext xmlns:c16="http://schemas.microsoft.com/office/drawing/2014/chart" uri="{C3380CC4-5D6E-409C-BE32-E72D297353CC}">
                <c16:uniqueId val="{00000001-3FE6-4DFC-B043-AB9130F3D778}"/>
              </c:ext>
            </c:extLst>
          </c:dPt>
          <c:dPt>
            <c:idx val="1"/>
            <c:invertIfNegative val="1"/>
            <c:bubble3D val="0"/>
            <c:spPr>
              <a:solidFill>
                <a:srgbClr val="2A55A1"/>
              </a:solidFill>
            </c:spPr>
            <c:extLst>
              <c:ext xmlns:c16="http://schemas.microsoft.com/office/drawing/2014/chart" uri="{C3380CC4-5D6E-409C-BE32-E72D297353CC}">
                <c16:uniqueId val="{00000003-3FE6-4DFC-B043-AB9130F3D778}"/>
              </c:ext>
            </c:extLst>
          </c:dPt>
          <c:dPt>
            <c:idx val="2"/>
            <c:invertIfNegative val="1"/>
            <c:bubble3D val="0"/>
            <c:spPr>
              <a:solidFill>
                <a:srgbClr val="2A55A1"/>
              </a:solidFill>
            </c:spPr>
            <c:extLst>
              <c:ext xmlns:c16="http://schemas.microsoft.com/office/drawing/2014/chart" uri="{C3380CC4-5D6E-409C-BE32-E72D297353CC}">
                <c16:uniqueId val="{00000005-3FE6-4DFC-B043-AB9130F3D778}"/>
              </c:ext>
            </c:extLst>
          </c:dPt>
          <c:dPt>
            <c:idx val="3"/>
            <c:invertIfNegative val="1"/>
            <c:bubble3D val="0"/>
            <c:spPr>
              <a:solidFill>
                <a:srgbClr val="5B6676"/>
              </a:solidFill>
            </c:spPr>
            <c:extLst>
              <c:ext xmlns:c16="http://schemas.microsoft.com/office/drawing/2014/chart" uri="{C3380CC4-5D6E-409C-BE32-E72D297353CC}">
                <c16:uniqueId val="{00000007-3FE6-4DFC-B043-AB9130F3D778}"/>
              </c:ext>
            </c:extLst>
          </c:dPt>
          <c:dPt>
            <c:idx val="4"/>
            <c:invertIfNegative val="1"/>
            <c:bubble3D val="0"/>
            <c:spPr>
              <a:solidFill>
                <a:srgbClr val="C2570C"/>
              </a:solidFill>
            </c:spPr>
            <c:extLst>
              <c:ext xmlns:c16="http://schemas.microsoft.com/office/drawing/2014/chart" uri="{C3380CC4-5D6E-409C-BE32-E72D297353CC}">
                <c16:uniqueId val="{00000009-3FE6-4DFC-B043-AB9130F3D778}"/>
              </c:ext>
            </c:extLst>
          </c:dPt>
          <c:dPt>
            <c:idx val="5"/>
            <c:invertIfNegative val="1"/>
            <c:bubble3D val="0"/>
            <c:spPr>
              <a:solidFill>
                <a:srgbClr val="C2570C"/>
              </a:solidFill>
            </c:spPr>
            <c:extLst>
              <c:ext xmlns:c16="http://schemas.microsoft.com/office/drawing/2014/chart" uri="{C3380CC4-5D6E-409C-BE32-E72D297353CC}">
                <c16:uniqueId val="{0000000B-3FE6-4DFC-B043-AB9130F3D778}"/>
              </c:ext>
            </c:extLst>
          </c:dPt>
          <c:dLbls>
            <c:numFmt formatCode="0.00" sourceLinked="0"/>
            <c:spPr>
              <a:noFill/>
              <a:ln>
                <a:noFill/>
              </a:ln>
              <a:effectLst/>
            </c:spPr>
            <c:txPr>
              <a:bodyPr/>
              <a:lstStyle/>
              <a:p>
                <a:pPr>
                  <a:defRPr sz="1050" b="1">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Exit 1 only</c:v>
                </c:pt>
                <c:pt idx="1">
                  <c:v>Exit 2 only</c:v>
                </c:pt>
                <c:pt idx="2">
                  <c:v>Exit 3 only (full)</c:v>
                </c:pt>
                <c:pt idx="3">
                  <c:v>Standard CNN</c:v>
                </c:pt>
                <c:pt idx="4">
                  <c:v>Think-or-Stop (val τ)</c:v>
                </c:pt>
                <c:pt idx="5">
                  <c:v>Think-or-Stop (τ = 0.9)</c:v>
                </c:pt>
              </c:strCache>
            </c:strRef>
          </c:cat>
          <c:val>
            <c:numRef>
              <c:f>Sheet1!$B$2:$B$7</c:f>
              <c:numCache>
                <c:formatCode>General</c:formatCode>
                <c:ptCount val="6"/>
                <c:pt idx="0">
                  <c:v>0.27500000000000002</c:v>
                </c:pt>
                <c:pt idx="1">
                  <c:v>0.433</c:v>
                </c:pt>
                <c:pt idx="2">
                  <c:v>0.61099999999999999</c:v>
                </c:pt>
                <c:pt idx="3">
                  <c:v>0.65</c:v>
                </c:pt>
                <c:pt idx="4">
                  <c:v>0.96299999999999997</c:v>
                </c:pt>
                <c:pt idx="5">
                  <c:v>1.0580000000000001</c:v>
                </c:pt>
              </c:numCache>
            </c:numRef>
          </c:val>
          <c:extLst>
            <c:ext xmlns:c16="http://schemas.microsoft.com/office/drawing/2014/chart" uri="{C3380CC4-5D6E-409C-BE32-E72D297353CC}">
              <c16:uniqueId val="{0000000C-3FE6-4DFC-B043-AB9130F3D77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E3E7EF"/>
            </a:solidFill>
          </a:ln>
        </c:spPr>
        <c:txPr>
          <a:bodyPr/>
          <a:lstStyle/>
          <a:p>
            <a:pPr>
              <a:defRPr sz="1000">
                <a:solidFill>
                  <a:srgbClr val="5B6676"/>
                </a:solidFill>
              </a:defRPr>
            </a:pPr>
            <a:endParaRPr lang="en-US"/>
          </a:p>
        </c:txPr>
        <c:crossAx val="-2113994440"/>
        <c:crosses val="autoZero"/>
        <c:auto val="1"/>
        <c:lblAlgn val="ctr"/>
        <c:lblOffset val="100"/>
        <c:noMultiLvlLbl val="0"/>
      </c:catAx>
      <c:valAx>
        <c:axId val="-2113994440"/>
        <c:scaling>
          <c:orientation val="minMax"/>
          <c:max val="1.2"/>
          <c:min val="0"/>
        </c:scaling>
        <c:delete val="0"/>
        <c:axPos val="t"/>
        <c:majorGridlines>
          <c:spPr>
            <a:ln>
              <a:solidFill>
                <a:srgbClr val="E3E7EF"/>
              </a:solidFill>
            </a:ln>
          </c:spPr>
        </c:majorGridlines>
        <c:numFmt formatCode="0.0" sourceLinked="0"/>
        <c:majorTickMark val="out"/>
        <c:minorTickMark val="none"/>
        <c:tickLblPos val="nextTo"/>
        <c:spPr>
          <a:ln>
            <a:noFill/>
          </a:ln>
        </c:spPr>
        <c:txPr>
          <a:bodyPr/>
          <a:lstStyle/>
          <a:p>
            <a:pPr>
              <a:defRPr sz="1000">
                <a:solidFill>
                  <a:srgbClr val="5B6676"/>
                </a:solidFill>
              </a:defRPr>
            </a:pPr>
            <a:endParaRPr lang="en-US"/>
          </a:p>
        </c:txPr>
        <c:crossAx val="-2068027336"/>
        <c:crosses val="autoZero"/>
        <c:crossBetween val="between"/>
        <c:majorUnit val="0.2"/>
      </c:valAx>
    </c:plotArea>
    <c:plotVisOnly val="1"/>
    <c:dispBlanksAs val="gap"/>
    <c:showDLblsOverMax val="1"/>
  </c:chart>
  <c:txPr>
    <a:bodyPr/>
    <a:lstStyle/>
    <a:p>
      <a:pPr>
        <a:defRPr sz="1000">
          <a:solidFill>
            <a:srgbClr val="5B66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solidFill>
                  <a:srgbClr val="1A1A1A"/>
                </a:solidFill>
              </a:rPr>
              <a:t>Accuracy (%) on clean vs corrupted test images</a:t>
            </a:r>
          </a:p>
        </c:rich>
      </c:tx>
      <c:overlay val="0"/>
    </c:title>
    <c:autoTitleDeleted val="0"/>
    <c:plotArea>
      <c:layout/>
      <c:barChart>
        <c:barDir val="col"/>
        <c:grouping val="clustered"/>
        <c:varyColors val="1"/>
        <c:ser>
          <c:idx val="0"/>
          <c:order val="0"/>
          <c:tx>
            <c:strRef>
              <c:f>Sheet1!$B$1</c:f>
              <c:strCache>
                <c:ptCount val="1"/>
                <c:pt idx="0">
                  <c:v>Exit 1 only</c:v>
                </c:pt>
              </c:strCache>
            </c:strRef>
          </c:tx>
          <c:spPr>
            <a:solidFill>
              <a:srgbClr val="2A55A1"/>
            </a:solidFill>
          </c:spPr>
          <c:invertIfNegative val="1"/>
          <c:cat>
            <c:strRef>
              <c:f>Sheet1!$A$2:$A$8</c:f>
              <c:strCache>
                <c:ptCount val="7"/>
                <c:pt idx="0">
                  <c:v>Clean</c:v>
                </c:pt>
                <c:pt idx="1">
                  <c:v>Noise 1</c:v>
                </c:pt>
                <c:pt idx="2">
                  <c:v>Noise 3</c:v>
                </c:pt>
                <c:pt idx="3">
                  <c:v>Noise 5</c:v>
                </c:pt>
                <c:pt idx="4">
                  <c:v>Blur 1</c:v>
                </c:pt>
                <c:pt idx="5">
                  <c:v>Blur 3</c:v>
                </c:pt>
                <c:pt idx="6">
                  <c:v>Blur 5</c:v>
                </c:pt>
              </c:strCache>
            </c:strRef>
          </c:cat>
          <c:val>
            <c:numRef>
              <c:f>Sheet1!$B$2:$B$8</c:f>
              <c:numCache>
                <c:formatCode>General</c:formatCode>
                <c:ptCount val="7"/>
                <c:pt idx="0">
                  <c:v>67.400000000000006</c:v>
                </c:pt>
                <c:pt idx="1">
                  <c:v>57</c:v>
                </c:pt>
                <c:pt idx="2">
                  <c:v>40.299999999999997</c:v>
                </c:pt>
                <c:pt idx="3">
                  <c:v>35</c:v>
                </c:pt>
                <c:pt idx="4">
                  <c:v>66.5</c:v>
                </c:pt>
                <c:pt idx="5">
                  <c:v>45.9</c:v>
                </c:pt>
                <c:pt idx="6">
                  <c:v>35.1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00-4D53-9653-B41A46EB2749}"/>
            </c:ext>
          </c:extLst>
        </c:ser>
        <c:ser>
          <c:idx val="1"/>
          <c:order val="1"/>
          <c:tx>
            <c:strRef>
              <c:f>Sheet1!$C$1</c:f>
              <c:strCache>
                <c:ptCount val="1"/>
                <c:pt idx="0">
                  <c:v>Exit 3 only (full)</c:v>
                </c:pt>
              </c:strCache>
            </c:strRef>
          </c:tx>
          <c:spPr>
            <a:solidFill>
              <a:srgbClr val="518113"/>
            </a:solidFill>
          </c:spPr>
          <c:invertIfNegative val="1"/>
          <c:cat>
            <c:strRef>
              <c:f>Sheet1!$A$2:$A$8</c:f>
              <c:strCache>
                <c:ptCount val="7"/>
                <c:pt idx="0">
                  <c:v>Clean</c:v>
                </c:pt>
                <c:pt idx="1">
                  <c:v>Noise 1</c:v>
                </c:pt>
                <c:pt idx="2">
                  <c:v>Noise 3</c:v>
                </c:pt>
                <c:pt idx="3">
                  <c:v>Noise 5</c:v>
                </c:pt>
                <c:pt idx="4">
                  <c:v>Blur 1</c:v>
                </c:pt>
                <c:pt idx="5">
                  <c:v>Blur 3</c:v>
                </c:pt>
                <c:pt idx="6">
                  <c:v>Blur 5</c:v>
                </c:pt>
              </c:strCache>
            </c:strRef>
          </c:cat>
          <c:val>
            <c:numRef>
              <c:f>Sheet1!$C$2:$C$8</c:f>
              <c:numCache>
                <c:formatCode>General</c:formatCode>
                <c:ptCount val="7"/>
                <c:pt idx="0">
                  <c:v>90.1</c:v>
                </c:pt>
                <c:pt idx="1">
                  <c:v>73.2</c:v>
                </c:pt>
                <c:pt idx="2">
                  <c:v>37.6</c:v>
                </c:pt>
                <c:pt idx="3">
                  <c:v>25.6</c:v>
                </c:pt>
                <c:pt idx="4">
                  <c:v>89.8</c:v>
                </c:pt>
                <c:pt idx="5">
                  <c:v>70.900000000000006</c:v>
                </c:pt>
                <c:pt idx="6">
                  <c:v>38.9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900-4D53-9653-B41A46EB2749}"/>
            </c:ext>
          </c:extLst>
        </c:ser>
        <c:ser>
          <c:idx val="2"/>
          <c:order val="2"/>
          <c:tx>
            <c:strRef>
              <c:f>Sheet1!$D$1</c:f>
              <c:strCache>
                <c:ptCount val="1"/>
                <c:pt idx="0">
                  <c:v>Think-or-Stop (val τ)</c:v>
                </c:pt>
              </c:strCache>
            </c:strRef>
          </c:tx>
          <c:spPr>
            <a:solidFill>
              <a:srgbClr val="C2570C"/>
            </a:solidFill>
          </c:spPr>
          <c:invertIfNegative val="1"/>
          <c:cat>
            <c:strRef>
              <c:f>Sheet1!$A$2:$A$8</c:f>
              <c:strCache>
                <c:ptCount val="7"/>
                <c:pt idx="0">
                  <c:v>Clean</c:v>
                </c:pt>
                <c:pt idx="1">
                  <c:v>Noise 1</c:v>
                </c:pt>
                <c:pt idx="2">
                  <c:v>Noise 3</c:v>
                </c:pt>
                <c:pt idx="3">
                  <c:v>Noise 5</c:v>
                </c:pt>
                <c:pt idx="4">
                  <c:v>Blur 1</c:v>
                </c:pt>
                <c:pt idx="5">
                  <c:v>Blur 3</c:v>
                </c:pt>
                <c:pt idx="6">
                  <c:v>Blur 5</c:v>
                </c:pt>
              </c:strCache>
            </c:strRef>
          </c:cat>
          <c:val>
            <c:numRef>
              <c:f>Sheet1!$D$2:$D$8</c:f>
              <c:numCache>
                <c:formatCode>General</c:formatCode>
                <c:ptCount val="7"/>
                <c:pt idx="0">
                  <c:v>89.3</c:v>
                </c:pt>
                <c:pt idx="1">
                  <c:v>72</c:v>
                </c:pt>
                <c:pt idx="2">
                  <c:v>37.799999999999997</c:v>
                </c:pt>
                <c:pt idx="3">
                  <c:v>27.2</c:v>
                </c:pt>
                <c:pt idx="4">
                  <c:v>89.1</c:v>
                </c:pt>
                <c:pt idx="5">
                  <c:v>70.400000000000006</c:v>
                </c:pt>
                <c:pt idx="6">
                  <c:v>38.700000000000003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900-4D53-9653-B41A46EB2749}"/>
            </c:ext>
          </c:extLst>
        </c:ser>
        <c:dLbls>
          <c:showLegendKey val="0"/>
          <c:showVal val="0"/>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3E7EF"/>
            </a:solidFill>
          </a:ln>
        </c:spPr>
        <c:txPr>
          <a:bodyPr/>
          <a:lstStyle/>
          <a:p>
            <a:pPr>
              <a:defRPr sz="1000">
                <a:solidFill>
                  <a:srgbClr val="5B6676"/>
                </a:solidFill>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E3E7EF"/>
              </a:solidFill>
            </a:ln>
          </c:spPr>
        </c:majorGridlines>
        <c:numFmt formatCode="0" sourceLinked="0"/>
        <c:majorTickMark val="out"/>
        <c:minorTickMark val="none"/>
        <c:tickLblPos val="nextTo"/>
        <c:spPr>
          <a:ln>
            <a:noFill/>
          </a:ln>
        </c:spPr>
        <c:txPr>
          <a:bodyPr/>
          <a:lstStyle/>
          <a:p>
            <a:pPr>
              <a:defRPr sz="1000">
                <a:solidFill>
                  <a:srgbClr val="5B6676"/>
                </a:solidFill>
              </a:defRPr>
            </a:pPr>
            <a:endParaRPr lang="en-US"/>
          </a:p>
        </c:txPr>
        <c:crossAx val="-2068027336"/>
        <c:crosses val="autoZero"/>
        <c:crossBetween val="between"/>
        <c:majorUnit val="20"/>
      </c:valAx>
    </c:plotArea>
    <c:legend>
      <c:legendPos val="b"/>
      <c:overlay val="0"/>
      <c:txPr>
        <a:bodyPr/>
        <a:lstStyle/>
        <a:p>
          <a:pPr>
            <a:defRPr sz="950"/>
          </a:pPr>
          <a:endParaRPr lang="en-US"/>
        </a:p>
      </c:txPr>
    </c:legend>
    <c:plotVisOnly val="1"/>
    <c:dispBlanksAs val="gap"/>
    <c:showDLblsOverMax val="1"/>
  </c:chart>
  <c:txPr>
    <a:bodyPr/>
    <a:lstStyle/>
    <a:p>
      <a:pPr>
        <a:defRPr sz="950">
          <a:solidFill>
            <a:srgbClr val="5B66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2A56C-DE30-458A-87D7-ED3BD36089FE}" type="datetimeFigureOut">
              <a:rPr lang="en-IN" smtClean="0"/>
              <a:t>27-10-2026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D201A-4C9D-4A35-98AA-16A8C1750F5A}" type="slidenum">
              <a:rPr lang="en-IN" smtClean="0"/>
              <a:t>‹#›</a:t>
            </a:fld>
            <a:endParaRPr lang="en-IN" dirty="0"/>
          </a:p>
        </p:txBody>
      </p:sp>
    </p:spTree>
    <p:extLst>
      <p:ext uri="{BB962C8B-B14F-4D97-AF65-F5344CB8AC3E}">
        <p14:creationId xmlns:p14="http://schemas.microsoft.com/office/powerpoint/2010/main" val="59226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sir. My mini project is called "Think-or-Stop: An Adaptive Early-Exit CNN".</a:t>
            </a:r>
          </a:p>
          <a:p>
            <a:endParaRPr/>
          </a:p>
          <a:p>
            <a:r>
              <a:t>The idea in one line: a normal convolutional neural network does the same amount of work for every image, even easy ones. Think-or-Stop gives the network the option to STOP early when it is already confident, and to keep THINKING (go deeper) only for hard images.</a:t>
            </a:r>
          </a:p>
          <a:p>
            <a:endParaRPr/>
          </a:p>
          <a:p>
            <a:r>
              <a:t>The 3D picture on the right is the actual result on the CIFAR-10 test set: about 27% of images stop after Stage 1, 47% after Stage 2, and only 26% need the full network.</a:t>
            </a:r>
          </a:p>
          <a:p>
            <a:endParaRPr/>
          </a:p>
          <a:p>
            <a:r>
              <a:t>Important: early exiting is an established research idea (BranchyNet 2016, MSDNet 2018, Shallow-Deep Networks 2019). I am not claiming a new method. My work is: implementing it from scratch in PyTorch, training it on my GPU, and evaluating it carefully - accuracy, computation, real GPU speed, calibration and robustness - including the cases where it does worse.</a:t>
            </a:r>
          </a:p>
          <a:p>
            <a:endParaRPr/>
          </a:p>
          <a:p>
            <a:r>
              <a:t>The chain at the bottom is the order of this talk: the problem, the CNN basics I used, the data, the architecture, training, the Think-or-Stop inference rule, and finally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the problem.</a:t>
            </a:r>
          </a:p>
          <a:p>
            <a:endParaRPr/>
          </a:p>
          <a:p>
            <a:r>
              <a:t>On the left are two real images from the CIFAR-10 test set, with the real decisions my model made. The ship on blue water is easy: colour and shape are enough, so the first exit is already 94% sure and the network stops after Stage 1. That needs only about a quarter of the computation. The cat is hard because it looks like a dog, so the early exits are not confident and the image goes all the way to the final exit.</a:t>
            </a:r>
          </a:p>
          <a:p>
            <a:endParaRPr/>
          </a:p>
          <a:p>
            <a:r>
              <a:t>A conventional CNN (top right) treats both images the same: every image goes through all three stages, 100% of the work every time.</a:t>
            </a:r>
          </a:p>
          <a:p>
            <a:endParaRPr/>
          </a:p>
          <a:p>
            <a:r>
              <a:t>Think-or-Stop (bottom right) puts a small classifier after each stage. After each stage it asks "am I confident enough to stop?". Easy images stop early; hard images continue. On CIFAR-10 this used about 63% of the work on average.</a:t>
            </a:r>
          </a:p>
          <a:p>
            <a:endParaRPr/>
          </a:p>
          <a:p>
            <a:r>
              <a:t>My research questions were:</a:t>
            </a:r>
          </a:p>
          <a:p>
            <a:r>
              <a:t>1. How does a normal CNN compare with a CNN that has extra exits?</a:t>
            </a:r>
          </a:p>
          <a:p>
            <a:r>
              <a:t>2. How does the confidence threshold change accuracy and computation?</a:t>
            </a:r>
          </a:p>
          <a:p>
            <a:r>
              <a:t>3. Can early exits reduce average computation?</a:t>
            </a:r>
          </a:p>
          <a:p>
            <a:r>
              <a:t>4. Does that actually make it faster on a real GPU?</a:t>
            </a:r>
          </a:p>
          <a:p>
            <a:r>
              <a:t>5. Are early exits still reliable on noisy or blurred images?</a:t>
            </a:r>
          </a:p>
          <a:p>
            <a:r>
              <a:t>6. How do calibration, latency and exit rates change under different conditions?</a:t>
            </a:r>
          </a:p>
          <a:p>
            <a:endParaRPr/>
          </a:p>
          <a:p>
            <a:r>
              <a:t>I did not assume the adaptive model would win - the experiments were designed to show it if it is slower or less accurate.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architecture, here are the ten terms I use throughout.</a:t>
            </a:r>
          </a:p>
          <a:p>
            <a:endParaRPr/>
          </a:p>
          <a:p>
            <a:r>
              <a:t>Blue cards are the layers:</a:t>
            </a:r>
          </a:p>
          <a:p>
            <a:r>
              <a:t>1. Convolution: a small 3×3 filter of learnable weights slides over the image; at every position it computes a weighted sum. Each filter becomes a detector for one pattern. Early layers find edges and colours, deeper layers find textures and object parts. The same filter is reused everywhere, so it needs far fewer weights than a fully connected layer.</a:t>
            </a:r>
          </a:p>
          <a:p>
            <a:r>
              <a:t>2. Batch normalization: normalises each channel using the batch mean and variance, then applies a learnable scale and shift. It stabilises training. In evaluation it uses stored running averages, so one image's result does not depend on other images in the batch - this matters for my early-exit batching.</a:t>
            </a:r>
          </a:p>
          <a:p>
            <a:r>
              <a:t>3. ReLU: max(0, x). Cheap, adds non-linearity, avoids vanishing gradients for positive values.</a:t>
            </a:r>
          </a:p>
          <a:p>
            <a:r>
              <a:t>4. Max pooling: keeps the maximum in each 2×2 window, halving the size. Reduces computation and gives tolerance to small shifts.</a:t>
            </a:r>
          </a:p>
          <a:p>
            <a:r>
              <a:t>5. Fully connected layer: connects all features to the 10 class scores (logits).</a:t>
            </a:r>
          </a:p>
          <a:p>
            <a:endParaRPr/>
          </a:p>
          <a:p>
            <a:r>
              <a:t>Green cards are how the network learns:</a:t>
            </a:r>
          </a:p>
          <a:p>
            <a:r>
              <a:t>6. Dropout: during training, randomly zeroes 30% of activations in the classifier heads, so the network cannot rely on single neurons; it is switched off at test time.</a:t>
            </a:r>
          </a:p>
          <a:p>
            <a:r>
              <a:t>7. Softmax: p_k = exp(z_k) / sum of exp(z_j). Gives probabilities that sum to 1. The biggest probability is what I later use as "confidence".</a:t>
            </a:r>
          </a:p>
          <a:p>
            <a:r>
              <a:t>8. Cross-entropy loss: minus log of the probability of the correct class. If the model gives the true class 0.9, loss is 0.105; if it gives 0.1, loss is 2.3.</a:t>
            </a:r>
          </a:p>
          <a:p>
            <a:r>
              <a:t>9. Backpropagation: the chain rule computes the gradient of the loss with respect to every weight, going backwards layer by layer.</a:t>
            </a:r>
          </a:p>
          <a:p>
            <a:r>
              <a:t>10. Adam: an optimiser that keeps running averages of gradients and squared gradients and gives each weight its own step size. I used learning rate 0.001.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used two official datasets, downloaded with torchvision.</a:t>
            </a:r>
          </a:p>
          <a:p>
            <a:endParaRPr/>
          </a:p>
          <a:p>
            <a:r>
              <a:t>MNIST: 70,000 handwritten digits, 28 by 28, grayscale. It trains in seconds, so I used it to debug the whole pipeline first - a "smoke test".</a:t>
            </a:r>
          </a:p>
          <a:p>
            <a:endParaRPr/>
          </a:p>
          <a:p>
            <a:r>
              <a:t>CIFAR-10 is the main benchmark: 60,000 colour photos, 32 by 32 pixels, in 10 classes. The images are tiny and objects appear in different poses and backgrounds, so it clearly shows the difference between shallow and deep exits.</a:t>
            </a:r>
          </a:p>
          <a:p>
            <a:endParaRPr/>
          </a:p>
          <a:p>
            <a:r>
              <a:t>The split is important. The official 50,000 training images are divided into 45,000 for training and 5,000 for validation, using a fixed random seed of 42 - the same split for every run so seeds are comparable. The validation set is used for exactly two decisions: which epoch's checkpoint to keep, and which confidence threshold to use. The 10,000 official test images are used only once for the final report. If I tuned the threshold on the test set and then reported test accuracy, the result would be optimistically biased - that is called data leakage.</a:t>
            </a:r>
          </a:p>
          <a:p>
            <a:endParaRPr/>
          </a:p>
          <a:p>
            <a:r>
              <a:t>Preparation:</a:t>
            </a:r>
          </a:p>
          <a:p>
            <a:r>
              <a:t>- Normalisation: subtract the per-channel mean and divide by the standard deviation (CIFAR mean 0.4914, 0.4822, 0.4465; std 0.2470, 0.2435, 0.2616). This keeps inputs centred around zero, which helps optimisation.</a:t>
            </a:r>
          </a:p>
          <a:p>
            <a:r>
              <a:t>- Data augmentation on training images only: random crop (pad 4 pixels, crop back to 32×32) and random horizontal flip. A flipped horse is still a horse, so the network learns position- and direction-invariant features and overfits less.</a:t>
            </a:r>
          </a:p>
          <a:p>
            <a:r>
              <a:t>- MNIST is not flipped because flipping can change a digit's meaning.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architecture in 3D, with the real CIFAR-10 shapes.</a:t>
            </a:r>
          </a:p>
          <a:p>
            <a:endParaRPr/>
          </a:p>
          <a:p>
            <a:r>
              <a:t>The backbone has three stages. Each stage has two convolution layers (3×3, each followed by batch normalisation and ReLU) and then a 2×2 max pooling. Channels double each stage - 64, 128, 256 - while the image size halves: 32 → 16 → 8 → 4. Early stages see fine detail at high resolution; later stages see more abstract features at low resolution. This is a VGG-style design.</a:t>
            </a:r>
          </a:p>
          <a:p>
            <a:endParaRPr/>
          </a:p>
          <a:p>
            <a:r>
              <a:t>After Stage 1 and Stage 2, I attach a small exit head (orange). Each head is: adaptive average pooling to 2×2, flatten, fully connected to 128, ReLU, dropout 0.3, fully connected to 10 classes. Adaptive pooling makes the head independent of input size, so the same code works for MNIST (28×28) and CIFAR-10 (32×32). Exit 3 (green) is the final classifier and always answers.</a:t>
            </a:r>
          </a:p>
          <a:p>
            <a:endParaRPr/>
          </a:p>
          <a:p>
            <a:r>
              <a:t>Key numbers at the bottom:</a:t>
            </a:r>
          </a:p>
          <a:p>
            <a:r>
              <a:t>- 1.38 million parameters. The baseline standard CNN has the identical backbone and final head but no exits 1 and 2: 1.28 million parameters. So the comparison is fair - the only difference is the extra heads and the training loss.</a:t>
            </a:r>
          </a:p>
          <a:p>
            <a:r>
              <a:t>- MACs means multiply-accumulate operations, a hardware-independent measure of arithmetic work (FLOPs ≈ 2 × MACs). Reaching Exit 1 costs 26% of the full network's work, Exit 2 costs 63%, the full network 153 million MACs.</a:t>
            </a:r>
          </a:p>
          <a:p>
            <a:r>
              <a:t>- Why does Stage 1 cost 26% when it has only 3% of the parameters? Because it works at full 32×32 resolution - computation depends on image size, parameters do not.</a:t>
            </a:r>
          </a:p>
          <a:p>
            <a:r>
              <a:t>- The two extra heads add only 0.07% computation, because they are tiny compared with the convolutions.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exits are trained together with one combined loss: L total = w1 × L exit1 + w2 × L exit2 + w3 × L exit3, where each L is the cross-entropy of that exit. I used equal weights (1, 1, 1) - the most neutral choice, every exit gets an equal share of the gradient. Because the stages are shared, Stage 1 receives gradient from all three heads, Stage 2 from two, Stage 3 from one. A unit test checks that every head and every layer receives a gradient.</a:t>
            </a:r>
          </a:p>
          <a:p>
            <a:endParaRPr/>
          </a:p>
          <a:p>
            <a:r>
              <a:t>Why train jointly? So the early layers learn features that are useful for an immediate decision, not only as input for later layers. The risk is that the shared layers must satisfy three objectives - I measured this cost later: it was very small.</a:t>
            </a:r>
          </a:p>
          <a:p>
            <a:endParaRPr/>
          </a:p>
          <a:p>
            <a:r>
              <a:t>Hyperparameters: Adam optimiser with learning rate 0.001; cosine schedule that smoothly lowers the learning rate to zero over 30 epochs; batch size 128; dropout 0.3 in the heads; weight decay 1e-4 (a mild L2 penalty); three random seeds 0, 1 and 2 so I can report mean ± standard deviation.</a:t>
            </a:r>
          </a:p>
          <a:p>
            <a:endParaRPr/>
          </a:p>
          <a:p>
            <a:r>
              <a:t>Checkpoint selection: after every epoch, the model is saved if Exit-3 validation accuracy improved. The baseline uses exactly the same rule.</a:t>
            </a:r>
          </a:p>
          <a:p>
            <a:endParaRPr/>
          </a:p>
          <a:p>
            <a:r>
              <a:t>The chart shows the real training run (seed 0): validation accuracy per exit over 30 epochs. All exits improve and flatten by epoch 30. Exit 1 plateaus around 69% (only two convolution layers), Exit 2 near 87%, Exit 3 near 91%.</a:t>
            </a:r>
          </a:p>
          <a:p>
            <a:endParaRPr/>
          </a:p>
          <a:p>
            <a:r>
              <a:t>Terms: an epoch is one full pass over the 45,000 training images. A seed fixes the random initialisation and shuffling so a run can be reproduced. Training ran on my RTX 5060 laptop GPU in about 6 to 12 seconds per epoch using less than 1 GB of GPU memory.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of the project: the Think-or-Stop rule.</a:t>
            </a:r>
          </a:p>
          <a:p>
            <a:endParaRPr/>
          </a:p>
          <a:p>
            <a:r>
              <a:t>For each image:</a:t>
            </a:r>
          </a:p>
          <a:p>
            <a:r>
              <a:t>1. Run Stage 1, then the Exit 1 classifier. Softmax converts its 10 scores into probabilities.</a:t>
            </a:r>
          </a:p>
          <a:p>
            <a:r>
              <a:t>2. The confidence is the highest probability - for the ship, 0.944 for the class "ship".</a:t>
            </a:r>
          </a:p>
          <a:p>
            <a:r>
              <a:t>3. Compare with the threshold τ (tau). If confidence ≥ τ, we STOP and output that class (green YES path).</a:t>
            </a:r>
          </a:p>
          <a:p>
            <a:r>
              <a:t>4. If not (orange NO path), we continue: run Stage 2 and Exit 2, and apply the same test.</a:t>
            </a:r>
          </a:p>
          <a:p>
            <a:r>
              <a:t>5. If still not confident, run Stage 3; Exit 3 always gives the final answer.</a:t>
            </a:r>
          </a:p>
          <a:p>
            <a:endParaRPr/>
          </a:p>
          <a:p>
            <a:r>
              <a:t>The right side shows real examples with τ = 0.84 (the threshold selected on validation data): one ship stopped at Exit 1 at 94.4%, another ship needed Exit 2 (99.8%), and the cat needed the full network (99.9% at Exit 3).</a:t>
            </a:r>
          </a:p>
          <a:p>
            <a:endParaRPr/>
          </a:p>
          <a:p>
            <a:r>
              <a:t>Important caution: maximum softmax probability is only a PROXY for correctness - a network can be confidently wrong. I measure how often that happens later.</a:t>
            </a:r>
          </a:p>
          <a:p>
            <a:endParaRPr/>
          </a:p>
          <a:p>
            <a:r>
              <a:t>Batches: on a GPU we process 128 images at once, but different images stop at different exits. My implementation removes the images that stopped and only sends the remaining ones to the next stage, keeping track of each image's original position so answers come back in the right order. On the test set with τ = 0.84: Stage 1 processed all 10,000 images, Stage 2 only 7,317 and Stage 3 only 2,597. I verified with unit tests and on the full test set that this batched version gives 100% the same predictions as processing images one by one. Also, BatchNorm in evaluation mode uses stored statistics, so an image's answer does not depend on other images in the batch.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threshold τ controls the whole trade-off: low τ means many images stop early (fast but less accurate), high τ means most images go deep (accurate but more work). The 3D chart shows this on the validation set: as τ increases (left to right), the blue Exit-1 bars shrink and more images move to Exit 2 (orange) and Exit 3 (green).</a:t>
            </a:r>
          </a:p>
          <a:p>
            <a:endParaRPr/>
          </a:p>
          <a:p>
            <a:r>
              <a:t>How I chose τ, using validation data only:</a:t>
            </a:r>
          </a:p>
          <a:p>
            <a:r>
              <a:t>1. Try thresholds from 0.00 to 1.00 in steps of 0.01 (plus fine steps near 1) on the 5,000 validation images.</a:t>
            </a:r>
          </a:p>
          <a:p>
            <a:r>
              <a:t>2. Keep only thresholds whose validation accuracy is at least the full network's validation accuracy minus 1 percentage point. This is the "relative" constraint. (An "absolute" version, e.g. accuracy ≥ 88%, is also implemented. If no threshold meets it, the code falls back to never exiting early and reports that the constraint was not met.)</a:t>
            </a:r>
          </a:p>
          <a:p>
            <a:r>
              <a:t>3. Among those safe thresholds, pick the one with the lowest average computation.</a:t>
            </a:r>
          </a:p>
          <a:p>
            <a:r>
              <a:t>4. Freeze it and apply it once to the test set, and unchanged to the corrupted test images.</a:t>
            </a:r>
          </a:p>
          <a:p>
            <a:endParaRPr/>
          </a:p>
          <a:p>
            <a:r>
              <a:t>Why not choose τ by looking at test accuracy? Because then the test set influences the model's settings, and the reported test accuracy is no longer an unbiased estimate - that's data leakage. In my code the selection function does not even accept test data.</a:t>
            </a:r>
          </a:p>
          <a:p>
            <a:endParaRPr/>
          </a:p>
          <a:p>
            <a:r>
              <a:t>Result: the three seeds chose τ = 0.84, 0.86 and 0.85 - very close, so the procedure is stable.</a:t>
            </a:r>
          </a:p>
          <a:p>
            <a:endParaRPr/>
          </a:p>
          <a:p>
            <a:r>
              <a:t>Terms: validation set = data held out from training for decisions; MACs = multiply-accumulate operations, my measure of computation.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results on the CIFAR-10 test set, averaged over three seeds.</a:t>
            </a:r>
          </a:p>
          <a:p>
            <a:endParaRPr/>
          </a:p>
          <a:p>
            <a:r>
              <a:t>Three headline numbers:</a:t>
            </a:r>
          </a:p>
          <a:p>
            <a:r>
              <a:t>- The standard CNN reached 90.37% using 100% of the computation.</a:t>
            </a:r>
          </a:p>
          <a:p>
            <a:r>
              <a:t>- Think-or-Stop with the validation-selected threshold reached 89.28% using only 63.5% of the computation - about 36% less work for about 0.8 points less accuracy compared with its own full network.</a:t>
            </a:r>
          </a:p>
          <a:p>
            <a:r>
              <a:t>- At almost exactly the same compute (~63%), simply always stopping at Exit 2 gives only 85.89%. So deciding depth per image is about 3.4 points better than using a fixed smaller network. This is the strongest result.</a:t>
            </a:r>
          </a:p>
          <a:p>
            <a:endParaRPr/>
          </a:p>
          <a:p>
            <a:r>
              <a:t>The chart: the green curve is Think-or-Stop for every threshold; blue dots are the fixed exits; the grey square is the standard CNN; the orange diamond is the selected threshold. The green curve lies well above the straight path between the fixed exits - that gap is the benefit of adaptive depth.</a:t>
            </a:r>
          </a:p>
          <a:p>
            <a:endParaRPr/>
          </a:p>
          <a:p>
            <a:r>
              <a:t>The table answers research question 1: the standard CNN (90.37%) and the multi-exit model's final exit (90.11%) are practically the same - the 0.26 point difference is about the size of the run-to-run variation, so adding exits costs almost nothing. Fixed Exit 1 is cheap (26%) but much worse (67%).</a:t>
            </a:r>
          </a:p>
          <a:p>
            <a:endParaRPr/>
          </a:p>
          <a:p>
            <a:r>
              <a:t>Honest note: I report mean ± standard deviation of 3 seeds; I did not run a statistical significance test, so small differences should be read as "no clear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question 4: does less computation mean faster on a real GPU? I measured it carefully.</a:t>
            </a:r>
          </a:p>
          <a:p>
            <a:endParaRPr/>
          </a:p>
          <a:p>
            <a:r>
              <a:t>Method: model in evaluation mode with no gradients; the same 1,024 test images pre-loaded on the GPU so data loading is excluded; 20 warm-up batches; every batch timed with torch.cuda.synchronize() before and after - because GPU calls are asynchronous, without synchronising the timing would be wrong; 5 repetitions; median reported. Batch size 1 gives the true per-image latency; batch size 128 gives throughput.</a:t>
            </a:r>
          </a:p>
          <a:p>
            <a:endParaRPr/>
          </a:p>
          <a:p>
            <a:r>
              <a:t>Result (chart): fixed exits do get faster in proportion to their depth - Exit 1 only takes 0.28 ms, the full network 0.61 ms. But Think-or-Stop took about 0.96 ms - roughly 58% SLOWER than just running the whole network, even though it does 36% less arithmetic. At batch size 128 its throughput was also 22% lower.</a:t>
            </a:r>
          </a:p>
          <a:p>
            <a:endParaRPr/>
          </a:p>
          <a:p>
            <a:r>
              <a:t>Why: (1) extra heads, softmax and comparisons; (2) at each exit the CPU has to wait for the GPU to finish, to know how many images stopped - this synchronisation stalls the GPU pipeline; (3) removing finished images means copying the rest into new, smaller tensors, and small batches use the GPU less efficiently; (4) the network is small, so each layer is already fast and these fixed overheads are larger than the savings.</a:t>
            </a:r>
          </a:p>
          <a:p>
            <a:endParaRPr/>
          </a:p>
          <a:p>
            <a:r>
              <a:t>Counter-example: on MNIST, where 84% of digits stop at Exit 1, adaptive inference was slightly faster at batch size 1 (0.56 vs 0.62 ms). So the outcome depends on how many inputs stop early, the hardware and the model size. On a CPU or a small edge device, where time follows arithmetic more closely, the savings would more likely become real speed - I did not measure that.</a:t>
            </a:r>
          </a:p>
          <a:p>
            <a:endParaRPr/>
          </a:p>
          <a:p>
            <a:r>
              <a:t>Key lesson: FLOPs or MACs are not latency; it must be measured.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questions 5 and 6: is the confidence trustworthy?</a:t>
            </a:r>
          </a:p>
          <a:p>
            <a:endParaRPr/>
          </a:p>
          <a:p>
            <a:r>
              <a:t>Calibration: a model is calibrated if, among all answers given with 90% confidence, about 90% are correct. I measured Expected Calibration Error (ECE): split predictions into 15 confidence bins, and take the weighted average of |accuracy − confidence| per bin. Lower is better.</a:t>
            </a:r>
          </a:p>
          <a:p>
            <a:r>
              <a:t>- The final exit is the most accurate but the most over-confident: on average 94% confident but 90% correct, ECE 0.041. This matches the known finding (Guo et al. 2017) that deeper, more accurate networks tend to be over-confident.</a:t>
            </a:r>
          </a:p>
          <a:p>
            <a:r>
              <a:t>- The early exits are better calibrated (about 0.019), and the adaptive policy (0.027) is better calibrated than the final exit. The standard CNN has the highest ECE, 0.045.</a:t>
            </a:r>
          </a:p>
          <a:p>
            <a:endParaRPr/>
          </a:p>
          <a:p>
            <a:r>
              <a:t>Robustness: I created reproducible corrupted test sets - Gaussian noise and Gaussian blur at severities 1, 3 and 5, using the same parameters as the CIFAR-10-C benchmark (I re-implemented them; I did not use the real CIFAR-10-C download). The pictures show the same airplane clean, with noise and with blur. Thresholds were still chosen on clean validation data.</a:t>
            </a:r>
          </a:p>
          <a:p>
            <a:endParaRPr/>
          </a:p>
          <a:p>
            <a:r>
              <a:t>Findings:</a:t>
            </a:r>
          </a:p>
          <a:p>
            <a:r>
              <a:t>- The network itself is fragile: even mild noise drops accuracy from 90% to about 73%, for the standard CNN too - it was never trained on noise.</a:t>
            </a:r>
          </a:p>
          <a:p>
            <a:r>
              <a:t>- Think-or-Stop stays close to the full network under every corruption, and automatically spends more compute (63% → about 81%) because fewer images are confident.</a:t>
            </a:r>
          </a:p>
          <a:p>
            <a:r>
              <a:t>- Interesting: under strong noise, Exit 1 is more accurate than Exit 3 - deeper is not always better on shifted data.</a:t>
            </a:r>
          </a:p>
          <a:p>
            <a:r>
              <a:t>- But: when an early exit IS confident on a corrupted image, it is wrong about half the time (vs 5% on clean images). Softmax confidence is unreliable under distribution shift. On MNIST the adaptive model was clearly worse than full depth under heavy noise.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here are the answers to my research questions.</a:t>
            </a:r>
          </a:p>
          <a:p>
            <a:endParaRPr/>
          </a:p>
          <a:p>
            <a:r>
              <a:t>1. Less computation - YES. With the validation-selected threshold, Think-or-Stop used about 36% fewer operations while losing only about 0.8 accuracy points versus its own full network.</a:t>
            </a:r>
          </a:p>
          <a:p>
            <a:r>
              <a:t>2. Smarter than a fixed smaller network - YES. At the same computation, choosing depth per image is 3.4 points more accurate than always stopping at Exit 2. Adding the exits cost the final classifier almost nothing (90.11% vs 90.37%).</a:t>
            </a:r>
          </a:p>
          <a:p>
            <a:r>
              <a:t>3. Faster on the GPU - NO, not in my setting. The decision overheads (extra heads, GPU-CPU synchronisation, splitting batches) were larger than the savings for this small network. Fewer FLOPs do not automatically mean less time.</a:t>
            </a:r>
          </a:p>
          <a:p>
            <a:r>
              <a:t>4. Reliability - PARTLY. Under noise and blur the policy automatically spends more compute and stays close to full-depth accuracy on CIFAR-10, but confident early answers on corrupted images are often wrong, and on MNIST it was clearly worse. Softmax confidence is only a proxy.</a:t>
            </a:r>
          </a:p>
          <a:p>
            <a:endParaRPr/>
          </a:p>
          <a:p>
            <a:r>
              <a:t>Limitations: small CNN and small images, one laptop GPU, only 3 seeds without a significance test, one shared threshold and one confidence measure, and synthetic corruptions instead of the real CIFAR-10-C benchmark.</a:t>
            </a:r>
          </a:p>
          <a:p>
            <a:endParaRPr/>
          </a:p>
          <a:p>
            <a:r>
              <a:t>Next steps: measure on CPU and edge devices where time follows arithmetic more closely; try entropy or temperature-scaled confidence; tune a threshold per exit or learn the exit decision; train with noise augmentation and test on CIFAR-10-C.</a:t>
            </a:r>
          </a:p>
          <a:p>
            <a:endParaRPr/>
          </a:p>
          <a:p>
            <a:r>
              <a:t>Everything is reproducible: fixed seeds, 41 automated tests, and one command (run_all.ps1) re-runs the whole pipeline. Thank you -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76EA92-0784-70F2-4703-F36FDA9EE2B2}"/>
              </a:ext>
            </a:extLst>
          </p:cNvPr>
          <p:cNvSpPr>
            <a:spLocks noGrp="1"/>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6" name="Slide Number Placeholder 5">
            <a:extLst>
              <a:ext uri="{FF2B5EF4-FFF2-40B4-BE49-F238E27FC236}">
                <a16:creationId xmlns:a16="http://schemas.microsoft.com/office/drawing/2014/main" id="{EA966633-EC95-B0CE-1A69-D28E1223B6D1}"/>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Title 6">
            <a:extLst>
              <a:ext uri="{FF2B5EF4-FFF2-40B4-BE49-F238E27FC236}">
                <a16:creationId xmlns:a16="http://schemas.microsoft.com/office/drawing/2014/main" id="{92EDF7A5-70FF-ACA7-B961-9CE0B2FEDA52}"/>
              </a:ext>
            </a:extLst>
          </p:cNvPr>
          <p:cNvSpPr>
            <a:spLocks noGrp="1"/>
          </p:cNvSpPr>
          <p:nvPr>
            <p:ph type="title" hasCustomPrompt="1"/>
          </p:nvPr>
        </p:nvSpPr>
        <p:spPr/>
        <p:txBody>
          <a:bodyPr/>
          <a:lstStyle/>
          <a:p>
            <a:r>
              <a:rPr lang="en-US" dirty="0"/>
              <a:t>Click To Edit Master Title Style</a:t>
            </a:r>
            <a:endParaRPr lang="en-IN" dirty="0"/>
          </a:p>
        </p:txBody>
      </p:sp>
      <p:sp>
        <p:nvSpPr>
          <p:cNvPr id="9" name="Rectangle 8">
            <a:extLst>
              <a:ext uri="{FF2B5EF4-FFF2-40B4-BE49-F238E27FC236}">
                <a16:creationId xmlns:a16="http://schemas.microsoft.com/office/drawing/2014/main" id="{4CC4345F-9941-C073-8FFF-17EF7B0258C6}"/>
              </a:ext>
            </a:extLst>
          </p:cNvPr>
          <p:cNvSpPr/>
          <p:nvPr userDrawn="1"/>
        </p:nvSpPr>
        <p:spPr>
          <a:xfrm flipV="1">
            <a:off x="819149"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3608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738D-CDF6-F4BC-FF91-475956CF438D}"/>
              </a:ext>
            </a:extLst>
          </p:cNvPr>
          <p:cNvSpPr>
            <a:spLocks noGrp="1"/>
          </p:cNvSpPr>
          <p:nvPr>
            <p:ph type="title" hasCustomPrompt="1"/>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293764B-C54B-573E-F5F8-15EF6F99B878}"/>
              </a:ext>
            </a:extLst>
          </p:cNvPr>
          <p:cNvSpPr>
            <a:spLocks noGrp="1"/>
          </p:cNvSpPr>
          <p:nvPr>
            <p:ph idx="1"/>
          </p:nvPr>
        </p:nvSpPr>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a:extLst>
              <a:ext uri="{FF2B5EF4-FFF2-40B4-BE49-F238E27FC236}">
                <a16:creationId xmlns:a16="http://schemas.microsoft.com/office/drawing/2014/main" id="{C95DF5F4-9E44-91E0-CAD7-B2EFAA251F01}"/>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Rectangle 6">
            <a:extLst>
              <a:ext uri="{FF2B5EF4-FFF2-40B4-BE49-F238E27FC236}">
                <a16:creationId xmlns:a16="http://schemas.microsoft.com/office/drawing/2014/main" id="{A9A48148-BB58-895E-0761-BDEACBCDF280}"/>
              </a:ext>
            </a:extLst>
          </p:cNvPr>
          <p:cNvSpPr/>
          <p:nvPr userDrawn="1"/>
        </p:nvSpPr>
        <p:spPr>
          <a:xfrm flipV="1">
            <a:off x="809624"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339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2E536-01DD-DFC3-C1A5-CC531DAA6517}"/>
              </a:ext>
            </a:extLst>
          </p:cNvPr>
          <p:cNvSpPr>
            <a:spLocks noGrp="1"/>
          </p:cNvSpPr>
          <p:nvPr>
            <p:ph type="title" hasCustomPrompt="1"/>
          </p:nvPr>
        </p:nvSpPr>
        <p:spPr>
          <a:xfrm>
            <a:off x="831850" y="1709738"/>
            <a:ext cx="10515600" cy="2852737"/>
          </a:xfrm>
        </p:spPr>
        <p:txBody>
          <a:bodyPr anchor="b"/>
          <a:lstStyle>
            <a:lvl1pPr>
              <a:defRPr sz="48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5286426A-7847-FB87-590F-EF63965A0CAD}"/>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9E68E0D-97D6-FDE6-6BA6-59545A89CE05}"/>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12" name="Rectangle 11">
            <a:extLst>
              <a:ext uri="{FF2B5EF4-FFF2-40B4-BE49-F238E27FC236}">
                <a16:creationId xmlns:a16="http://schemas.microsoft.com/office/drawing/2014/main" id="{4BB59A32-CB57-20F3-49C8-296B82F3A556}"/>
              </a:ext>
            </a:extLst>
          </p:cNvPr>
          <p:cNvSpPr/>
          <p:nvPr userDrawn="1"/>
        </p:nvSpPr>
        <p:spPr>
          <a:xfrm flipV="1">
            <a:off x="798831" y="3902880"/>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43940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FE8E-0631-24C0-2BB4-F9C2086174D4}"/>
              </a:ext>
            </a:extLst>
          </p:cNvPr>
          <p:cNvSpPr>
            <a:spLocks noGrp="1"/>
          </p:cNvSpPr>
          <p:nvPr>
            <p:ph type="title" hasCustomPrompt="1"/>
          </p:nvPr>
        </p:nvSpPr>
        <p:spPr>
          <a:xfrm>
            <a:off x="866775" y="469900"/>
            <a:ext cx="10515600" cy="606425"/>
          </a:xfrm>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BA56C0D-BDBF-F3CC-3B7F-C7E4B13A2EB6}"/>
              </a:ext>
            </a:extLst>
          </p:cNvPr>
          <p:cNvSpPr>
            <a:spLocks noGrp="1"/>
          </p:cNvSpPr>
          <p:nvPr>
            <p:ph sz="half" idx="1"/>
          </p:nvPr>
        </p:nvSpPr>
        <p:spPr>
          <a:xfrm>
            <a:off x="838200" y="1825625"/>
            <a:ext cx="5181600" cy="4351338"/>
          </a:xfrm>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91CB19D6-1172-901E-56AE-16F02D03E822}"/>
              </a:ext>
            </a:extLst>
          </p:cNvPr>
          <p:cNvSpPr>
            <a:spLocks noGrp="1"/>
          </p:cNvSpPr>
          <p:nvPr>
            <p:ph sz="half" idx="2"/>
          </p:nvPr>
        </p:nvSpPr>
        <p:spPr>
          <a:xfrm>
            <a:off x="6172200" y="1825625"/>
            <a:ext cx="5181600" cy="4351338"/>
          </a:xfrm>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lide Number Placeholder 6">
            <a:extLst>
              <a:ext uri="{FF2B5EF4-FFF2-40B4-BE49-F238E27FC236}">
                <a16:creationId xmlns:a16="http://schemas.microsoft.com/office/drawing/2014/main" id="{5AB882B3-7909-A5B3-5DCF-F40146CD6043}"/>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8" name="Rectangle 7">
            <a:extLst>
              <a:ext uri="{FF2B5EF4-FFF2-40B4-BE49-F238E27FC236}">
                <a16:creationId xmlns:a16="http://schemas.microsoft.com/office/drawing/2014/main" id="{28292526-E77A-1EE3-7C86-D6B7F0D8EB30}"/>
              </a:ext>
            </a:extLst>
          </p:cNvPr>
          <p:cNvSpPr/>
          <p:nvPr userDrawn="1"/>
        </p:nvSpPr>
        <p:spPr>
          <a:xfrm flipV="1">
            <a:off x="838199"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5784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96E98-E7E7-9337-BFC4-6AB071D29D50}"/>
              </a:ext>
            </a:extLst>
          </p:cNvPr>
          <p:cNvSpPr>
            <a:spLocks noGrp="1"/>
          </p:cNvSpPr>
          <p:nvPr>
            <p:ph type="title" hasCustomPrompt="1"/>
          </p:nvPr>
        </p:nvSpPr>
        <p:spPr>
          <a:xfrm>
            <a:off x="868363" y="481234"/>
            <a:ext cx="10515600" cy="669704"/>
          </a:xfrm>
        </p:spPr>
        <p:txBody>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59389B4C-32E5-6D02-17F8-AA0BA895EAA2}"/>
              </a:ext>
            </a:extLst>
          </p:cNvPr>
          <p:cNvSpPr>
            <a:spLocks noGrp="1"/>
          </p:cNvSpPr>
          <p:nvPr>
            <p:ph type="body" idx="1"/>
          </p:nvPr>
        </p:nvSpPr>
        <p:spPr>
          <a:xfrm>
            <a:off x="839788" y="1681163"/>
            <a:ext cx="5157787" cy="823912"/>
          </a:xfrm>
        </p:spPr>
        <p:txBody>
          <a:bodyPr anchor="b"/>
          <a:lstStyle>
            <a:lvl1pPr marL="0" indent="0">
              <a:buNone/>
              <a:defRPr sz="24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74939AA-7D0B-69A8-9C00-66E2D72D7F3B}"/>
              </a:ext>
            </a:extLst>
          </p:cNvPr>
          <p:cNvSpPr>
            <a:spLocks noGrp="1"/>
          </p:cNvSpPr>
          <p:nvPr>
            <p:ph sz="half" idx="2"/>
          </p:nvPr>
        </p:nvSpPr>
        <p:spPr>
          <a:xfrm>
            <a:off x="839788" y="2505075"/>
            <a:ext cx="5157787" cy="3684588"/>
          </a:xfrm>
        </p:spPr>
        <p:txBody>
          <a:bodyPr/>
          <a:lstStyle>
            <a:lvl1pPr>
              <a:defRPr>
                <a:solidFill>
                  <a:schemeClr val="tx1"/>
                </a:solidFill>
              </a:defRPr>
            </a:lvl1pPr>
            <a:lvl2pPr>
              <a:defRPr>
                <a:solidFill>
                  <a:schemeClr val="accent1"/>
                </a:solidFill>
              </a:defRPr>
            </a:lvl2pPr>
            <a:lvl3pPr>
              <a:defRPr>
                <a:solidFill>
                  <a:schemeClr val="accent3"/>
                </a:solidFill>
              </a:defRPr>
            </a:lvl3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a:extLst>
              <a:ext uri="{FF2B5EF4-FFF2-40B4-BE49-F238E27FC236}">
                <a16:creationId xmlns:a16="http://schemas.microsoft.com/office/drawing/2014/main" id="{AA79AB45-5A52-79BB-A0AB-D4EC49BB954B}"/>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7D38A39-EF86-0B04-6453-612251CC2545}"/>
              </a:ext>
            </a:extLst>
          </p:cNvPr>
          <p:cNvSpPr>
            <a:spLocks noGrp="1"/>
          </p:cNvSpPr>
          <p:nvPr>
            <p:ph sz="quarter" idx="4"/>
          </p:nvPr>
        </p:nvSpPr>
        <p:spPr>
          <a:xfrm>
            <a:off x="6172200" y="2505075"/>
            <a:ext cx="5183188" cy="3684588"/>
          </a:xfrm>
        </p:spPr>
        <p:txBody>
          <a:bodyPr/>
          <a:lstStyle>
            <a:lvl1pPr>
              <a:defRPr>
                <a:solidFill>
                  <a:schemeClr val="tx1"/>
                </a:solidFill>
              </a:defRPr>
            </a:lvl1pPr>
            <a:lvl2pPr>
              <a:defRPr>
                <a:solidFill>
                  <a:schemeClr val="accent1"/>
                </a:solidFill>
              </a:defRPr>
            </a:lvl2pPr>
            <a:lvl3pPr>
              <a:defRPr>
                <a:solidFill>
                  <a:schemeClr val="accent3"/>
                </a:solidFill>
              </a:defRPr>
            </a:lvl3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Slide Number Placeholder 8">
            <a:extLst>
              <a:ext uri="{FF2B5EF4-FFF2-40B4-BE49-F238E27FC236}">
                <a16:creationId xmlns:a16="http://schemas.microsoft.com/office/drawing/2014/main" id="{6B53C3F1-8DED-9A6F-1A45-AE23BA88683A}"/>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10" name="Rectangle 9">
            <a:extLst>
              <a:ext uri="{FF2B5EF4-FFF2-40B4-BE49-F238E27FC236}">
                <a16:creationId xmlns:a16="http://schemas.microsoft.com/office/drawing/2014/main" id="{25A8338E-B837-7C4D-063F-9719FA3FB61C}"/>
              </a:ext>
            </a:extLst>
          </p:cNvPr>
          <p:cNvSpPr/>
          <p:nvPr userDrawn="1"/>
        </p:nvSpPr>
        <p:spPr>
          <a:xfrm flipV="1">
            <a:off x="838199"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4581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9621-3504-9E21-D648-D9D595CD3EB3}"/>
              </a:ext>
            </a:extLst>
          </p:cNvPr>
          <p:cNvSpPr>
            <a:spLocks noGrp="1"/>
          </p:cNvSpPr>
          <p:nvPr>
            <p:ph type="title" hasCustomPrompt="1"/>
          </p:nvPr>
        </p:nvSpPr>
        <p:spPr>
          <a:xfrm>
            <a:off x="866775" y="450850"/>
            <a:ext cx="10515600" cy="682839"/>
          </a:xfrm>
        </p:spPr>
        <p:txBody>
          <a:bodyPr/>
          <a:lstStyle/>
          <a:p>
            <a:r>
              <a:rPr lang="en-US" dirty="0"/>
              <a:t>Click To Edit Master Title Style</a:t>
            </a:r>
            <a:endParaRPr lang="en-IN" dirty="0"/>
          </a:p>
        </p:txBody>
      </p:sp>
      <p:sp>
        <p:nvSpPr>
          <p:cNvPr id="5" name="Slide Number Placeholder 4">
            <a:extLst>
              <a:ext uri="{FF2B5EF4-FFF2-40B4-BE49-F238E27FC236}">
                <a16:creationId xmlns:a16="http://schemas.microsoft.com/office/drawing/2014/main" id="{4D8F49CE-5FAC-DBB3-22E2-68F8A91B82BF}"/>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6" name="Rectangle 5">
            <a:extLst>
              <a:ext uri="{FF2B5EF4-FFF2-40B4-BE49-F238E27FC236}">
                <a16:creationId xmlns:a16="http://schemas.microsoft.com/office/drawing/2014/main" id="{2C8F9FC3-5D6F-58A5-3C3C-D9D1E45B0832}"/>
              </a:ext>
            </a:extLst>
          </p:cNvPr>
          <p:cNvSpPr/>
          <p:nvPr userDrawn="1"/>
        </p:nvSpPr>
        <p:spPr>
          <a:xfrm flipV="1">
            <a:off x="838199"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0214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821B14-60A0-5F0E-1D32-373D49DB90BD}"/>
              </a:ext>
            </a:extLst>
          </p:cNvPr>
          <p:cNvSpPr>
            <a:spLocks noGrp="1"/>
          </p:cNvSpPr>
          <p:nvPr>
            <p:ph type="sldNum" sz="quarter" idx="12"/>
          </p:nvPr>
        </p:nvSpPr>
        <p:spPr/>
        <p:txBody>
          <a:bodyPr/>
          <a:lstStyle/>
          <a:p>
            <a:fld id="{EFCD437A-9C84-4F71-8F4E-10DCBF62426D}" type="slidenum">
              <a:rPr lang="en-IN" smtClean="0"/>
              <a:t>‹#›</a:t>
            </a:fld>
            <a:endParaRPr lang="en-IN" dirty="0"/>
          </a:p>
        </p:txBody>
      </p:sp>
    </p:spTree>
    <p:extLst>
      <p:ext uri="{BB962C8B-B14F-4D97-AF65-F5344CB8AC3E}">
        <p14:creationId xmlns:p14="http://schemas.microsoft.com/office/powerpoint/2010/main" val="711383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F50E-CAD0-243E-1655-14DFC51C3FB9}"/>
              </a:ext>
            </a:extLst>
          </p:cNvPr>
          <p:cNvSpPr>
            <a:spLocks noGrp="1"/>
          </p:cNvSpPr>
          <p:nvPr>
            <p:ph type="title" hasCustomPrompt="1"/>
          </p:nvPr>
        </p:nvSpPr>
        <p:spPr>
          <a:xfrm>
            <a:off x="839788" y="457200"/>
            <a:ext cx="3932237" cy="857250"/>
          </a:xfrm>
        </p:spPr>
        <p:txBody>
          <a:bodyPr anchor="b"/>
          <a:lstStyle>
            <a:lvl1pPr>
              <a:defRPr sz="3200"/>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DBF71D4-9701-43A1-7D1E-11D3243D1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C53EC4-1D22-35B3-B9A6-F23F476CC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26E837AA-7F26-8933-F1D2-FB496067C7D4}"/>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9" name="Rectangle 8">
            <a:extLst>
              <a:ext uri="{FF2B5EF4-FFF2-40B4-BE49-F238E27FC236}">
                <a16:creationId xmlns:a16="http://schemas.microsoft.com/office/drawing/2014/main" id="{8D3355ED-82CD-374D-C3E9-4A76A51BD18D}"/>
              </a:ext>
            </a:extLst>
          </p:cNvPr>
          <p:cNvSpPr/>
          <p:nvPr userDrawn="1"/>
        </p:nvSpPr>
        <p:spPr>
          <a:xfrm flipV="1">
            <a:off x="813752" y="621510"/>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2864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4AFC-5224-87ED-D2D5-07A3D0BA2A05}"/>
              </a:ext>
            </a:extLst>
          </p:cNvPr>
          <p:cNvSpPr>
            <a:spLocks noGrp="1"/>
          </p:cNvSpPr>
          <p:nvPr>
            <p:ph type="title" hasCustomPrompt="1"/>
          </p:nvPr>
        </p:nvSpPr>
        <p:spPr>
          <a:xfrm>
            <a:off x="839788" y="457200"/>
            <a:ext cx="3932237" cy="922020"/>
          </a:xfrm>
        </p:spPr>
        <p:txBody>
          <a:bodyPr anchor="b"/>
          <a:lstStyle>
            <a:lvl1pPr>
              <a:defRPr sz="3200"/>
            </a:lvl1pPr>
          </a:lstStyle>
          <a:p>
            <a:r>
              <a:rPr lang="en-US" dirty="0"/>
              <a:t>Click To Edit Master Title Style</a:t>
            </a:r>
            <a:endParaRPr lang="en-IN" dirty="0"/>
          </a:p>
        </p:txBody>
      </p:sp>
      <p:sp>
        <p:nvSpPr>
          <p:cNvPr id="3" name="Picture Placeholder 2">
            <a:extLst>
              <a:ext uri="{FF2B5EF4-FFF2-40B4-BE49-F238E27FC236}">
                <a16:creationId xmlns:a16="http://schemas.microsoft.com/office/drawing/2014/main" id="{63F30619-5F13-04CC-677A-A40E3B378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4D331B4-1EE4-C295-7CB3-1C8FABE77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EFA3E8E-97E6-A900-2637-EE781B683A84}"/>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9" name="Rectangle 8">
            <a:extLst>
              <a:ext uri="{FF2B5EF4-FFF2-40B4-BE49-F238E27FC236}">
                <a16:creationId xmlns:a16="http://schemas.microsoft.com/office/drawing/2014/main" id="{26249A07-43FF-E06B-FD25-282C22569579}"/>
              </a:ext>
            </a:extLst>
          </p:cNvPr>
          <p:cNvSpPr/>
          <p:nvPr userDrawn="1"/>
        </p:nvSpPr>
        <p:spPr>
          <a:xfrm flipV="1">
            <a:off x="809624" y="65268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3302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319-6D52-09C2-FB05-18DE10D1E417}"/>
              </a:ext>
            </a:extLst>
          </p:cNvPr>
          <p:cNvSpPr>
            <a:spLocks noGrp="1"/>
          </p:cNvSpPr>
          <p:nvPr>
            <p:ph type="title" hasCustomPrompt="1"/>
          </p:nvPr>
        </p:nvSpPr>
        <p:spPr>
          <a:xfrm>
            <a:off x="866775" y="519334"/>
            <a:ext cx="10515600" cy="528630"/>
          </a:xfrm>
        </p:spPr>
        <p:txBody>
          <a:body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35695183-3C2D-2E47-4418-820FE3E46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A4CCA602-694E-01CB-D4E1-DA65D6053726}"/>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Rectangle 6">
            <a:extLst>
              <a:ext uri="{FF2B5EF4-FFF2-40B4-BE49-F238E27FC236}">
                <a16:creationId xmlns:a16="http://schemas.microsoft.com/office/drawing/2014/main" id="{88D7BE18-15CC-6440-5E1F-AAE8B8945E3D}"/>
              </a:ext>
            </a:extLst>
          </p:cNvPr>
          <p:cNvSpPr/>
          <p:nvPr userDrawn="1"/>
        </p:nvSpPr>
        <p:spPr>
          <a:xfrm flipV="1">
            <a:off x="838199" y="519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59314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E6ED0-033D-13A2-E6A0-CA1901C6210D}"/>
              </a:ext>
            </a:extLst>
          </p:cNvPr>
          <p:cNvSpPr>
            <a:spLocks noGrp="1"/>
          </p:cNvSpPr>
          <p:nvPr>
            <p:ph type="title" orient="vert"/>
          </p:nvPr>
        </p:nvSpPr>
        <p:spPr>
          <a:xfrm>
            <a:off x="8724900" y="365125"/>
            <a:ext cx="2628900" cy="5811838"/>
          </a:xfrm>
        </p:spPr>
        <p:txBody>
          <a:bodyPr vert="eaVert"/>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BBC733AD-A903-6AF1-70BA-E1DEC362F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0FB03D9B-62E3-2724-0155-B6C46C1A49B1}"/>
              </a:ext>
            </a:extLst>
          </p:cNvPr>
          <p:cNvSpPr>
            <a:spLocks noGrp="1"/>
          </p:cNvSpPr>
          <p:nvPr>
            <p:ph type="sldNum" sz="quarter" idx="12"/>
          </p:nvPr>
        </p:nvSpPr>
        <p:spPr/>
        <p:txBody>
          <a:bodyPr/>
          <a:lstStyle/>
          <a:p>
            <a:fld id="{EFCD437A-9C84-4F71-8F4E-10DCBF62426D}" type="slidenum">
              <a:rPr lang="en-IN" smtClean="0"/>
              <a:t>‹#›</a:t>
            </a:fld>
            <a:endParaRPr lang="en-IN" dirty="0"/>
          </a:p>
        </p:txBody>
      </p:sp>
    </p:spTree>
    <p:extLst>
      <p:ext uri="{BB962C8B-B14F-4D97-AF65-F5344CB8AC3E}">
        <p14:creationId xmlns:p14="http://schemas.microsoft.com/office/powerpoint/2010/main" val="3614539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76EA92-0784-70F2-4703-F36FDA9EE2B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6" name="Slide Number Placeholder 5">
            <a:extLst>
              <a:ext uri="{FF2B5EF4-FFF2-40B4-BE49-F238E27FC236}">
                <a16:creationId xmlns:a16="http://schemas.microsoft.com/office/drawing/2014/main" id="{EA966633-EC95-B0CE-1A69-D28E1223B6D1}"/>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Title 6">
            <a:extLst>
              <a:ext uri="{FF2B5EF4-FFF2-40B4-BE49-F238E27FC236}">
                <a16:creationId xmlns:a16="http://schemas.microsoft.com/office/drawing/2014/main" id="{92EDF7A5-70FF-ACA7-B961-9CE0B2FEDA52}"/>
              </a:ext>
            </a:extLst>
          </p:cNvPr>
          <p:cNvSpPr>
            <a:spLocks noGrp="1"/>
          </p:cNvSpPr>
          <p:nvPr>
            <p:ph type="title" hasCustomPrompt="1"/>
          </p:nvPr>
        </p:nvSpPr>
        <p:spPr>
          <a:xfrm>
            <a:off x="533895" y="891086"/>
            <a:ext cx="10515600" cy="609724"/>
          </a:xfrm>
          <a:prstGeom prst="rect">
            <a:avLst/>
          </a:prstGeom>
        </p:spPr>
        <p:txBody>
          <a:bodyPr/>
          <a:lstStyle/>
          <a:p>
            <a:r>
              <a:rPr lang="en-US" dirty="0"/>
              <a:t>Click To Edit Master Title Style</a:t>
            </a:r>
            <a:endParaRPr lang="en-IN" dirty="0"/>
          </a:p>
        </p:txBody>
      </p:sp>
      <p:sp>
        <p:nvSpPr>
          <p:cNvPr id="9" name="Rectangle 8">
            <a:extLst>
              <a:ext uri="{FF2B5EF4-FFF2-40B4-BE49-F238E27FC236}">
                <a16:creationId xmlns:a16="http://schemas.microsoft.com/office/drawing/2014/main" id="{4CC4345F-9941-C073-8FFF-17EF7B0258C6}"/>
              </a:ext>
            </a:extLst>
          </p:cNvPr>
          <p:cNvSpPr/>
          <p:nvPr userDrawn="1"/>
        </p:nvSpPr>
        <p:spPr>
          <a:xfrm flipV="1">
            <a:off x="511036" y="90033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46053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738D-CDF6-F4BC-FF91-475956CF438D}"/>
              </a:ext>
            </a:extLst>
          </p:cNvPr>
          <p:cNvSpPr>
            <a:spLocks noGrp="1"/>
          </p:cNvSpPr>
          <p:nvPr>
            <p:ph type="title" hasCustomPrompt="1"/>
          </p:nvPr>
        </p:nvSpPr>
        <p:spPr>
          <a:xfrm>
            <a:off x="838200" y="823752"/>
            <a:ext cx="10515600" cy="847536"/>
          </a:xfrm>
          <a:prstGeom prst="rect">
            <a:avLst/>
          </a:prstGeom>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293764B-C54B-573E-F5F8-15EF6F99B878}"/>
              </a:ext>
            </a:extLst>
          </p:cNvPr>
          <p:cNvSpPr>
            <a:spLocks noGrp="1"/>
          </p:cNvSpPr>
          <p:nvPr>
            <p:ph idx="1"/>
          </p:nvPr>
        </p:nvSpPr>
        <p:spPr>
          <a:xfrm>
            <a:off x="838200" y="2093979"/>
            <a:ext cx="10515600" cy="3839679"/>
          </a:xfrm>
          <a:prstGeom prst="rect">
            <a:avLst/>
          </a:prstGeom>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a:extLst>
              <a:ext uri="{FF2B5EF4-FFF2-40B4-BE49-F238E27FC236}">
                <a16:creationId xmlns:a16="http://schemas.microsoft.com/office/drawing/2014/main" id="{C95DF5F4-9E44-91E0-CAD7-B2EFAA251F01}"/>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Rectangle 6">
            <a:extLst>
              <a:ext uri="{FF2B5EF4-FFF2-40B4-BE49-F238E27FC236}">
                <a16:creationId xmlns:a16="http://schemas.microsoft.com/office/drawing/2014/main" id="{A9A48148-BB58-895E-0761-BDEACBCDF280}"/>
              </a:ext>
            </a:extLst>
          </p:cNvPr>
          <p:cNvSpPr/>
          <p:nvPr userDrawn="1"/>
        </p:nvSpPr>
        <p:spPr>
          <a:xfrm flipV="1">
            <a:off x="809624" y="986474"/>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62451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2E536-01DD-DFC3-C1A5-CC531DAA6517}"/>
              </a:ext>
            </a:extLst>
          </p:cNvPr>
          <p:cNvSpPr>
            <a:spLocks noGrp="1"/>
          </p:cNvSpPr>
          <p:nvPr>
            <p:ph type="title" hasCustomPrompt="1"/>
          </p:nvPr>
        </p:nvSpPr>
        <p:spPr>
          <a:xfrm>
            <a:off x="831850" y="1709738"/>
            <a:ext cx="10515600" cy="2852737"/>
          </a:xfrm>
          <a:prstGeom prst="rect">
            <a:avLst/>
          </a:prstGeom>
        </p:spPr>
        <p:txBody>
          <a:bodyPr anchor="b"/>
          <a:lstStyle>
            <a:lvl1pPr>
              <a:defRPr sz="48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5286426A-7847-FB87-590F-EF63965A0CA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9E68E0D-97D6-FDE6-6BA6-59545A89CE05}"/>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12" name="Rectangle 11">
            <a:extLst>
              <a:ext uri="{FF2B5EF4-FFF2-40B4-BE49-F238E27FC236}">
                <a16:creationId xmlns:a16="http://schemas.microsoft.com/office/drawing/2014/main" id="{4BB59A32-CB57-20F3-49C8-296B82F3A556}"/>
              </a:ext>
            </a:extLst>
          </p:cNvPr>
          <p:cNvSpPr/>
          <p:nvPr userDrawn="1"/>
        </p:nvSpPr>
        <p:spPr>
          <a:xfrm flipV="1">
            <a:off x="798831" y="3902880"/>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6746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FE8E-0631-24C0-2BB4-F9C2086174D4}"/>
              </a:ext>
            </a:extLst>
          </p:cNvPr>
          <p:cNvSpPr>
            <a:spLocks noGrp="1"/>
          </p:cNvSpPr>
          <p:nvPr>
            <p:ph type="title" hasCustomPrompt="1"/>
          </p:nvPr>
        </p:nvSpPr>
        <p:spPr>
          <a:xfrm>
            <a:off x="866775" y="1006614"/>
            <a:ext cx="10515600" cy="606425"/>
          </a:xfrm>
          <a:prstGeom prst="rect">
            <a:avLst/>
          </a:prstGeom>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BA56C0D-BDBF-F3CC-3B7F-C7E4B13A2EB6}"/>
              </a:ext>
            </a:extLst>
          </p:cNvPr>
          <p:cNvSpPr>
            <a:spLocks noGrp="1"/>
          </p:cNvSpPr>
          <p:nvPr>
            <p:ph sz="half" idx="1"/>
          </p:nvPr>
        </p:nvSpPr>
        <p:spPr>
          <a:xfrm>
            <a:off x="838200" y="1825625"/>
            <a:ext cx="5181600" cy="4351338"/>
          </a:xfrm>
          <a:prstGeom prst="rect">
            <a:avLst/>
          </a:prstGeom>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91CB19D6-1172-901E-56AE-16F02D03E822}"/>
              </a:ext>
            </a:extLst>
          </p:cNvPr>
          <p:cNvSpPr>
            <a:spLocks noGrp="1"/>
          </p:cNvSpPr>
          <p:nvPr>
            <p:ph sz="half" idx="2"/>
          </p:nvPr>
        </p:nvSpPr>
        <p:spPr>
          <a:xfrm>
            <a:off x="6172200" y="1825625"/>
            <a:ext cx="5181600" cy="4351338"/>
          </a:xfrm>
          <a:prstGeom prst="rect">
            <a:avLst/>
          </a:prstGeom>
        </p:spPr>
        <p:txBody>
          <a:bodyPr/>
          <a:lstStyle>
            <a:lvl1pPr>
              <a:defRPr>
                <a:solidFill>
                  <a:schemeClr val="accent3"/>
                </a:solidFill>
              </a:defRPr>
            </a:lvl1pPr>
            <a:lvl3pPr>
              <a:defRPr>
                <a:solidFill>
                  <a:schemeClr val="accent1"/>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lide Number Placeholder 6">
            <a:extLst>
              <a:ext uri="{FF2B5EF4-FFF2-40B4-BE49-F238E27FC236}">
                <a16:creationId xmlns:a16="http://schemas.microsoft.com/office/drawing/2014/main" id="{5AB882B3-7909-A5B3-5DCF-F40146CD6043}"/>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8" name="Rectangle 7">
            <a:extLst>
              <a:ext uri="{FF2B5EF4-FFF2-40B4-BE49-F238E27FC236}">
                <a16:creationId xmlns:a16="http://schemas.microsoft.com/office/drawing/2014/main" id="{28292526-E77A-1EE3-7C86-D6B7F0D8EB30}"/>
              </a:ext>
            </a:extLst>
          </p:cNvPr>
          <p:cNvSpPr/>
          <p:nvPr userDrawn="1"/>
        </p:nvSpPr>
        <p:spPr>
          <a:xfrm flipV="1">
            <a:off x="838199" y="1056048"/>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30524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96E98-E7E7-9337-BFC4-6AB071D29D50}"/>
              </a:ext>
            </a:extLst>
          </p:cNvPr>
          <p:cNvSpPr>
            <a:spLocks noGrp="1"/>
          </p:cNvSpPr>
          <p:nvPr>
            <p:ph type="title" hasCustomPrompt="1"/>
          </p:nvPr>
        </p:nvSpPr>
        <p:spPr>
          <a:xfrm>
            <a:off x="868363" y="829101"/>
            <a:ext cx="10515600" cy="669704"/>
          </a:xfrm>
          <a:prstGeom prst="rect">
            <a:avLst/>
          </a:prstGeom>
        </p:spPr>
        <p:txBody>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59389B4C-32E5-6D02-17F8-AA0BA895EAA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74939AA-7D0B-69A8-9C00-66E2D72D7F3B}"/>
              </a:ext>
            </a:extLst>
          </p:cNvPr>
          <p:cNvSpPr>
            <a:spLocks noGrp="1"/>
          </p:cNvSpPr>
          <p:nvPr>
            <p:ph sz="half" idx="2"/>
          </p:nvPr>
        </p:nvSpPr>
        <p:spPr>
          <a:xfrm>
            <a:off x="839788" y="2505075"/>
            <a:ext cx="5157787" cy="3684588"/>
          </a:xfrm>
          <a:prstGeom prst="rect">
            <a:avLst/>
          </a:prstGeom>
        </p:spPr>
        <p:txBody>
          <a:bodyPr/>
          <a:lstStyle>
            <a:lvl1pPr>
              <a:defRPr>
                <a:solidFill>
                  <a:schemeClr val="tx1"/>
                </a:solidFill>
              </a:defRPr>
            </a:lvl1pPr>
            <a:lvl2pPr>
              <a:defRPr>
                <a:solidFill>
                  <a:schemeClr val="accent1"/>
                </a:solidFill>
              </a:defRPr>
            </a:lvl2pPr>
            <a:lvl3pPr>
              <a:defRPr>
                <a:solidFill>
                  <a:schemeClr val="accent3"/>
                </a:solidFill>
              </a:defRPr>
            </a:lvl3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a:extLst>
              <a:ext uri="{FF2B5EF4-FFF2-40B4-BE49-F238E27FC236}">
                <a16:creationId xmlns:a16="http://schemas.microsoft.com/office/drawing/2014/main" id="{AA79AB45-5A52-79BB-A0AB-D4EC49BB95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7D38A39-EF86-0B04-6453-612251CC2545}"/>
              </a:ext>
            </a:extLst>
          </p:cNvPr>
          <p:cNvSpPr>
            <a:spLocks noGrp="1"/>
          </p:cNvSpPr>
          <p:nvPr>
            <p:ph sz="quarter" idx="4"/>
          </p:nvPr>
        </p:nvSpPr>
        <p:spPr>
          <a:xfrm>
            <a:off x="6172200" y="2505075"/>
            <a:ext cx="5183188" cy="3684588"/>
          </a:xfrm>
          <a:prstGeom prst="rect">
            <a:avLst/>
          </a:prstGeom>
        </p:spPr>
        <p:txBody>
          <a:bodyPr/>
          <a:lstStyle>
            <a:lvl1pPr>
              <a:defRPr>
                <a:solidFill>
                  <a:schemeClr val="tx1"/>
                </a:solidFill>
              </a:defRPr>
            </a:lvl1pPr>
            <a:lvl2pPr>
              <a:defRPr>
                <a:solidFill>
                  <a:schemeClr val="accent1"/>
                </a:solidFill>
              </a:defRPr>
            </a:lvl2pPr>
            <a:lvl3pPr>
              <a:defRPr>
                <a:solidFill>
                  <a:schemeClr val="accent3"/>
                </a:solidFill>
              </a:defRPr>
            </a:lvl3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Slide Number Placeholder 8">
            <a:extLst>
              <a:ext uri="{FF2B5EF4-FFF2-40B4-BE49-F238E27FC236}">
                <a16:creationId xmlns:a16="http://schemas.microsoft.com/office/drawing/2014/main" id="{6B53C3F1-8DED-9A6F-1A45-AE23BA88683A}"/>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10" name="Rectangle 9">
            <a:extLst>
              <a:ext uri="{FF2B5EF4-FFF2-40B4-BE49-F238E27FC236}">
                <a16:creationId xmlns:a16="http://schemas.microsoft.com/office/drawing/2014/main" id="{25A8338E-B837-7C4D-063F-9719FA3FB61C}"/>
              </a:ext>
            </a:extLst>
          </p:cNvPr>
          <p:cNvSpPr/>
          <p:nvPr userDrawn="1"/>
        </p:nvSpPr>
        <p:spPr>
          <a:xfrm flipV="1">
            <a:off x="838199" y="867201"/>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5710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9621-3504-9E21-D648-D9D595CD3EB3}"/>
              </a:ext>
            </a:extLst>
          </p:cNvPr>
          <p:cNvSpPr>
            <a:spLocks noGrp="1"/>
          </p:cNvSpPr>
          <p:nvPr>
            <p:ph type="title" hasCustomPrompt="1"/>
          </p:nvPr>
        </p:nvSpPr>
        <p:spPr>
          <a:xfrm>
            <a:off x="866775" y="977621"/>
            <a:ext cx="10515600" cy="682839"/>
          </a:xfrm>
          <a:prstGeom prst="rect">
            <a:avLst/>
          </a:prstGeom>
        </p:spPr>
        <p:txBody>
          <a:bodyPr/>
          <a:lstStyle/>
          <a:p>
            <a:r>
              <a:rPr lang="en-US" dirty="0"/>
              <a:t>Click To Edit Master Title Style</a:t>
            </a:r>
            <a:endParaRPr lang="en-IN" dirty="0"/>
          </a:p>
        </p:txBody>
      </p:sp>
      <p:sp>
        <p:nvSpPr>
          <p:cNvPr id="5" name="Slide Number Placeholder 4">
            <a:extLst>
              <a:ext uri="{FF2B5EF4-FFF2-40B4-BE49-F238E27FC236}">
                <a16:creationId xmlns:a16="http://schemas.microsoft.com/office/drawing/2014/main" id="{4D8F49CE-5FAC-DBB3-22E2-68F8A91B82BF}"/>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6" name="Rectangle 5">
            <a:extLst>
              <a:ext uri="{FF2B5EF4-FFF2-40B4-BE49-F238E27FC236}">
                <a16:creationId xmlns:a16="http://schemas.microsoft.com/office/drawing/2014/main" id="{2C8F9FC3-5D6F-58A5-3C3C-D9D1E45B0832}"/>
              </a:ext>
            </a:extLst>
          </p:cNvPr>
          <p:cNvSpPr/>
          <p:nvPr userDrawn="1"/>
        </p:nvSpPr>
        <p:spPr>
          <a:xfrm flipV="1">
            <a:off x="838199" y="1046105"/>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67229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821B14-60A0-5F0E-1D32-373D49DB90BD}"/>
              </a:ext>
            </a:extLst>
          </p:cNvPr>
          <p:cNvSpPr>
            <a:spLocks noGrp="1"/>
          </p:cNvSpPr>
          <p:nvPr>
            <p:ph type="sldNum" sz="quarter" idx="12"/>
          </p:nvPr>
        </p:nvSpPr>
        <p:spPr/>
        <p:txBody>
          <a:bodyPr/>
          <a:lstStyle/>
          <a:p>
            <a:fld id="{EFCD437A-9C84-4F71-8F4E-10DCBF62426D}" type="slidenum">
              <a:rPr lang="en-IN" smtClean="0"/>
              <a:t>‹#›</a:t>
            </a:fld>
            <a:endParaRPr lang="en-IN" dirty="0"/>
          </a:p>
        </p:txBody>
      </p:sp>
    </p:spTree>
    <p:extLst>
      <p:ext uri="{BB962C8B-B14F-4D97-AF65-F5344CB8AC3E}">
        <p14:creationId xmlns:p14="http://schemas.microsoft.com/office/powerpoint/2010/main" val="3432660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F50E-CAD0-243E-1655-14DFC51C3FB9}"/>
              </a:ext>
            </a:extLst>
          </p:cNvPr>
          <p:cNvSpPr>
            <a:spLocks noGrp="1"/>
          </p:cNvSpPr>
          <p:nvPr>
            <p:ph type="title" hasCustomPrompt="1"/>
          </p:nvPr>
        </p:nvSpPr>
        <p:spPr>
          <a:xfrm>
            <a:off x="839788" y="974035"/>
            <a:ext cx="3932237" cy="857250"/>
          </a:xfrm>
          <a:prstGeom prst="rect">
            <a:avLst/>
          </a:prstGeom>
        </p:spPr>
        <p:txBody>
          <a:bodyPr anchor="b"/>
          <a:lstStyle>
            <a:lvl1pPr>
              <a:defRPr sz="3200"/>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DBF71D4-9701-43A1-7D1E-11D3243D134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C53EC4-1D22-35B3-B9A6-F23F476CCB9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26E837AA-7F26-8933-F1D2-FB496067C7D4}"/>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9" name="Rectangle 8">
            <a:extLst>
              <a:ext uri="{FF2B5EF4-FFF2-40B4-BE49-F238E27FC236}">
                <a16:creationId xmlns:a16="http://schemas.microsoft.com/office/drawing/2014/main" id="{8D3355ED-82CD-374D-C3E9-4A76A51BD18D}"/>
              </a:ext>
            </a:extLst>
          </p:cNvPr>
          <p:cNvSpPr/>
          <p:nvPr userDrawn="1"/>
        </p:nvSpPr>
        <p:spPr>
          <a:xfrm flipV="1">
            <a:off x="813752" y="1138345"/>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1446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4AFC-5224-87ED-D2D5-07A3D0BA2A05}"/>
              </a:ext>
            </a:extLst>
          </p:cNvPr>
          <p:cNvSpPr>
            <a:spLocks noGrp="1"/>
          </p:cNvSpPr>
          <p:nvPr>
            <p:ph type="title" hasCustomPrompt="1"/>
          </p:nvPr>
        </p:nvSpPr>
        <p:spPr>
          <a:xfrm>
            <a:off x="839788" y="954153"/>
            <a:ext cx="3932237" cy="922020"/>
          </a:xfrm>
          <a:prstGeom prst="rect">
            <a:avLst/>
          </a:prstGeom>
        </p:spPr>
        <p:txBody>
          <a:bodyPr anchor="b"/>
          <a:lstStyle>
            <a:lvl1pPr>
              <a:defRPr sz="3200"/>
            </a:lvl1pPr>
          </a:lstStyle>
          <a:p>
            <a:r>
              <a:rPr lang="en-US" dirty="0"/>
              <a:t>Click To Edit Master Title Style</a:t>
            </a:r>
            <a:endParaRPr lang="en-IN" dirty="0"/>
          </a:p>
        </p:txBody>
      </p:sp>
      <p:sp>
        <p:nvSpPr>
          <p:cNvPr id="3" name="Picture Placeholder 2">
            <a:extLst>
              <a:ext uri="{FF2B5EF4-FFF2-40B4-BE49-F238E27FC236}">
                <a16:creationId xmlns:a16="http://schemas.microsoft.com/office/drawing/2014/main" id="{63F30619-5F13-04CC-677A-A40E3B37805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4D331B4-1EE4-C295-7CB3-1C8FABE77A4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EFA3E8E-97E6-A900-2637-EE781B683A84}"/>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9" name="Rectangle 8">
            <a:extLst>
              <a:ext uri="{FF2B5EF4-FFF2-40B4-BE49-F238E27FC236}">
                <a16:creationId xmlns:a16="http://schemas.microsoft.com/office/drawing/2014/main" id="{26249A07-43FF-E06B-FD25-282C22569579}"/>
              </a:ext>
            </a:extLst>
          </p:cNvPr>
          <p:cNvSpPr/>
          <p:nvPr userDrawn="1"/>
        </p:nvSpPr>
        <p:spPr>
          <a:xfrm flipV="1">
            <a:off x="809624" y="1149637"/>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93091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319-6D52-09C2-FB05-18DE10D1E417}"/>
              </a:ext>
            </a:extLst>
          </p:cNvPr>
          <p:cNvSpPr>
            <a:spLocks noGrp="1"/>
          </p:cNvSpPr>
          <p:nvPr>
            <p:ph type="title" hasCustomPrompt="1"/>
          </p:nvPr>
        </p:nvSpPr>
        <p:spPr>
          <a:xfrm>
            <a:off x="866775" y="976532"/>
            <a:ext cx="10515600" cy="528630"/>
          </a:xfrm>
          <a:prstGeom prst="rect">
            <a:avLst/>
          </a:prstGeom>
        </p:spPr>
        <p:txBody>
          <a:body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35695183-3C2D-2E47-4418-820FE3E4683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A4CCA602-694E-01CB-D4E1-DA65D6053726}"/>
              </a:ext>
            </a:extLst>
          </p:cNvPr>
          <p:cNvSpPr>
            <a:spLocks noGrp="1"/>
          </p:cNvSpPr>
          <p:nvPr>
            <p:ph type="sldNum" sz="quarter" idx="12"/>
          </p:nvPr>
        </p:nvSpPr>
        <p:spPr/>
        <p:txBody>
          <a:bodyPr/>
          <a:lstStyle/>
          <a:p>
            <a:fld id="{EFCD437A-9C84-4F71-8F4E-10DCBF62426D}" type="slidenum">
              <a:rPr lang="en-IN" smtClean="0"/>
              <a:t>‹#›</a:t>
            </a:fld>
            <a:endParaRPr lang="en-IN" dirty="0"/>
          </a:p>
        </p:txBody>
      </p:sp>
      <p:sp>
        <p:nvSpPr>
          <p:cNvPr id="7" name="Rectangle 6">
            <a:extLst>
              <a:ext uri="{FF2B5EF4-FFF2-40B4-BE49-F238E27FC236}">
                <a16:creationId xmlns:a16="http://schemas.microsoft.com/office/drawing/2014/main" id="{88D7BE18-15CC-6440-5E1F-AAE8B8945E3D}"/>
              </a:ext>
            </a:extLst>
          </p:cNvPr>
          <p:cNvSpPr/>
          <p:nvPr userDrawn="1"/>
        </p:nvSpPr>
        <p:spPr>
          <a:xfrm flipV="1">
            <a:off x="838199" y="976532"/>
            <a:ext cx="45719" cy="5286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43533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E6ED0-033D-13A2-E6A0-CA1901C6210D}"/>
              </a:ext>
            </a:extLst>
          </p:cNvPr>
          <p:cNvSpPr>
            <a:spLocks noGrp="1"/>
          </p:cNvSpPr>
          <p:nvPr>
            <p:ph type="title" orient="vert"/>
          </p:nvPr>
        </p:nvSpPr>
        <p:spPr>
          <a:xfrm>
            <a:off x="8724900" y="1083365"/>
            <a:ext cx="2628900" cy="4890052"/>
          </a:xfrm>
          <a:prstGeom prst="rect">
            <a:avLst/>
          </a:prstGeom>
        </p:spPr>
        <p:txBody>
          <a:bodyPr vert="eaVert"/>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BBC733AD-A903-6AF1-70BA-E1DEC362FC96}"/>
              </a:ext>
            </a:extLst>
          </p:cNvPr>
          <p:cNvSpPr>
            <a:spLocks noGrp="1"/>
          </p:cNvSpPr>
          <p:nvPr>
            <p:ph type="body" orient="vert" idx="1"/>
          </p:nvPr>
        </p:nvSpPr>
        <p:spPr>
          <a:xfrm>
            <a:off x="838200" y="1083365"/>
            <a:ext cx="7734300" cy="489005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0FB03D9B-62E3-2724-0155-B6C46C1A49B1}"/>
              </a:ext>
            </a:extLst>
          </p:cNvPr>
          <p:cNvSpPr>
            <a:spLocks noGrp="1"/>
          </p:cNvSpPr>
          <p:nvPr>
            <p:ph type="sldNum" sz="quarter" idx="12"/>
          </p:nvPr>
        </p:nvSpPr>
        <p:spPr/>
        <p:txBody>
          <a:bodyPr/>
          <a:lstStyle/>
          <a:p>
            <a:fld id="{EFCD437A-9C84-4F71-8F4E-10DCBF62426D}" type="slidenum">
              <a:rPr lang="en-IN" smtClean="0"/>
              <a:t>‹#›</a:t>
            </a:fld>
            <a:endParaRPr lang="en-IN" dirty="0"/>
          </a:p>
        </p:txBody>
      </p:sp>
    </p:spTree>
    <p:extLst>
      <p:ext uri="{BB962C8B-B14F-4D97-AF65-F5344CB8AC3E}">
        <p14:creationId xmlns:p14="http://schemas.microsoft.com/office/powerpoint/2010/main" val="483944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67E670-5A2B-EDE5-F460-5B441E07F3B3}"/>
              </a:ext>
            </a:extLst>
          </p:cNvPr>
          <p:cNvSpPr/>
          <p:nvPr userDrawn="1"/>
        </p:nvSpPr>
        <p:spPr>
          <a:xfrm>
            <a:off x="0" y="6311900"/>
            <a:ext cx="12192000" cy="5461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a:extLst>
              <a:ext uri="{FF2B5EF4-FFF2-40B4-BE49-F238E27FC236}">
                <a16:creationId xmlns:a16="http://schemas.microsoft.com/office/drawing/2014/main" id="{A14F9346-121B-01EF-AE2B-4A700C8DCCD3}"/>
              </a:ext>
            </a:extLst>
          </p:cNvPr>
          <p:cNvSpPr>
            <a:spLocks noGrp="1"/>
          </p:cNvSpPr>
          <p:nvPr>
            <p:ph type="title"/>
          </p:nvPr>
        </p:nvSpPr>
        <p:spPr>
          <a:xfrm>
            <a:off x="838200" y="365125"/>
            <a:ext cx="10515600" cy="854075"/>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93E4007C-DE75-EE58-3022-244CD1BFD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a:extLst>
              <a:ext uri="{FF2B5EF4-FFF2-40B4-BE49-F238E27FC236}">
                <a16:creationId xmlns:a16="http://schemas.microsoft.com/office/drawing/2014/main" id="{30DA0422-5A15-2191-B86B-E23A7B03D4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D437A-9C84-4F71-8F4E-10DCBF62426D}" type="slidenum">
              <a:rPr lang="en-IN" smtClean="0"/>
              <a:t>‹#›</a:t>
            </a:fld>
            <a:endParaRPr lang="en-IN" dirty="0"/>
          </a:p>
        </p:txBody>
      </p:sp>
      <p:sp>
        <p:nvSpPr>
          <p:cNvPr id="8" name="Rectangle 7">
            <a:extLst>
              <a:ext uri="{FF2B5EF4-FFF2-40B4-BE49-F238E27FC236}">
                <a16:creationId xmlns:a16="http://schemas.microsoft.com/office/drawing/2014/main" id="{8A2132A4-FD85-0664-F923-56A7CDED0F01}"/>
              </a:ext>
            </a:extLst>
          </p:cNvPr>
          <p:cNvSpPr/>
          <p:nvPr userDrawn="1"/>
        </p:nvSpPr>
        <p:spPr>
          <a:xfrm>
            <a:off x="0" y="6227763"/>
            <a:ext cx="12192000" cy="1047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10">
            <a:extLst>
              <a:ext uri="{FF2B5EF4-FFF2-40B4-BE49-F238E27FC236}">
                <a16:creationId xmlns:a16="http://schemas.microsoft.com/office/drawing/2014/main" id="{055E935C-CCB0-AE59-EBBE-405F91E4C516}"/>
              </a:ext>
            </a:extLst>
          </p:cNvPr>
          <p:cNvSpPr txBox="1"/>
          <p:nvPr userDrawn="1"/>
        </p:nvSpPr>
        <p:spPr>
          <a:xfrm>
            <a:off x="582729" y="6364436"/>
            <a:ext cx="6255759" cy="461665"/>
          </a:xfrm>
          <a:prstGeom prst="rect">
            <a:avLst/>
          </a:prstGeom>
          <a:noFill/>
          <a:effectLst>
            <a:outerShdw blurRad="50800" dist="38100" dir="16200000" rotWithShape="0">
              <a:prstClr val="black">
                <a:alpha val="40000"/>
              </a:prstClr>
            </a:outerShdw>
          </a:effectLst>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High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Far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Fast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Strong</a:t>
            </a:r>
          </a:p>
        </p:txBody>
      </p:sp>
    </p:spTree>
    <p:extLst>
      <p:ext uri="{BB962C8B-B14F-4D97-AF65-F5344CB8AC3E}">
        <p14:creationId xmlns:p14="http://schemas.microsoft.com/office/powerpoint/2010/main" val="397073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67E670-5A2B-EDE5-F460-5B441E07F3B3}"/>
              </a:ext>
            </a:extLst>
          </p:cNvPr>
          <p:cNvSpPr/>
          <p:nvPr userDrawn="1"/>
        </p:nvSpPr>
        <p:spPr>
          <a:xfrm>
            <a:off x="0" y="6311900"/>
            <a:ext cx="12192000" cy="5461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5"/>
              </a:solidFill>
            </a:endParaRPr>
          </a:p>
        </p:txBody>
      </p:sp>
      <p:sp>
        <p:nvSpPr>
          <p:cNvPr id="6" name="Slide Number Placeholder 5">
            <a:extLst>
              <a:ext uri="{FF2B5EF4-FFF2-40B4-BE49-F238E27FC236}">
                <a16:creationId xmlns:a16="http://schemas.microsoft.com/office/drawing/2014/main" id="{30DA0422-5A15-2191-B86B-E23A7B03D4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D437A-9C84-4F71-8F4E-10DCBF62426D}" type="slidenum">
              <a:rPr lang="en-IN" smtClean="0"/>
              <a:t>‹#›</a:t>
            </a:fld>
            <a:endParaRPr lang="en-IN" dirty="0"/>
          </a:p>
        </p:txBody>
      </p:sp>
      <p:sp>
        <p:nvSpPr>
          <p:cNvPr id="8" name="Rectangle 7">
            <a:extLst>
              <a:ext uri="{FF2B5EF4-FFF2-40B4-BE49-F238E27FC236}">
                <a16:creationId xmlns:a16="http://schemas.microsoft.com/office/drawing/2014/main" id="{8A2132A4-FD85-0664-F923-56A7CDED0F01}"/>
              </a:ext>
            </a:extLst>
          </p:cNvPr>
          <p:cNvSpPr/>
          <p:nvPr userDrawn="1"/>
        </p:nvSpPr>
        <p:spPr>
          <a:xfrm>
            <a:off x="0" y="6227763"/>
            <a:ext cx="12192000" cy="1047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itle Placeholder 1">
            <a:extLst>
              <a:ext uri="{FF2B5EF4-FFF2-40B4-BE49-F238E27FC236}">
                <a16:creationId xmlns:a16="http://schemas.microsoft.com/office/drawing/2014/main" id="{FF5D7CE1-53FA-07C2-2E3F-7CBC33D4063D}"/>
              </a:ext>
            </a:extLst>
          </p:cNvPr>
          <p:cNvSpPr txBox="1">
            <a:spLocks/>
          </p:cNvSpPr>
          <p:nvPr userDrawn="1"/>
        </p:nvSpPr>
        <p:spPr>
          <a:xfrm>
            <a:off x="387626" y="228658"/>
            <a:ext cx="3826565" cy="491958"/>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a:lstStyle>
          <a:p>
            <a:r>
              <a:rPr lang="en-US" dirty="0">
                <a:solidFill>
                  <a:schemeClr val="tx2"/>
                </a:solidFill>
              </a:rPr>
              <a:t>School of Ai &amp; Future Technologies</a:t>
            </a:r>
            <a:endParaRPr lang="en-IN" dirty="0">
              <a:solidFill>
                <a:schemeClr val="tx2"/>
              </a:solidFill>
            </a:endParaRPr>
          </a:p>
        </p:txBody>
      </p:sp>
      <p:pic>
        <p:nvPicPr>
          <p:cNvPr id="5" name="Picture 4">
            <a:extLst>
              <a:ext uri="{FF2B5EF4-FFF2-40B4-BE49-F238E27FC236}">
                <a16:creationId xmlns:a16="http://schemas.microsoft.com/office/drawing/2014/main" id="{E19CD8E0-4FB2-B714-B32A-F98B0722E74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968947" y="273355"/>
            <a:ext cx="2002155" cy="491958"/>
          </a:xfrm>
          <a:prstGeom prst="rect">
            <a:avLst/>
          </a:prstGeom>
        </p:spPr>
      </p:pic>
      <p:sp>
        <p:nvSpPr>
          <p:cNvPr id="3" name="TextBox 10">
            <a:extLst>
              <a:ext uri="{FF2B5EF4-FFF2-40B4-BE49-F238E27FC236}">
                <a16:creationId xmlns:a16="http://schemas.microsoft.com/office/drawing/2014/main" id="{F9C8D24E-F821-5D23-798F-13B5A92F8246}"/>
              </a:ext>
            </a:extLst>
          </p:cNvPr>
          <p:cNvSpPr txBox="1"/>
          <p:nvPr userDrawn="1"/>
        </p:nvSpPr>
        <p:spPr>
          <a:xfrm>
            <a:off x="387626" y="6364436"/>
            <a:ext cx="6255759" cy="461665"/>
          </a:xfrm>
          <a:prstGeom prst="rect">
            <a:avLst/>
          </a:prstGeom>
          <a:noFill/>
          <a:effectLst>
            <a:outerShdw blurRad="50800" dist="38100" dir="16200000" rotWithShape="0">
              <a:prstClr val="black">
                <a:alpha val="40000"/>
              </a:prstClr>
            </a:outerShdw>
          </a:effectLst>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High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Far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Fast  </a:t>
            </a:r>
            <a:r>
              <a:rPr lang="en-US" sz="2400" b="1" dirty="0">
                <a:solidFill>
                  <a:schemeClr val="bg1"/>
                </a:solidFill>
                <a:effectLst>
                  <a:glow rad="139700">
                    <a:schemeClr val="accent1">
                      <a:satMod val="175000"/>
                      <a:alpha val="40000"/>
                    </a:schemeClr>
                  </a:glow>
                </a:effectLst>
                <a:latin typeface="Tw Cen MT" panose="020B0602020104020603" pitchFamily="34" charset="0"/>
              </a:rPr>
              <a:t>#Soar</a:t>
            </a:r>
            <a:r>
              <a:rPr lang="en-US" sz="2400" b="1" dirty="0">
                <a:solidFill>
                  <a:schemeClr val="bg1"/>
                </a:solidFill>
                <a:effectLst>
                  <a:glow rad="139700">
                    <a:schemeClr val="accent6">
                      <a:satMod val="175000"/>
                      <a:alpha val="40000"/>
                    </a:schemeClr>
                  </a:glow>
                </a:effectLst>
                <a:latin typeface="Tw Cen MT" panose="020B0602020104020603" pitchFamily="34" charset="0"/>
              </a:rPr>
              <a:t>Strong</a:t>
            </a:r>
          </a:p>
        </p:txBody>
      </p:sp>
    </p:spTree>
    <p:extLst>
      <p:ext uri="{BB962C8B-B14F-4D97-AF65-F5344CB8AC3E}">
        <p14:creationId xmlns:p14="http://schemas.microsoft.com/office/powerpoint/2010/main" val="301524389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26.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530352" y="1517904"/>
            <a:ext cx="8686800" cy="457200"/>
          </a:xfrm>
        </p:spPr>
        <p:txBody>
          <a:bodyPr/>
          <a:lstStyle/>
          <a:p>
            <a:pPr marL="0" indent="0" algn="l"/>
            <a:r>
              <a:t>Design and Evaluation for Efficient Image Classification</a:t>
            </a:r>
          </a:p>
        </p:txBody>
      </p:sp>
      <p:sp>
        <p:nvSpPr>
          <p:cNvPr id="3" name="Title 2"/>
          <p:cNvSpPr>
            <a:spLocks noGrp="1"/>
          </p:cNvSpPr>
          <p:nvPr>
            <p:ph type="title"/>
          </p:nvPr>
        </p:nvSpPr>
        <p:spPr>
          <a:xfrm>
            <a:off x="530352" y="886968"/>
            <a:ext cx="10515600" cy="612648"/>
          </a:xfrm>
        </p:spPr>
        <p:txBody>
          <a:bodyPr/>
          <a:lstStyle/>
          <a:p>
            <a:r>
              <a:t>Think-or-Stop: An Adaptive Early-Exit CNN</a:t>
            </a:r>
          </a:p>
        </p:txBody>
      </p:sp>
      <p:sp>
        <p:nvSpPr>
          <p:cNvPr id="4" name="Slide Number Placeholder 3"/>
          <p:cNvSpPr>
            <a:spLocks noGrp="1"/>
          </p:cNvSpPr>
          <p:nvPr>
            <p:ph type="sldNum" sz="quarter" idx="12"/>
          </p:nvPr>
        </p:nvSpPr>
        <p:spPr/>
        <p:txBody>
          <a:bodyPr/>
          <a:lstStyle/>
          <a:p>
            <a:fld id="{B6F15528-21DE-4FAA-801E-634DDDAF4B2B}" type="slidenum">
              <a:rPr lang="en-US"/>
              <a:t>1</a:t>
            </a:fld>
            <a:endParaRPr lang="en-US"/>
          </a:p>
        </p:txBody>
      </p:sp>
      <p:sp>
        <p:nvSpPr>
          <p:cNvPr id="7" name="TextBox 6"/>
          <p:cNvSpPr txBox="1"/>
          <p:nvPr/>
        </p:nvSpPr>
        <p:spPr>
          <a:xfrm>
            <a:off x="541258" y="2468880"/>
            <a:ext cx="3657600" cy="228600"/>
          </a:xfrm>
          <a:prstGeom prst="rect">
            <a:avLst/>
          </a:prstGeom>
          <a:noFill/>
        </p:spPr>
        <p:txBody>
          <a:bodyPr wrap="square" lIns="36576" tIns="18288" rIns="36576" bIns="18288" anchor="t">
            <a:spAutoFit/>
          </a:bodyPr>
          <a:lstStyle/>
          <a:p>
            <a:pPr algn="l">
              <a:spcAft>
                <a:spcPts val="200"/>
              </a:spcAft>
            </a:pPr>
            <a:r>
              <a:rPr sz="1000" b="1" i="0" dirty="0">
                <a:solidFill>
                  <a:srgbClr val="5B6676"/>
                </a:solidFill>
              </a:rPr>
              <a:t>SUBJECT</a:t>
            </a:r>
          </a:p>
        </p:txBody>
      </p:sp>
      <p:sp>
        <p:nvSpPr>
          <p:cNvPr id="8" name="TextBox 7"/>
          <p:cNvSpPr txBox="1"/>
          <p:nvPr/>
        </p:nvSpPr>
        <p:spPr>
          <a:xfrm>
            <a:off x="541257" y="2724912"/>
            <a:ext cx="3749039" cy="365760"/>
          </a:xfrm>
          <a:prstGeom prst="rect">
            <a:avLst/>
          </a:prstGeom>
          <a:noFill/>
        </p:spPr>
        <p:txBody>
          <a:bodyPr wrap="square" lIns="36576" tIns="18288" rIns="36576" bIns="18288" anchor="t">
            <a:spAutoFit/>
          </a:bodyPr>
          <a:lstStyle/>
          <a:p>
            <a:pPr algn="l">
              <a:spcAft>
                <a:spcPts val="200"/>
              </a:spcAft>
            </a:pPr>
            <a:r>
              <a:rPr sz="1400" b="1" i="0">
                <a:solidFill>
                  <a:srgbClr val="1A1A1A"/>
                </a:solidFill>
              </a:rPr>
              <a:t>Deep Learning – Mini Project</a:t>
            </a:r>
          </a:p>
        </p:txBody>
      </p:sp>
      <p:sp>
        <p:nvSpPr>
          <p:cNvPr id="13" name="TextBox 12"/>
          <p:cNvSpPr txBox="1"/>
          <p:nvPr/>
        </p:nvSpPr>
        <p:spPr>
          <a:xfrm>
            <a:off x="585216" y="3931920"/>
            <a:ext cx="3657600" cy="228600"/>
          </a:xfrm>
          <a:prstGeom prst="rect">
            <a:avLst/>
          </a:prstGeom>
          <a:noFill/>
        </p:spPr>
        <p:txBody>
          <a:bodyPr wrap="square" lIns="36576" tIns="18288" rIns="36576" bIns="18288" anchor="t">
            <a:spAutoFit/>
          </a:bodyPr>
          <a:lstStyle/>
          <a:p>
            <a:pPr algn="l">
              <a:spcAft>
                <a:spcPts val="200"/>
              </a:spcAft>
            </a:pPr>
            <a:r>
              <a:rPr sz="1000" b="1" i="0">
                <a:solidFill>
                  <a:srgbClr val="5B6676"/>
                </a:solidFill>
              </a:rPr>
              <a:t>UNIVERSITY</a:t>
            </a:r>
          </a:p>
        </p:txBody>
      </p:sp>
      <p:sp>
        <p:nvSpPr>
          <p:cNvPr id="14" name="TextBox 13"/>
          <p:cNvSpPr txBox="1"/>
          <p:nvPr/>
        </p:nvSpPr>
        <p:spPr>
          <a:xfrm>
            <a:off x="585216" y="4187952"/>
            <a:ext cx="3749039" cy="252377"/>
          </a:xfrm>
          <a:prstGeom prst="rect">
            <a:avLst/>
          </a:prstGeom>
          <a:noFill/>
        </p:spPr>
        <p:txBody>
          <a:bodyPr wrap="square" lIns="36576" tIns="18288" rIns="36576" bIns="18288" anchor="t">
            <a:spAutoFit/>
          </a:bodyPr>
          <a:lstStyle/>
          <a:p>
            <a:pPr algn="l">
              <a:spcAft>
                <a:spcPts val="200"/>
              </a:spcAft>
            </a:pPr>
            <a:r>
              <a:rPr sz="1400" b="1" i="0" dirty="0">
                <a:solidFill>
                  <a:srgbClr val="1A1A1A"/>
                </a:solidFill>
              </a:rPr>
              <a:t>Universal A</a:t>
            </a:r>
            <a:r>
              <a:rPr lang="en-US" sz="1400" b="1" i="0" dirty="0">
                <a:solidFill>
                  <a:srgbClr val="1A1A1A"/>
                </a:solidFill>
              </a:rPr>
              <a:t>i</a:t>
            </a:r>
            <a:r>
              <a:rPr sz="1400" b="1" i="0" dirty="0">
                <a:solidFill>
                  <a:srgbClr val="1A1A1A"/>
                </a:solidFill>
              </a:rPr>
              <a:t> University, Mumbai</a:t>
            </a:r>
          </a:p>
        </p:txBody>
      </p:sp>
      <p:sp>
        <p:nvSpPr>
          <p:cNvPr id="15" name="TextBox 14"/>
          <p:cNvSpPr txBox="1"/>
          <p:nvPr/>
        </p:nvSpPr>
        <p:spPr>
          <a:xfrm>
            <a:off x="4517136" y="3931920"/>
            <a:ext cx="3657600" cy="228600"/>
          </a:xfrm>
          <a:prstGeom prst="rect">
            <a:avLst/>
          </a:prstGeom>
          <a:noFill/>
        </p:spPr>
        <p:txBody>
          <a:bodyPr wrap="square" lIns="36576" tIns="18288" rIns="36576" bIns="18288" anchor="t">
            <a:spAutoFit/>
          </a:bodyPr>
          <a:lstStyle/>
          <a:p>
            <a:pPr algn="l">
              <a:spcAft>
                <a:spcPts val="200"/>
              </a:spcAft>
            </a:pPr>
            <a:r>
              <a:rPr sz="1000" b="1" i="0">
                <a:solidFill>
                  <a:srgbClr val="5B6676"/>
                </a:solidFill>
              </a:rPr>
              <a:t>TOOLS</a:t>
            </a:r>
          </a:p>
        </p:txBody>
      </p:sp>
      <p:sp>
        <p:nvSpPr>
          <p:cNvPr id="16" name="TextBox 15"/>
          <p:cNvSpPr txBox="1"/>
          <p:nvPr/>
        </p:nvSpPr>
        <p:spPr>
          <a:xfrm>
            <a:off x="4517136" y="4187952"/>
            <a:ext cx="3749039" cy="365760"/>
          </a:xfrm>
          <a:prstGeom prst="rect">
            <a:avLst/>
          </a:prstGeom>
          <a:noFill/>
        </p:spPr>
        <p:txBody>
          <a:bodyPr wrap="square" lIns="36576" tIns="18288" rIns="36576" bIns="18288" anchor="t">
            <a:spAutoFit/>
          </a:bodyPr>
          <a:lstStyle/>
          <a:p>
            <a:pPr algn="l">
              <a:spcAft>
                <a:spcPts val="200"/>
              </a:spcAft>
            </a:pPr>
            <a:r>
              <a:rPr sz="1400" b="1" i="0" dirty="0">
                <a:solidFill>
                  <a:srgbClr val="1A1A1A"/>
                </a:solidFill>
              </a:rPr>
              <a:t>Python · </a:t>
            </a:r>
            <a:r>
              <a:rPr sz="1400" b="1" i="0" dirty="0" err="1">
                <a:solidFill>
                  <a:srgbClr val="1A1A1A"/>
                </a:solidFill>
              </a:rPr>
              <a:t>PyTorch</a:t>
            </a:r>
            <a:r>
              <a:rPr sz="1400" b="1" i="0" dirty="0">
                <a:solidFill>
                  <a:srgbClr val="1A1A1A"/>
                </a:solidFill>
              </a:rPr>
              <a:t> · CUDA (RTX 5060)</a:t>
            </a:r>
          </a:p>
        </p:txBody>
      </p:sp>
      <p:pic>
        <p:nvPicPr>
          <p:cNvPr id="17" name="Picture 16" descr="hero3d.png"/>
          <p:cNvPicPr>
            <a:picLocks noChangeAspect="1"/>
          </p:cNvPicPr>
          <p:nvPr/>
        </p:nvPicPr>
        <p:blipFill>
          <a:blip r:embed="rId3"/>
          <a:stretch>
            <a:fillRect/>
          </a:stretch>
        </p:blipFill>
        <p:spPr>
          <a:xfrm>
            <a:off x="8275320" y="2011680"/>
            <a:ext cx="3566160" cy="2534981"/>
          </a:xfrm>
          <a:prstGeom prst="rect">
            <a:avLst/>
          </a:prstGeom>
        </p:spPr>
      </p:pic>
      <p:sp>
        <p:nvSpPr>
          <p:cNvPr id="18" name="TextBox 17"/>
          <p:cNvSpPr txBox="1"/>
          <p:nvPr/>
        </p:nvSpPr>
        <p:spPr>
          <a:xfrm>
            <a:off x="585216" y="4983480"/>
            <a:ext cx="5486400" cy="228600"/>
          </a:xfrm>
          <a:prstGeom prst="rect">
            <a:avLst/>
          </a:prstGeom>
          <a:noFill/>
        </p:spPr>
        <p:txBody>
          <a:bodyPr wrap="square" lIns="36576" tIns="18288" rIns="36576" bIns="18288" anchor="t">
            <a:spAutoFit/>
          </a:bodyPr>
          <a:lstStyle/>
          <a:p>
            <a:pPr algn="l">
              <a:spcAft>
                <a:spcPts val="200"/>
              </a:spcAft>
            </a:pPr>
            <a:r>
              <a:rPr sz="1000" b="1" i="0">
                <a:solidFill>
                  <a:srgbClr val="5B6676"/>
                </a:solidFill>
              </a:rPr>
              <a:t>THE STORY OF THIS TALK</a:t>
            </a:r>
          </a:p>
        </p:txBody>
      </p:sp>
      <p:sp>
        <p:nvSpPr>
          <p:cNvPr id="19" name="Rounded Rectangle 18"/>
          <p:cNvSpPr/>
          <p:nvPr/>
        </p:nvSpPr>
        <p:spPr>
          <a:xfrm>
            <a:off x="585216" y="5303520"/>
            <a:ext cx="1371600" cy="530352"/>
          </a:xfrm>
          <a:prstGeom prst="roundRect">
            <a:avLst>
              <a:gd name="adj" fmla="val 50000"/>
            </a:avLst>
          </a:prstGeom>
          <a:solidFill>
            <a:srgbClr val="FFFFFF"/>
          </a:solidFill>
          <a:ln w="19050">
            <a:solidFill>
              <a:srgbClr val="2A55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85216"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2A55A1"/>
                </a:solidFill>
              </a:rPr>
              <a:t>Problem</a:t>
            </a:r>
          </a:p>
        </p:txBody>
      </p:sp>
      <p:cxnSp>
        <p:nvCxnSpPr>
          <p:cNvPr id="21" name="Connector 20"/>
          <p:cNvCxnSpPr/>
          <p:nvPr/>
        </p:nvCxnSpPr>
        <p:spPr>
          <a:xfrm>
            <a:off x="1975104" y="5568696"/>
            <a:ext cx="18288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176272" y="5303520"/>
            <a:ext cx="1371600" cy="530352"/>
          </a:xfrm>
          <a:prstGeom prst="roundRect">
            <a:avLst>
              <a:gd name="adj" fmla="val 50000"/>
            </a:avLst>
          </a:prstGeom>
          <a:solidFill>
            <a:srgbClr val="FFFFFF"/>
          </a:solidFill>
          <a:ln w="19050">
            <a:solidFill>
              <a:srgbClr val="2A55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176272"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2A55A1"/>
                </a:solidFill>
              </a:rPr>
              <a:t>CNN basics</a:t>
            </a:r>
          </a:p>
        </p:txBody>
      </p:sp>
      <p:cxnSp>
        <p:nvCxnSpPr>
          <p:cNvPr id="24" name="Connector 23"/>
          <p:cNvCxnSpPr/>
          <p:nvPr/>
        </p:nvCxnSpPr>
        <p:spPr>
          <a:xfrm>
            <a:off x="3566160" y="5568696"/>
            <a:ext cx="182879"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767328" y="5303520"/>
            <a:ext cx="1371600" cy="530352"/>
          </a:xfrm>
          <a:prstGeom prst="roundRect">
            <a:avLst>
              <a:gd name="adj" fmla="val 50000"/>
            </a:avLst>
          </a:prstGeom>
          <a:solidFill>
            <a:srgbClr val="FFFFFF"/>
          </a:solidFill>
          <a:ln w="19050">
            <a:solidFill>
              <a:srgbClr val="2A55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767328"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2A55A1"/>
                </a:solidFill>
              </a:rPr>
              <a:t>Data</a:t>
            </a:r>
          </a:p>
        </p:txBody>
      </p:sp>
      <p:cxnSp>
        <p:nvCxnSpPr>
          <p:cNvPr id="27" name="Connector 26"/>
          <p:cNvCxnSpPr/>
          <p:nvPr/>
        </p:nvCxnSpPr>
        <p:spPr>
          <a:xfrm>
            <a:off x="5157216" y="5568696"/>
            <a:ext cx="18288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58384" y="5303520"/>
            <a:ext cx="1371600" cy="530352"/>
          </a:xfrm>
          <a:prstGeom prst="roundRect">
            <a:avLst>
              <a:gd name="adj" fmla="val 50000"/>
            </a:avLst>
          </a:prstGeom>
          <a:solidFill>
            <a:srgbClr val="FFFFFF"/>
          </a:solidFill>
          <a:ln w="19050">
            <a:solidFill>
              <a:srgbClr val="2A55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358384"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2A55A1"/>
                </a:solidFill>
              </a:rPr>
              <a:t>Architecture</a:t>
            </a:r>
          </a:p>
        </p:txBody>
      </p:sp>
      <p:cxnSp>
        <p:nvCxnSpPr>
          <p:cNvPr id="30" name="Connector 29"/>
          <p:cNvCxnSpPr/>
          <p:nvPr/>
        </p:nvCxnSpPr>
        <p:spPr>
          <a:xfrm>
            <a:off x="6748272" y="5568696"/>
            <a:ext cx="18288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949440" y="5303520"/>
            <a:ext cx="1371600" cy="530352"/>
          </a:xfrm>
          <a:prstGeom prst="roundRect">
            <a:avLst>
              <a:gd name="adj" fmla="val 50000"/>
            </a:avLst>
          </a:prstGeom>
          <a:solidFill>
            <a:srgbClr val="FFFFFF"/>
          </a:solidFill>
          <a:ln w="19050">
            <a:solidFill>
              <a:srgbClr val="2A55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949440"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2A55A1"/>
                </a:solidFill>
              </a:rPr>
              <a:t>Training</a:t>
            </a:r>
          </a:p>
        </p:txBody>
      </p:sp>
      <p:cxnSp>
        <p:nvCxnSpPr>
          <p:cNvPr id="33" name="Connector 32"/>
          <p:cNvCxnSpPr/>
          <p:nvPr/>
        </p:nvCxnSpPr>
        <p:spPr>
          <a:xfrm>
            <a:off x="8339328" y="5568696"/>
            <a:ext cx="18288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540496" y="5303520"/>
            <a:ext cx="1371600" cy="530352"/>
          </a:xfrm>
          <a:prstGeom prst="roundRect">
            <a:avLst>
              <a:gd name="adj" fmla="val 50000"/>
            </a:avLst>
          </a:prstGeom>
          <a:solidFill>
            <a:srgbClr val="518113"/>
          </a:solidFill>
          <a:ln w="19050">
            <a:solidFill>
              <a:srgbClr val="51811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540496"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FFFFFF"/>
                </a:solidFill>
              </a:rPr>
              <a:t>Think or Stop</a:t>
            </a:r>
          </a:p>
        </p:txBody>
      </p:sp>
      <p:cxnSp>
        <p:nvCxnSpPr>
          <p:cNvPr id="36" name="Connector 35"/>
          <p:cNvCxnSpPr/>
          <p:nvPr/>
        </p:nvCxnSpPr>
        <p:spPr>
          <a:xfrm>
            <a:off x="9930384" y="5568696"/>
            <a:ext cx="18288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131552" y="5303520"/>
            <a:ext cx="1371600" cy="530352"/>
          </a:xfrm>
          <a:prstGeom prst="roundRect">
            <a:avLst>
              <a:gd name="adj" fmla="val 50000"/>
            </a:avLst>
          </a:prstGeom>
          <a:solidFill>
            <a:srgbClr val="518113"/>
          </a:solidFill>
          <a:ln w="19050">
            <a:solidFill>
              <a:srgbClr val="51811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0131552" y="5303520"/>
            <a:ext cx="1371600" cy="530352"/>
          </a:xfrm>
          <a:prstGeom prst="rect">
            <a:avLst/>
          </a:prstGeom>
          <a:noFill/>
        </p:spPr>
        <p:txBody>
          <a:bodyPr wrap="square" lIns="36576" tIns="18288" rIns="36576" bIns="18288" anchor="ctr">
            <a:spAutoFit/>
          </a:bodyPr>
          <a:lstStyle/>
          <a:p>
            <a:pPr algn="ctr">
              <a:spcAft>
                <a:spcPts val="200"/>
              </a:spcAft>
            </a:pPr>
            <a:r>
              <a:rPr sz="1200" b="1" i="0">
                <a:solidFill>
                  <a:srgbClr val="FFFFFF"/>
                </a:solidFill>
              </a:rPr>
              <a:t>Results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Think-or-Stop? The Problem</a:t>
            </a:r>
          </a:p>
        </p:txBody>
      </p:sp>
      <p:sp>
        <p:nvSpPr>
          <p:cNvPr id="3" name="Slide Number Placeholder 2"/>
          <p:cNvSpPr>
            <a:spLocks noGrp="1"/>
          </p:cNvSpPr>
          <p:nvPr>
            <p:ph type="sldNum" sz="quarter" idx="12"/>
          </p:nvPr>
        </p:nvSpPr>
        <p:spPr/>
        <p:txBody>
          <a:bodyPr/>
          <a:lstStyle/>
          <a:p>
            <a:fld id="{B6F15528-21DE-4FAA-801E-634DDDAF4B2B}" type="slidenum">
              <a:rPr lang="en-US"/>
              <a:t>2</a:t>
            </a:fld>
            <a:endParaRPr lang="en-US"/>
          </a:p>
        </p:txBody>
      </p:sp>
      <p:sp>
        <p:nvSpPr>
          <p:cNvPr id="4" name="Rounded Rectangle 3"/>
          <p:cNvSpPr/>
          <p:nvPr/>
        </p:nvSpPr>
        <p:spPr>
          <a:xfrm>
            <a:off x="841248" y="1325880"/>
            <a:ext cx="10515600" cy="566928"/>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51560" y="1325880"/>
            <a:ext cx="10149840" cy="566928"/>
          </a:xfrm>
          <a:prstGeom prst="rect">
            <a:avLst/>
          </a:prstGeom>
          <a:noFill/>
        </p:spPr>
        <p:txBody>
          <a:bodyPr wrap="square" lIns="36576" tIns="18288" rIns="36576" bIns="18288" anchor="ctr">
            <a:spAutoFit/>
          </a:bodyPr>
          <a:lstStyle/>
          <a:p>
            <a:pPr algn="l">
              <a:spcAft>
                <a:spcPts val="200"/>
              </a:spcAft>
            </a:pPr>
            <a:r>
              <a:rPr sz="1500" b="0" i="0">
                <a:solidFill>
                  <a:srgbClr val="518113"/>
                </a:solidFill>
              </a:rPr>
              <a:t>A normal CNN spends the </a:t>
            </a:r>
            <a:r>
              <a:rPr sz="1500" b="1" i="0">
                <a:solidFill>
                  <a:srgbClr val="518113"/>
                </a:solidFill>
              </a:rPr>
              <a:t>same effort on every image</a:t>
            </a:r>
            <a:r>
              <a:rPr sz="1500" b="0" i="0">
                <a:solidFill>
                  <a:srgbClr val="518113"/>
                </a:solidFill>
              </a:rPr>
              <a:t> - even when the answer is obvious after a few layers.</a:t>
            </a:r>
          </a:p>
        </p:txBody>
      </p:sp>
      <p:sp>
        <p:nvSpPr>
          <p:cNvPr id="6" name="Rounded Rectangle 5"/>
          <p:cNvSpPr/>
          <p:nvPr/>
        </p:nvSpPr>
        <p:spPr>
          <a:xfrm>
            <a:off x="841248" y="2103120"/>
            <a:ext cx="5257800" cy="1691640"/>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cifar_ship.png"/>
          <p:cNvPicPr>
            <a:picLocks noChangeAspect="1"/>
          </p:cNvPicPr>
          <p:nvPr/>
        </p:nvPicPr>
        <p:blipFill>
          <a:blip r:embed="rId3"/>
          <a:stretch>
            <a:fillRect/>
          </a:stretch>
        </p:blipFill>
        <p:spPr>
          <a:xfrm>
            <a:off x="1005840" y="2240279"/>
            <a:ext cx="1417320" cy="1417320"/>
          </a:xfrm>
          <a:prstGeom prst="rect">
            <a:avLst/>
          </a:prstGeom>
          <a:ln w="12700">
            <a:solidFill>
              <a:srgbClr val="B9D68E"/>
            </a:solidFill>
          </a:ln>
        </p:spPr>
      </p:pic>
      <p:sp>
        <p:nvSpPr>
          <p:cNvPr id="8" name="Rounded Rectangle 7"/>
          <p:cNvSpPr/>
          <p:nvPr/>
        </p:nvSpPr>
        <p:spPr>
          <a:xfrm>
            <a:off x="2697480" y="2304288"/>
            <a:ext cx="777240" cy="292608"/>
          </a:xfrm>
          <a:prstGeom prst="roundRect">
            <a:avLst>
              <a:gd name="adj" fmla="val 50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697480" y="2304288"/>
            <a:ext cx="777240" cy="292608"/>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EASY</a:t>
            </a:r>
          </a:p>
        </p:txBody>
      </p:sp>
      <p:sp>
        <p:nvSpPr>
          <p:cNvPr id="10" name="TextBox 9"/>
          <p:cNvSpPr txBox="1"/>
          <p:nvPr/>
        </p:nvSpPr>
        <p:spPr>
          <a:xfrm>
            <a:off x="2697480" y="2670048"/>
            <a:ext cx="3291840" cy="320040"/>
          </a:xfrm>
          <a:prstGeom prst="rect">
            <a:avLst/>
          </a:prstGeom>
          <a:noFill/>
        </p:spPr>
        <p:txBody>
          <a:bodyPr wrap="square" lIns="36576" tIns="18288" rIns="36576" bIns="18288" anchor="t">
            <a:spAutoFit/>
          </a:bodyPr>
          <a:lstStyle/>
          <a:p>
            <a:pPr algn="l">
              <a:spcAft>
                <a:spcPts val="200"/>
              </a:spcAft>
            </a:pPr>
            <a:r>
              <a:rPr sz="1400" b="1" i="0">
                <a:solidFill>
                  <a:srgbClr val="1A1A1A"/>
                </a:solidFill>
              </a:rPr>
              <a:t>Clear ship on blue water</a:t>
            </a:r>
          </a:p>
        </p:txBody>
      </p:sp>
      <p:sp>
        <p:nvSpPr>
          <p:cNvPr id="11" name="TextBox 10"/>
          <p:cNvSpPr txBox="1"/>
          <p:nvPr/>
        </p:nvSpPr>
        <p:spPr>
          <a:xfrm>
            <a:off x="2697480" y="2999232"/>
            <a:ext cx="3291840" cy="822960"/>
          </a:xfrm>
          <a:prstGeom prst="rect">
            <a:avLst/>
          </a:prstGeom>
          <a:noFill/>
        </p:spPr>
        <p:txBody>
          <a:bodyPr wrap="square" lIns="36576" tIns="18288" rIns="36576" bIns="18288" anchor="t">
            <a:spAutoFit/>
          </a:bodyPr>
          <a:lstStyle/>
          <a:p>
            <a:pPr algn="l">
              <a:spcAft>
                <a:spcPts val="200"/>
              </a:spcAft>
            </a:pPr>
            <a:r>
              <a:rPr sz="1200" b="0" i="0">
                <a:solidFill>
                  <a:srgbClr val="5B6676"/>
                </a:solidFill>
              </a:rPr>
              <a:t>Exit 1 is already 94% sure → STOP after Stage 1. Only ~26% of the network's work is needed.</a:t>
            </a:r>
          </a:p>
        </p:txBody>
      </p:sp>
      <p:sp>
        <p:nvSpPr>
          <p:cNvPr id="12" name="Rounded Rectangle 11"/>
          <p:cNvSpPr/>
          <p:nvPr/>
        </p:nvSpPr>
        <p:spPr>
          <a:xfrm>
            <a:off x="841248" y="3931920"/>
            <a:ext cx="5257800" cy="169164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cifar_cat.png"/>
          <p:cNvPicPr>
            <a:picLocks noChangeAspect="1"/>
          </p:cNvPicPr>
          <p:nvPr/>
        </p:nvPicPr>
        <p:blipFill>
          <a:blip r:embed="rId4"/>
          <a:stretch>
            <a:fillRect/>
          </a:stretch>
        </p:blipFill>
        <p:spPr>
          <a:xfrm>
            <a:off x="1005840" y="4069080"/>
            <a:ext cx="1417320" cy="1417320"/>
          </a:xfrm>
          <a:prstGeom prst="rect">
            <a:avLst/>
          </a:prstGeom>
          <a:ln w="12700">
            <a:solidFill>
              <a:srgbClr val="F0C098"/>
            </a:solidFill>
          </a:ln>
        </p:spPr>
      </p:pic>
      <p:sp>
        <p:nvSpPr>
          <p:cNvPr id="14" name="Rounded Rectangle 13"/>
          <p:cNvSpPr/>
          <p:nvPr/>
        </p:nvSpPr>
        <p:spPr>
          <a:xfrm>
            <a:off x="2697480" y="4133087"/>
            <a:ext cx="777240" cy="292608"/>
          </a:xfrm>
          <a:prstGeom prst="roundRect">
            <a:avLst>
              <a:gd name="adj" fmla="val 50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697480" y="4133087"/>
            <a:ext cx="777240" cy="292608"/>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HARD</a:t>
            </a:r>
          </a:p>
        </p:txBody>
      </p:sp>
      <p:sp>
        <p:nvSpPr>
          <p:cNvPr id="16" name="TextBox 15"/>
          <p:cNvSpPr txBox="1"/>
          <p:nvPr/>
        </p:nvSpPr>
        <p:spPr>
          <a:xfrm>
            <a:off x="2697480" y="4498848"/>
            <a:ext cx="3291840" cy="320040"/>
          </a:xfrm>
          <a:prstGeom prst="rect">
            <a:avLst/>
          </a:prstGeom>
          <a:noFill/>
        </p:spPr>
        <p:txBody>
          <a:bodyPr wrap="square" lIns="36576" tIns="18288" rIns="36576" bIns="18288" anchor="t">
            <a:spAutoFit/>
          </a:bodyPr>
          <a:lstStyle/>
          <a:p>
            <a:pPr algn="l">
              <a:spcAft>
                <a:spcPts val="200"/>
              </a:spcAft>
            </a:pPr>
            <a:r>
              <a:rPr sz="1400" b="1" i="0">
                <a:solidFill>
                  <a:srgbClr val="1A1A1A"/>
                </a:solidFill>
              </a:rPr>
              <a:t>Cat that looks like a dog</a:t>
            </a:r>
          </a:p>
        </p:txBody>
      </p:sp>
      <p:sp>
        <p:nvSpPr>
          <p:cNvPr id="17" name="TextBox 16"/>
          <p:cNvSpPr txBox="1"/>
          <p:nvPr/>
        </p:nvSpPr>
        <p:spPr>
          <a:xfrm>
            <a:off x="2697480" y="4828031"/>
            <a:ext cx="3291840" cy="822960"/>
          </a:xfrm>
          <a:prstGeom prst="rect">
            <a:avLst/>
          </a:prstGeom>
          <a:noFill/>
        </p:spPr>
        <p:txBody>
          <a:bodyPr wrap="square" lIns="36576" tIns="18288" rIns="36576" bIns="18288" anchor="t">
            <a:spAutoFit/>
          </a:bodyPr>
          <a:lstStyle/>
          <a:p>
            <a:pPr algn="l">
              <a:spcAft>
                <a:spcPts val="200"/>
              </a:spcAft>
            </a:pPr>
            <a:r>
              <a:rPr sz="1200" b="0" i="0">
                <a:solidFill>
                  <a:srgbClr val="5B6676"/>
                </a:solidFill>
              </a:rPr>
              <a:t>Exits 1 and 2 are not sure enough → continue to Exit 3 (full network) → cat, 99.9%.</a:t>
            </a:r>
          </a:p>
        </p:txBody>
      </p:sp>
      <p:sp>
        <p:nvSpPr>
          <p:cNvPr id="18" name="TextBox 17"/>
          <p:cNvSpPr txBox="1"/>
          <p:nvPr/>
        </p:nvSpPr>
        <p:spPr>
          <a:xfrm>
            <a:off x="841248" y="5669280"/>
            <a:ext cx="5257800" cy="274320"/>
          </a:xfrm>
          <a:prstGeom prst="rect">
            <a:avLst/>
          </a:prstGeom>
          <a:noFill/>
        </p:spPr>
        <p:txBody>
          <a:bodyPr wrap="square" lIns="36576" tIns="18288" rIns="36576" bIns="18288" anchor="t">
            <a:spAutoFit/>
          </a:bodyPr>
          <a:lstStyle/>
          <a:p>
            <a:pPr algn="l">
              <a:spcAft>
                <a:spcPts val="200"/>
              </a:spcAft>
            </a:pPr>
            <a:r>
              <a:rPr sz="1000" b="0" i="0">
                <a:solidFill>
                  <a:srgbClr val="5B6676"/>
                </a:solidFill>
              </a:rPr>
              <a:t>Real CIFAR-10 test images (32×32 pixels, enlarged) and the model's real decisions.</a:t>
            </a:r>
          </a:p>
        </p:txBody>
      </p:sp>
      <p:sp>
        <p:nvSpPr>
          <p:cNvPr id="19" name="Rounded Rectangle 18"/>
          <p:cNvSpPr/>
          <p:nvPr/>
        </p:nvSpPr>
        <p:spPr>
          <a:xfrm>
            <a:off x="6355080" y="2103120"/>
            <a:ext cx="5001768" cy="178308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537960" y="2194560"/>
            <a:ext cx="4572000" cy="36576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Conventional CNN</a:t>
            </a:r>
          </a:p>
        </p:txBody>
      </p:sp>
      <p:sp>
        <p:nvSpPr>
          <p:cNvPr id="21" name="Rounded Rectangle 20"/>
          <p:cNvSpPr/>
          <p:nvPr/>
        </p:nvSpPr>
        <p:spPr>
          <a:xfrm>
            <a:off x="6583680" y="2697480"/>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583680" y="2697480"/>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1</a:t>
            </a:r>
          </a:p>
        </p:txBody>
      </p:sp>
      <p:cxnSp>
        <p:nvCxnSpPr>
          <p:cNvPr id="23" name="Connector 22"/>
          <p:cNvCxnSpPr/>
          <p:nvPr/>
        </p:nvCxnSpPr>
        <p:spPr>
          <a:xfrm>
            <a:off x="7370064" y="2948940"/>
            <a:ext cx="164592"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43800" y="2697480"/>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43800" y="2697480"/>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2</a:t>
            </a:r>
          </a:p>
        </p:txBody>
      </p:sp>
      <p:cxnSp>
        <p:nvCxnSpPr>
          <p:cNvPr id="26" name="Connector 25"/>
          <p:cNvCxnSpPr/>
          <p:nvPr/>
        </p:nvCxnSpPr>
        <p:spPr>
          <a:xfrm>
            <a:off x="8330183" y="2948940"/>
            <a:ext cx="164593"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503920" y="2697480"/>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503920" y="2697480"/>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3</a:t>
            </a:r>
          </a:p>
        </p:txBody>
      </p:sp>
      <p:sp>
        <p:nvSpPr>
          <p:cNvPr id="29" name="TextBox 28"/>
          <p:cNvSpPr txBox="1"/>
          <p:nvPr/>
        </p:nvSpPr>
        <p:spPr>
          <a:xfrm>
            <a:off x="9555480" y="2633472"/>
            <a:ext cx="1737360" cy="640080"/>
          </a:xfrm>
          <a:prstGeom prst="rect">
            <a:avLst/>
          </a:prstGeom>
          <a:noFill/>
        </p:spPr>
        <p:txBody>
          <a:bodyPr wrap="square" lIns="36576" tIns="18288" rIns="36576" bIns="18288" anchor="t">
            <a:spAutoFit/>
          </a:bodyPr>
          <a:lstStyle/>
          <a:p>
            <a:pPr algn="l">
              <a:spcAft>
                <a:spcPts val="200"/>
              </a:spcAft>
            </a:pPr>
            <a:r>
              <a:rPr sz="2000" b="1" i="0">
                <a:solidFill>
                  <a:srgbClr val="2A55A1"/>
                </a:solidFill>
              </a:rPr>
              <a:t>100%</a:t>
            </a:r>
          </a:p>
          <a:p>
            <a:pPr algn="l">
              <a:spcAft>
                <a:spcPts val="200"/>
              </a:spcAft>
            </a:pPr>
            <a:r>
              <a:rPr sz="1050" b="0" i="0">
                <a:solidFill>
                  <a:srgbClr val="5B6676"/>
                </a:solidFill>
              </a:rPr>
              <a:t>work for every image</a:t>
            </a:r>
          </a:p>
        </p:txBody>
      </p:sp>
      <p:sp>
        <p:nvSpPr>
          <p:cNvPr id="30" name="TextBox 29"/>
          <p:cNvSpPr txBox="1"/>
          <p:nvPr/>
        </p:nvSpPr>
        <p:spPr>
          <a:xfrm>
            <a:off x="6537960" y="3337560"/>
            <a:ext cx="4663440" cy="457200"/>
          </a:xfrm>
          <a:prstGeom prst="rect">
            <a:avLst/>
          </a:prstGeom>
          <a:noFill/>
        </p:spPr>
        <p:txBody>
          <a:bodyPr wrap="square" lIns="36576" tIns="18288" rIns="36576" bIns="18288" anchor="t">
            <a:spAutoFit/>
          </a:bodyPr>
          <a:lstStyle/>
          <a:p>
            <a:pPr algn="l">
              <a:spcAft>
                <a:spcPts val="200"/>
              </a:spcAft>
            </a:pPr>
            <a:r>
              <a:rPr sz="1200" b="0" i="0">
                <a:solidFill>
                  <a:srgbClr val="5B6676"/>
                </a:solidFill>
              </a:rPr>
              <a:t>Every image runs through all layers; one answer at the end.</a:t>
            </a:r>
          </a:p>
        </p:txBody>
      </p:sp>
      <p:sp>
        <p:nvSpPr>
          <p:cNvPr id="31" name="Rounded Rectangle 30"/>
          <p:cNvSpPr/>
          <p:nvPr/>
        </p:nvSpPr>
        <p:spPr>
          <a:xfrm>
            <a:off x="6355080" y="4041648"/>
            <a:ext cx="5001768" cy="1783080"/>
          </a:xfrm>
          <a:prstGeom prst="roundRect">
            <a:avLst>
              <a:gd name="adj" fmla="val 8000"/>
            </a:avLst>
          </a:prstGeom>
          <a:solidFill>
            <a:srgbClr val="FFFFFF"/>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37960" y="4133087"/>
            <a:ext cx="4572000" cy="365760"/>
          </a:xfrm>
          <a:prstGeom prst="rect">
            <a:avLst/>
          </a:prstGeom>
          <a:noFill/>
        </p:spPr>
        <p:txBody>
          <a:bodyPr wrap="square" lIns="36576" tIns="18288" rIns="36576" bIns="18288" anchor="t">
            <a:spAutoFit/>
          </a:bodyPr>
          <a:lstStyle/>
          <a:p>
            <a:pPr algn="l">
              <a:spcAft>
                <a:spcPts val="200"/>
              </a:spcAft>
            </a:pPr>
            <a:r>
              <a:rPr sz="1500" b="1" i="0">
                <a:solidFill>
                  <a:srgbClr val="518113"/>
                </a:solidFill>
              </a:rPr>
              <a:t>Think-or-Stop (this project)</a:t>
            </a:r>
          </a:p>
        </p:txBody>
      </p:sp>
      <p:sp>
        <p:nvSpPr>
          <p:cNvPr id="33" name="Rounded Rectangle 32"/>
          <p:cNvSpPr/>
          <p:nvPr/>
        </p:nvSpPr>
        <p:spPr>
          <a:xfrm>
            <a:off x="6583680" y="4636008"/>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583680" y="4636008"/>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1</a:t>
            </a:r>
          </a:p>
        </p:txBody>
      </p:sp>
      <p:cxnSp>
        <p:nvCxnSpPr>
          <p:cNvPr id="35" name="Connector 34"/>
          <p:cNvCxnSpPr/>
          <p:nvPr/>
        </p:nvCxnSpPr>
        <p:spPr>
          <a:xfrm>
            <a:off x="7370064" y="4887468"/>
            <a:ext cx="164592"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543800" y="4636008"/>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543800" y="4636008"/>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2</a:t>
            </a:r>
          </a:p>
        </p:txBody>
      </p:sp>
      <p:cxnSp>
        <p:nvCxnSpPr>
          <p:cNvPr id="38" name="Connector 37"/>
          <p:cNvCxnSpPr/>
          <p:nvPr/>
        </p:nvCxnSpPr>
        <p:spPr>
          <a:xfrm>
            <a:off x="8330183" y="4887468"/>
            <a:ext cx="164593"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503920" y="4636008"/>
            <a:ext cx="777240" cy="50292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503920" y="4636008"/>
            <a:ext cx="777240" cy="502920"/>
          </a:xfrm>
          <a:prstGeom prst="rect">
            <a:avLst/>
          </a:prstGeom>
          <a:noFill/>
        </p:spPr>
        <p:txBody>
          <a:bodyPr wrap="square" lIns="36576" tIns="18288" rIns="36576" bIns="18288" anchor="ctr">
            <a:spAutoFit/>
          </a:bodyPr>
          <a:lstStyle/>
          <a:p>
            <a:pPr algn="ctr">
              <a:spcAft>
                <a:spcPts val="200"/>
              </a:spcAft>
            </a:pPr>
            <a:r>
              <a:rPr sz="1050" b="1" i="0">
                <a:solidFill>
                  <a:srgbClr val="FFFFFF"/>
                </a:solidFill>
              </a:rPr>
              <a:t>Stage 3</a:t>
            </a:r>
          </a:p>
        </p:txBody>
      </p:sp>
      <p:sp>
        <p:nvSpPr>
          <p:cNvPr id="41" name="Rounded Rectangle 40"/>
          <p:cNvSpPr/>
          <p:nvPr/>
        </p:nvSpPr>
        <p:spPr>
          <a:xfrm>
            <a:off x="6702552" y="5193792"/>
            <a:ext cx="548640" cy="256032"/>
          </a:xfrm>
          <a:prstGeom prst="roundRect">
            <a:avLst>
              <a:gd name="adj" fmla="val 50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702552" y="5193792"/>
            <a:ext cx="548640" cy="256032"/>
          </a:xfrm>
          <a:prstGeom prst="rect">
            <a:avLst/>
          </a:prstGeom>
          <a:noFill/>
        </p:spPr>
        <p:txBody>
          <a:bodyPr wrap="square" lIns="36576" tIns="18288" rIns="36576" bIns="18288" anchor="ctr">
            <a:spAutoFit/>
          </a:bodyPr>
          <a:lstStyle/>
          <a:p>
            <a:pPr algn="ctr">
              <a:spcAft>
                <a:spcPts val="200"/>
              </a:spcAft>
            </a:pPr>
            <a:r>
              <a:rPr sz="950" b="1" i="0">
                <a:solidFill>
                  <a:srgbClr val="FFFFFF"/>
                </a:solidFill>
              </a:rPr>
              <a:t>stop?</a:t>
            </a:r>
          </a:p>
        </p:txBody>
      </p:sp>
      <p:sp>
        <p:nvSpPr>
          <p:cNvPr id="43" name="Rounded Rectangle 42"/>
          <p:cNvSpPr/>
          <p:nvPr/>
        </p:nvSpPr>
        <p:spPr>
          <a:xfrm>
            <a:off x="7662672" y="5193792"/>
            <a:ext cx="548640" cy="256032"/>
          </a:xfrm>
          <a:prstGeom prst="roundRect">
            <a:avLst>
              <a:gd name="adj" fmla="val 50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662672" y="5193792"/>
            <a:ext cx="548640" cy="256032"/>
          </a:xfrm>
          <a:prstGeom prst="rect">
            <a:avLst/>
          </a:prstGeom>
          <a:noFill/>
        </p:spPr>
        <p:txBody>
          <a:bodyPr wrap="square" lIns="36576" tIns="18288" rIns="36576" bIns="18288" anchor="ctr">
            <a:spAutoFit/>
          </a:bodyPr>
          <a:lstStyle/>
          <a:p>
            <a:pPr algn="ctr">
              <a:spcAft>
                <a:spcPts val="200"/>
              </a:spcAft>
            </a:pPr>
            <a:r>
              <a:rPr sz="950" b="1" i="0">
                <a:solidFill>
                  <a:srgbClr val="FFFFFF"/>
                </a:solidFill>
              </a:rPr>
              <a:t>stop?</a:t>
            </a:r>
          </a:p>
        </p:txBody>
      </p:sp>
      <p:sp>
        <p:nvSpPr>
          <p:cNvPr id="45" name="TextBox 44"/>
          <p:cNvSpPr txBox="1"/>
          <p:nvPr/>
        </p:nvSpPr>
        <p:spPr>
          <a:xfrm>
            <a:off x="9555480" y="4572000"/>
            <a:ext cx="1737360" cy="640080"/>
          </a:xfrm>
          <a:prstGeom prst="rect">
            <a:avLst/>
          </a:prstGeom>
          <a:noFill/>
        </p:spPr>
        <p:txBody>
          <a:bodyPr wrap="square" lIns="36576" tIns="18288" rIns="36576" bIns="18288" anchor="t">
            <a:spAutoFit/>
          </a:bodyPr>
          <a:lstStyle/>
          <a:p>
            <a:pPr algn="l">
              <a:spcAft>
                <a:spcPts val="200"/>
              </a:spcAft>
            </a:pPr>
            <a:r>
              <a:rPr sz="2000" b="1" i="0">
                <a:solidFill>
                  <a:srgbClr val="518113"/>
                </a:solidFill>
              </a:rPr>
              <a:t>≈63%</a:t>
            </a:r>
          </a:p>
          <a:p>
            <a:pPr algn="l">
              <a:spcAft>
                <a:spcPts val="200"/>
              </a:spcAft>
            </a:pPr>
            <a:r>
              <a:rPr sz="1050" b="0" i="0">
                <a:solidFill>
                  <a:srgbClr val="5B6676"/>
                </a:solidFill>
              </a:rPr>
              <a:t>average work</a:t>
            </a:r>
          </a:p>
        </p:txBody>
      </p:sp>
      <p:sp>
        <p:nvSpPr>
          <p:cNvPr id="46" name="TextBox 45"/>
          <p:cNvSpPr txBox="1"/>
          <p:nvPr/>
        </p:nvSpPr>
        <p:spPr>
          <a:xfrm>
            <a:off x="8549640" y="5138928"/>
            <a:ext cx="2743200" cy="640080"/>
          </a:xfrm>
          <a:prstGeom prst="rect">
            <a:avLst/>
          </a:prstGeom>
          <a:noFill/>
        </p:spPr>
        <p:txBody>
          <a:bodyPr wrap="square" lIns="36576" tIns="18288" rIns="36576" bIns="18288" anchor="t">
            <a:spAutoFit/>
          </a:bodyPr>
          <a:lstStyle/>
          <a:p>
            <a:pPr algn="l">
              <a:spcAft>
                <a:spcPts val="200"/>
              </a:spcAft>
            </a:pPr>
            <a:r>
              <a:rPr sz="1100" b="0" i="0">
                <a:solidFill>
                  <a:srgbClr val="5B6676"/>
                </a:solidFill>
              </a:rPr>
              <a:t>Classifier after each stage; stop as soon as one is confident.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Terms: Building Blocks of the CNN</a:t>
            </a:r>
          </a:p>
        </p:txBody>
      </p:sp>
      <p:sp>
        <p:nvSpPr>
          <p:cNvPr id="3" name="Slide Number Placeholder 2"/>
          <p:cNvSpPr>
            <a:spLocks noGrp="1"/>
          </p:cNvSpPr>
          <p:nvPr>
            <p:ph type="sldNum" sz="quarter" idx="12"/>
          </p:nvPr>
        </p:nvSpPr>
        <p:spPr/>
        <p:txBody>
          <a:bodyPr/>
          <a:lstStyle/>
          <a:p>
            <a:fld id="{B6F15528-21DE-4FAA-801E-634DDDAF4B2B}" type="slidenum">
              <a:rPr lang="en-US"/>
              <a:t>3</a:t>
            </a:fld>
            <a:endParaRPr lang="en-US"/>
          </a:p>
        </p:txBody>
      </p:sp>
      <p:sp>
        <p:nvSpPr>
          <p:cNvPr id="4" name="Rounded Rectangle 3"/>
          <p:cNvSpPr/>
          <p:nvPr/>
        </p:nvSpPr>
        <p:spPr>
          <a:xfrm>
            <a:off x="841248" y="1325880"/>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78408" y="1481328"/>
            <a:ext cx="566928" cy="566928"/>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nv_w.png"/>
          <p:cNvPicPr>
            <a:picLocks noChangeAspect="1"/>
          </p:cNvPicPr>
          <p:nvPr/>
        </p:nvPicPr>
        <p:blipFill>
          <a:blip r:embed="rId3"/>
          <a:stretch>
            <a:fillRect/>
          </a:stretch>
        </p:blipFill>
        <p:spPr>
          <a:xfrm>
            <a:off x="1114470" y="1617390"/>
            <a:ext cx="294802" cy="294802"/>
          </a:xfrm>
          <a:prstGeom prst="rect">
            <a:avLst/>
          </a:prstGeom>
        </p:spPr>
      </p:pic>
      <p:sp>
        <p:nvSpPr>
          <p:cNvPr id="7" name="Oval 6"/>
          <p:cNvSpPr/>
          <p:nvPr/>
        </p:nvSpPr>
        <p:spPr>
          <a:xfrm>
            <a:off x="2368296" y="1481328"/>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1</a:t>
            </a:r>
          </a:p>
        </p:txBody>
      </p:sp>
      <p:sp>
        <p:nvSpPr>
          <p:cNvPr id="8" name="TextBox 7"/>
          <p:cNvSpPr txBox="1"/>
          <p:nvPr/>
        </p:nvSpPr>
        <p:spPr>
          <a:xfrm>
            <a:off x="932688" y="2130552"/>
            <a:ext cx="1773936" cy="347472"/>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Convolution</a:t>
            </a:r>
          </a:p>
        </p:txBody>
      </p:sp>
      <p:sp>
        <p:nvSpPr>
          <p:cNvPr id="9" name="TextBox 8"/>
          <p:cNvSpPr txBox="1"/>
          <p:nvPr/>
        </p:nvSpPr>
        <p:spPr>
          <a:xfrm>
            <a:off x="932688" y="2487168"/>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Small 3×3 filters slide over the image and detect patterns: edges → textures → parts.</a:t>
            </a:r>
          </a:p>
        </p:txBody>
      </p:sp>
      <p:sp>
        <p:nvSpPr>
          <p:cNvPr id="10" name="Rounded Rectangle 9"/>
          <p:cNvSpPr/>
          <p:nvPr/>
        </p:nvSpPr>
        <p:spPr>
          <a:xfrm>
            <a:off x="2980944" y="1325880"/>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118104" y="1481328"/>
            <a:ext cx="566928" cy="566928"/>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n_w.png"/>
          <p:cNvPicPr>
            <a:picLocks noChangeAspect="1"/>
          </p:cNvPicPr>
          <p:nvPr/>
        </p:nvPicPr>
        <p:blipFill>
          <a:blip r:embed="rId4"/>
          <a:stretch>
            <a:fillRect/>
          </a:stretch>
        </p:blipFill>
        <p:spPr>
          <a:xfrm>
            <a:off x="3254166" y="1617390"/>
            <a:ext cx="294802" cy="294802"/>
          </a:xfrm>
          <a:prstGeom prst="rect">
            <a:avLst/>
          </a:prstGeom>
        </p:spPr>
      </p:pic>
      <p:sp>
        <p:nvSpPr>
          <p:cNvPr id="13" name="Oval 12"/>
          <p:cNvSpPr/>
          <p:nvPr/>
        </p:nvSpPr>
        <p:spPr>
          <a:xfrm>
            <a:off x="4507992" y="1481328"/>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2</a:t>
            </a:r>
          </a:p>
        </p:txBody>
      </p:sp>
      <p:sp>
        <p:nvSpPr>
          <p:cNvPr id="14" name="TextBox 13"/>
          <p:cNvSpPr txBox="1"/>
          <p:nvPr/>
        </p:nvSpPr>
        <p:spPr>
          <a:xfrm>
            <a:off x="3072384" y="2130552"/>
            <a:ext cx="1773936" cy="347472"/>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Batch Normalization</a:t>
            </a:r>
          </a:p>
        </p:txBody>
      </p:sp>
      <p:sp>
        <p:nvSpPr>
          <p:cNvPr id="15" name="TextBox 14"/>
          <p:cNvSpPr txBox="1"/>
          <p:nvPr/>
        </p:nvSpPr>
        <p:spPr>
          <a:xfrm>
            <a:off x="3072384" y="2487168"/>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Rescales each layer's outputs to a stable range, so training is faster and steadier.</a:t>
            </a:r>
          </a:p>
        </p:txBody>
      </p:sp>
      <p:sp>
        <p:nvSpPr>
          <p:cNvPr id="16" name="Rounded Rectangle 15"/>
          <p:cNvSpPr/>
          <p:nvPr/>
        </p:nvSpPr>
        <p:spPr>
          <a:xfrm>
            <a:off x="5120640" y="1325880"/>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257800" y="1481328"/>
            <a:ext cx="566928" cy="566928"/>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relu_w.png"/>
          <p:cNvPicPr>
            <a:picLocks noChangeAspect="1"/>
          </p:cNvPicPr>
          <p:nvPr/>
        </p:nvPicPr>
        <p:blipFill>
          <a:blip r:embed="rId5"/>
          <a:stretch>
            <a:fillRect/>
          </a:stretch>
        </p:blipFill>
        <p:spPr>
          <a:xfrm>
            <a:off x="5393862" y="1617390"/>
            <a:ext cx="294802" cy="294802"/>
          </a:xfrm>
          <a:prstGeom prst="rect">
            <a:avLst/>
          </a:prstGeom>
        </p:spPr>
      </p:pic>
      <p:sp>
        <p:nvSpPr>
          <p:cNvPr id="19" name="Oval 18"/>
          <p:cNvSpPr/>
          <p:nvPr/>
        </p:nvSpPr>
        <p:spPr>
          <a:xfrm>
            <a:off x="6647688" y="1481328"/>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3</a:t>
            </a:r>
          </a:p>
        </p:txBody>
      </p:sp>
      <p:sp>
        <p:nvSpPr>
          <p:cNvPr id="20" name="TextBox 19"/>
          <p:cNvSpPr txBox="1"/>
          <p:nvPr/>
        </p:nvSpPr>
        <p:spPr>
          <a:xfrm>
            <a:off x="5212080" y="2130552"/>
            <a:ext cx="1773936" cy="347472"/>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ReLU</a:t>
            </a:r>
          </a:p>
        </p:txBody>
      </p:sp>
      <p:sp>
        <p:nvSpPr>
          <p:cNvPr id="21" name="TextBox 20"/>
          <p:cNvSpPr txBox="1"/>
          <p:nvPr/>
        </p:nvSpPr>
        <p:spPr>
          <a:xfrm>
            <a:off x="5212080" y="2487168"/>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max(0, x): keeps positive values, sets negatives to 0. Adds non-linearity.</a:t>
            </a:r>
          </a:p>
        </p:txBody>
      </p:sp>
      <p:sp>
        <p:nvSpPr>
          <p:cNvPr id="22" name="Rounded Rectangle 21"/>
          <p:cNvSpPr/>
          <p:nvPr/>
        </p:nvSpPr>
        <p:spPr>
          <a:xfrm>
            <a:off x="7260336" y="1325880"/>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7397496" y="1481328"/>
            <a:ext cx="566928" cy="566928"/>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pool_w.png"/>
          <p:cNvPicPr>
            <a:picLocks noChangeAspect="1"/>
          </p:cNvPicPr>
          <p:nvPr/>
        </p:nvPicPr>
        <p:blipFill>
          <a:blip r:embed="rId6"/>
          <a:stretch>
            <a:fillRect/>
          </a:stretch>
        </p:blipFill>
        <p:spPr>
          <a:xfrm>
            <a:off x="7533558" y="1617390"/>
            <a:ext cx="294802" cy="294802"/>
          </a:xfrm>
          <a:prstGeom prst="rect">
            <a:avLst/>
          </a:prstGeom>
        </p:spPr>
      </p:pic>
      <p:sp>
        <p:nvSpPr>
          <p:cNvPr id="25" name="Oval 24"/>
          <p:cNvSpPr/>
          <p:nvPr/>
        </p:nvSpPr>
        <p:spPr>
          <a:xfrm>
            <a:off x="8787384" y="1481328"/>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4</a:t>
            </a:r>
          </a:p>
        </p:txBody>
      </p:sp>
      <p:sp>
        <p:nvSpPr>
          <p:cNvPr id="26" name="TextBox 25"/>
          <p:cNvSpPr txBox="1"/>
          <p:nvPr/>
        </p:nvSpPr>
        <p:spPr>
          <a:xfrm>
            <a:off x="7351776" y="2130552"/>
            <a:ext cx="1773936" cy="347472"/>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Max Pooling</a:t>
            </a:r>
          </a:p>
        </p:txBody>
      </p:sp>
      <p:sp>
        <p:nvSpPr>
          <p:cNvPr id="27" name="TextBox 26"/>
          <p:cNvSpPr txBox="1"/>
          <p:nvPr/>
        </p:nvSpPr>
        <p:spPr>
          <a:xfrm>
            <a:off x="7351776" y="2487168"/>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Keeps the largest value in each 2×2 window. Halves width and height.</a:t>
            </a:r>
          </a:p>
        </p:txBody>
      </p:sp>
      <p:sp>
        <p:nvSpPr>
          <p:cNvPr id="28" name="Rounded Rectangle 27"/>
          <p:cNvSpPr/>
          <p:nvPr/>
        </p:nvSpPr>
        <p:spPr>
          <a:xfrm>
            <a:off x="9400032" y="1325880"/>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9537192" y="1481328"/>
            <a:ext cx="566928" cy="566928"/>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fc_w.png"/>
          <p:cNvPicPr>
            <a:picLocks noChangeAspect="1"/>
          </p:cNvPicPr>
          <p:nvPr/>
        </p:nvPicPr>
        <p:blipFill>
          <a:blip r:embed="rId7"/>
          <a:stretch>
            <a:fillRect/>
          </a:stretch>
        </p:blipFill>
        <p:spPr>
          <a:xfrm>
            <a:off x="9673254" y="1617390"/>
            <a:ext cx="294802" cy="294802"/>
          </a:xfrm>
          <a:prstGeom prst="rect">
            <a:avLst/>
          </a:prstGeom>
        </p:spPr>
      </p:pic>
      <p:sp>
        <p:nvSpPr>
          <p:cNvPr id="31" name="Oval 30"/>
          <p:cNvSpPr/>
          <p:nvPr/>
        </p:nvSpPr>
        <p:spPr>
          <a:xfrm>
            <a:off x="10927080" y="1481328"/>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5</a:t>
            </a:r>
          </a:p>
        </p:txBody>
      </p:sp>
      <p:sp>
        <p:nvSpPr>
          <p:cNvPr id="32" name="TextBox 31"/>
          <p:cNvSpPr txBox="1"/>
          <p:nvPr/>
        </p:nvSpPr>
        <p:spPr>
          <a:xfrm>
            <a:off x="9491472" y="2130552"/>
            <a:ext cx="1773936" cy="347472"/>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Fully Connected</a:t>
            </a:r>
          </a:p>
        </p:txBody>
      </p:sp>
      <p:sp>
        <p:nvSpPr>
          <p:cNvPr id="33" name="TextBox 32"/>
          <p:cNvSpPr txBox="1"/>
          <p:nvPr/>
        </p:nvSpPr>
        <p:spPr>
          <a:xfrm>
            <a:off x="9491472" y="2487168"/>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Every input links to every output. Turns features into 10 class scores.</a:t>
            </a:r>
          </a:p>
        </p:txBody>
      </p:sp>
      <p:sp>
        <p:nvSpPr>
          <p:cNvPr id="34" name="Rounded Rectangle 33"/>
          <p:cNvSpPr/>
          <p:nvPr/>
        </p:nvSpPr>
        <p:spPr>
          <a:xfrm>
            <a:off x="841248" y="3575304"/>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78408" y="3730752"/>
            <a:ext cx="566928" cy="566928"/>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dropout_w.png"/>
          <p:cNvPicPr>
            <a:picLocks noChangeAspect="1"/>
          </p:cNvPicPr>
          <p:nvPr/>
        </p:nvPicPr>
        <p:blipFill>
          <a:blip r:embed="rId8"/>
          <a:stretch>
            <a:fillRect/>
          </a:stretch>
        </p:blipFill>
        <p:spPr>
          <a:xfrm>
            <a:off x="1114470" y="3866814"/>
            <a:ext cx="294802" cy="294802"/>
          </a:xfrm>
          <a:prstGeom prst="rect">
            <a:avLst/>
          </a:prstGeom>
        </p:spPr>
      </p:pic>
      <p:sp>
        <p:nvSpPr>
          <p:cNvPr id="37" name="Oval 36"/>
          <p:cNvSpPr/>
          <p:nvPr/>
        </p:nvSpPr>
        <p:spPr>
          <a:xfrm>
            <a:off x="2368296" y="3730752"/>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6</a:t>
            </a:r>
          </a:p>
        </p:txBody>
      </p:sp>
      <p:sp>
        <p:nvSpPr>
          <p:cNvPr id="38" name="TextBox 37"/>
          <p:cNvSpPr txBox="1"/>
          <p:nvPr/>
        </p:nvSpPr>
        <p:spPr>
          <a:xfrm>
            <a:off x="932688" y="4379976"/>
            <a:ext cx="1773936" cy="347472"/>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Dropout</a:t>
            </a:r>
          </a:p>
        </p:txBody>
      </p:sp>
      <p:sp>
        <p:nvSpPr>
          <p:cNvPr id="39" name="TextBox 38"/>
          <p:cNvSpPr txBox="1"/>
          <p:nvPr/>
        </p:nvSpPr>
        <p:spPr>
          <a:xfrm>
            <a:off x="932688" y="4736592"/>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Randomly switches off 30% of neurons during training so the net cannot memorise.</a:t>
            </a:r>
          </a:p>
        </p:txBody>
      </p:sp>
      <p:sp>
        <p:nvSpPr>
          <p:cNvPr id="40" name="Rounded Rectangle 39"/>
          <p:cNvSpPr/>
          <p:nvPr/>
        </p:nvSpPr>
        <p:spPr>
          <a:xfrm>
            <a:off x="2980944" y="3575304"/>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3118104" y="3730752"/>
            <a:ext cx="566928" cy="566928"/>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softmax_w.png"/>
          <p:cNvPicPr>
            <a:picLocks noChangeAspect="1"/>
          </p:cNvPicPr>
          <p:nvPr/>
        </p:nvPicPr>
        <p:blipFill>
          <a:blip r:embed="rId9"/>
          <a:stretch>
            <a:fillRect/>
          </a:stretch>
        </p:blipFill>
        <p:spPr>
          <a:xfrm>
            <a:off x="3254166" y="3866814"/>
            <a:ext cx="294802" cy="294802"/>
          </a:xfrm>
          <a:prstGeom prst="rect">
            <a:avLst/>
          </a:prstGeom>
        </p:spPr>
      </p:pic>
      <p:sp>
        <p:nvSpPr>
          <p:cNvPr id="43" name="Oval 42"/>
          <p:cNvSpPr/>
          <p:nvPr/>
        </p:nvSpPr>
        <p:spPr>
          <a:xfrm>
            <a:off x="4507992" y="3730752"/>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7</a:t>
            </a:r>
          </a:p>
        </p:txBody>
      </p:sp>
      <p:sp>
        <p:nvSpPr>
          <p:cNvPr id="44" name="TextBox 43"/>
          <p:cNvSpPr txBox="1"/>
          <p:nvPr/>
        </p:nvSpPr>
        <p:spPr>
          <a:xfrm>
            <a:off x="3072384" y="4379976"/>
            <a:ext cx="1773936" cy="347472"/>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Softmax</a:t>
            </a:r>
          </a:p>
        </p:txBody>
      </p:sp>
      <p:sp>
        <p:nvSpPr>
          <p:cNvPr id="45" name="TextBox 44"/>
          <p:cNvSpPr txBox="1"/>
          <p:nvPr/>
        </p:nvSpPr>
        <p:spPr>
          <a:xfrm>
            <a:off x="3072384" y="4736592"/>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Converts 10 scores into probabilities that add up to 100%.</a:t>
            </a:r>
          </a:p>
        </p:txBody>
      </p:sp>
      <p:sp>
        <p:nvSpPr>
          <p:cNvPr id="46" name="Rounded Rectangle 45"/>
          <p:cNvSpPr/>
          <p:nvPr/>
        </p:nvSpPr>
        <p:spPr>
          <a:xfrm>
            <a:off x="5120640" y="3575304"/>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5257800" y="3730752"/>
            <a:ext cx="566928" cy="566928"/>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ce_w.png"/>
          <p:cNvPicPr>
            <a:picLocks noChangeAspect="1"/>
          </p:cNvPicPr>
          <p:nvPr/>
        </p:nvPicPr>
        <p:blipFill>
          <a:blip r:embed="rId10"/>
          <a:stretch>
            <a:fillRect/>
          </a:stretch>
        </p:blipFill>
        <p:spPr>
          <a:xfrm>
            <a:off x="5393862" y="3866814"/>
            <a:ext cx="294802" cy="294802"/>
          </a:xfrm>
          <a:prstGeom prst="rect">
            <a:avLst/>
          </a:prstGeom>
        </p:spPr>
      </p:pic>
      <p:sp>
        <p:nvSpPr>
          <p:cNvPr id="49" name="Oval 48"/>
          <p:cNvSpPr/>
          <p:nvPr/>
        </p:nvSpPr>
        <p:spPr>
          <a:xfrm>
            <a:off x="6647688" y="3730752"/>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8</a:t>
            </a:r>
          </a:p>
        </p:txBody>
      </p:sp>
      <p:sp>
        <p:nvSpPr>
          <p:cNvPr id="50" name="TextBox 49"/>
          <p:cNvSpPr txBox="1"/>
          <p:nvPr/>
        </p:nvSpPr>
        <p:spPr>
          <a:xfrm>
            <a:off x="5212080" y="4379976"/>
            <a:ext cx="1773936" cy="347472"/>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Cross-Entropy Loss</a:t>
            </a:r>
          </a:p>
        </p:txBody>
      </p:sp>
      <p:sp>
        <p:nvSpPr>
          <p:cNvPr id="51" name="TextBox 50"/>
          <p:cNvSpPr txBox="1"/>
          <p:nvPr/>
        </p:nvSpPr>
        <p:spPr>
          <a:xfrm>
            <a:off x="5212080" y="4736592"/>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Loss = −log(probability of the true class). Small when right and confident.</a:t>
            </a:r>
          </a:p>
        </p:txBody>
      </p:sp>
      <p:sp>
        <p:nvSpPr>
          <p:cNvPr id="52" name="Rounded Rectangle 51"/>
          <p:cNvSpPr/>
          <p:nvPr/>
        </p:nvSpPr>
        <p:spPr>
          <a:xfrm>
            <a:off x="7260336" y="3575304"/>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7397496" y="3730752"/>
            <a:ext cx="566928" cy="566928"/>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backprop_w.png"/>
          <p:cNvPicPr>
            <a:picLocks noChangeAspect="1"/>
          </p:cNvPicPr>
          <p:nvPr/>
        </p:nvPicPr>
        <p:blipFill>
          <a:blip r:embed="rId11"/>
          <a:stretch>
            <a:fillRect/>
          </a:stretch>
        </p:blipFill>
        <p:spPr>
          <a:xfrm>
            <a:off x="7533558" y="3866814"/>
            <a:ext cx="294802" cy="294802"/>
          </a:xfrm>
          <a:prstGeom prst="rect">
            <a:avLst/>
          </a:prstGeom>
        </p:spPr>
      </p:pic>
      <p:sp>
        <p:nvSpPr>
          <p:cNvPr id="55" name="Oval 54"/>
          <p:cNvSpPr/>
          <p:nvPr/>
        </p:nvSpPr>
        <p:spPr>
          <a:xfrm>
            <a:off x="8787384" y="3730752"/>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9</a:t>
            </a:r>
          </a:p>
        </p:txBody>
      </p:sp>
      <p:sp>
        <p:nvSpPr>
          <p:cNvPr id="56" name="TextBox 55"/>
          <p:cNvSpPr txBox="1"/>
          <p:nvPr/>
        </p:nvSpPr>
        <p:spPr>
          <a:xfrm>
            <a:off x="7351776" y="4379976"/>
            <a:ext cx="1773936" cy="347472"/>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Backpropagation</a:t>
            </a:r>
          </a:p>
        </p:txBody>
      </p:sp>
      <p:sp>
        <p:nvSpPr>
          <p:cNvPr id="57" name="TextBox 56"/>
          <p:cNvSpPr txBox="1"/>
          <p:nvPr/>
        </p:nvSpPr>
        <p:spPr>
          <a:xfrm>
            <a:off x="7351776" y="4736592"/>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Chain rule sends the error backwards to get every weight's gradient.</a:t>
            </a:r>
          </a:p>
        </p:txBody>
      </p:sp>
      <p:sp>
        <p:nvSpPr>
          <p:cNvPr id="58" name="Rounded Rectangle 57"/>
          <p:cNvSpPr/>
          <p:nvPr/>
        </p:nvSpPr>
        <p:spPr>
          <a:xfrm>
            <a:off x="9400032" y="3575304"/>
            <a:ext cx="1956816" cy="2084831"/>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9537192" y="3730752"/>
            <a:ext cx="566928" cy="566928"/>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adam_w.png"/>
          <p:cNvPicPr>
            <a:picLocks noChangeAspect="1"/>
          </p:cNvPicPr>
          <p:nvPr/>
        </p:nvPicPr>
        <p:blipFill>
          <a:blip r:embed="rId12"/>
          <a:stretch>
            <a:fillRect/>
          </a:stretch>
        </p:blipFill>
        <p:spPr>
          <a:xfrm>
            <a:off x="9673254" y="3866814"/>
            <a:ext cx="294802" cy="294802"/>
          </a:xfrm>
          <a:prstGeom prst="rect">
            <a:avLst/>
          </a:prstGeom>
        </p:spPr>
      </p:pic>
      <p:sp>
        <p:nvSpPr>
          <p:cNvPr id="61" name="Oval 60"/>
          <p:cNvSpPr/>
          <p:nvPr/>
        </p:nvSpPr>
        <p:spPr>
          <a:xfrm>
            <a:off x="10927080" y="3730752"/>
            <a:ext cx="292608" cy="292608"/>
          </a:xfrm>
          <a:prstGeom prst="ellipse">
            <a:avLst/>
          </a:prstGeom>
          <a:solidFill>
            <a:srgbClr val="5B66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10</a:t>
            </a:r>
          </a:p>
        </p:txBody>
      </p:sp>
      <p:sp>
        <p:nvSpPr>
          <p:cNvPr id="62" name="TextBox 61"/>
          <p:cNvSpPr txBox="1"/>
          <p:nvPr/>
        </p:nvSpPr>
        <p:spPr>
          <a:xfrm>
            <a:off x="9491472" y="4379976"/>
            <a:ext cx="1773936" cy="347472"/>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Adam Optimizer</a:t>
            </a:r>
          </a:p>
        </p:txBody>
      </p:sp>
      <p:sp>
        <p:nvSpPr>
          <p:cNvPr id="63" name="TextBox 62"/>
          <p:cNvSpPr txBox="1"/>
          <p:nvPr/>
        </p:nvSpPr>
        <p:spPr>
          <a:xfrm>
            <a:off x="9491472" y="4736592"/>
            <a:ext cx="1773936" cy="96012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Updates each weight using its gradient with its own adaptive step size.</a:t>
            </a:r>
          </a:p>
        </p:txBody>
      </p:sp>
      <p:sp>
        <p:nvSpPr>
          <p:cNvPr id="64" name="TextBox 63"/>
          <p:cNvSpPr txBox="1"/>
          <p:nvPr/>
        </p:nvSpPr>
        <p:spPr>
          <a:xfrm>
            <a:off x="841248" y="5715000"/>
            <a:ext cx="10515600" cy="274320"/>
          </a:xfrm>
          <a:prstGeom prst="rect">
            <a:avLst/>
          </a:prstGeom>
          <a:noFill/>
        </p:spPr>
        <p:txBody>
          <a:bodyPr wrap="square" lIns="36576" tIns="18288" rIns="36576" bIns="18288" anchor="t">
            <a:spAutoFit/>
          </a:bodyPr>
          <a:lstStyle/>
          <a:p>
            <a:pPr algn="l">
              <a:spcAft>
                <a:spcPts val="200"/>
              </a:spcAft>
            </a:pPr>
            <a:r>
              <a:rPr sz="1050" b="0" i="0">
                <a:solidFill>
                  <a:srgbClr val="5B6676"/>
                </a:solidFill>
              </a:rPr>
              <a:t>Blue = layers of the network.   Green = how the network learns.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Datasets and Data Preparation</a:t>
            </a:r>
          </a:p>
        </p:txBody>
      </p:sp>
      <p:sp>
        <p:nvSpPr>
          <p:cNvPr id="3" name="Slide Number Placeholder 2"/>
          <p:cNvSpPr>
            <a:spLocks noGrp="1"/>
          </p:cNvSpPr>
          <p:nvPr>
            <p:ph type="sldNum" sz="quarter" idx="12"/>
          </p:nvPr>
        </p:nvSpPr>
        <p:spPr/>
        <p:txBody>
          <a:bodyPr/>
          <a:lstStyle/>
          <a:p>
            <a:fld id="{B6F15528-21DE-4FAA-801E-634DDDAF4B2B}" type="slidenum">
              <a:rPr lang="en-US"/>
              <a:t>4</a:t>
            </a:fld>
            <a:endParaRPr lang="en-US"/>
          </a:p>
        </p:txBody>
      </p:sp>
      <p:sp>
        <p:nvSpPr>
          <p:cNvPr id="4" name="Rounded Rectangle 3"/>
          <p:cNvSpPr/>
          <p:nvPr/>
        </p:nvSpPr>
        <p:spPr>
          <a:xfrm>
            <a:off x="841248" y="1325880"/>
            <a:ext cx="6035040" cy="1783080"/>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05840" y="1389888"/>
            <a:ext cx="4114800" cy="32004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MNIST</a:t>
            </a:r>
            <a:r>
              <a:rPr sz="1150" b="0" i="0">
                <a:solidFill>
                  <a:srgbClr val="5B6676"/>
                </a:solidFill>
              </a:rPr>
              <a:t>   smoke test / debugging</a:t>
            </a:r>
          </a:p>
        </p:txBody>
      </p:sp>
      <p:pic>
        <p:nvPicPr>
          <p:cNvPr id="6" name="Picture 5" descr="mnist_strip.png"/>
          <p:cNvPicPr>
            <a:picLocks noChangeAspect="1"/>
          </p:cNvPicPr>
          <p:nvPr/>
        </p:nvPicPr>
        <p:blipFill>
          <a:blip r:embed="rId3"/>
          <a:stretch>
            <a:fillRect/>
          </a:stretch>
        </p:blipFill>
        <p:spPr>
          <a:xfrm>
            <a:off x="1005840" y="1810512"/>
            <a:ext cx="5669280" cy="549273"/>
          </a:xfrm>
          <a:prstGeom prst="rect">
            <a:avLst/>
          </a:prstGeom>
        </p:spPr>
      </p:pic>
      <p:sp>
        <p:nvSpPr>
          <p:cNvPr id="7" name="TextBox 6"/>
          <p:cNvSpPr txBox="1"/>
          <p:nvPr/>
        </p:nvSpPr>
        <p:spPr>
          <a:xfrm>
            <a:off x="1005840" y="2450592"/>
            <a:ext cx="5760720" cy="548640"/>
          </a:xfrm>
          <a:prstGeom prst="rect">
            <a:avLst/>
          </a:prstGeom>
          <a:noFill/>
        </p:spPr>
        <p:txBody>
          <a:bodyPr wrap="square" lIns="36576" tIns="18288" rIns="36576" bIns="18288" anchor="t">
            <a:spAutoFit/>
          </a:bodyPr>
          <a:lstStyle/>
          <a:p>
            <a:pPr algn="l">
              <a:spcAft>
                <a:spcPts val="200"/>
              </a:spcAft>
            </a:pPr>
            <a:r>
              <a:rPr sz="1150" b="0" i="0">
                <a:solidFill>
                  <a:srgbClr val="1A1A1A"/>
                </a:solidFill>
              </a:rPr>
              <a:t>70,000 grayscale handwritten digits, 28×28 px, 10 classes (0-9). Split 55,000 train / 5,000 validation / 10,000 test.</a:t>
            </a:r>
          </a:p>
        </p:txBody>
      </p:sp>
      <p:sp>
        <p:nvSpPr>
          <p:cNvPr id="8" name="Rounded Rectangle 7"/>
          <p:cNvSpPr/>
          <p:nvPr/>
        </p:nvSpPr>
        <p:spPr>
          <a:xfrm>
            <a:off x="841248" y="3246120"/>
            <a:ext cx="6035040" cy="1965960"/>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05840" y="3310128"/>
            <a:ext cx="5029200" cy="32004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CIFAR-10</a:t>
            </a:r>
            <a:r>
              <a:rPr sz="1150" b="0" i="0">
                <a:solidFill>
                  <a:srgbClr val="5B6676"/>
                </a:solidFill>
              </a:rPr>
              <a:t>   main benchmark</a:t>
            </a:r>
          </a:p>
        </p:txBody>
      </p:sp>
      <p:pic>
        <p:nvPicPr>
          <p:cNvPr id="10" name="Picture 9" descr="cifar_strip.png"/>
          <p:cNvPicPr>
            <a:picLocks noChangeAspect="1"/>
          </p:cNvPicPr>
          <p:nvPr/>
        </p:nvPicPr>
        <p:blipFill>
          <a:blip r:embed="rId4"/>
          <a:stretch>
            <a:fillRect/>
          </a:stretch>
        </p:blipFill>
        <p:spPr>
          <a:xfrm>
            <a:off x="1005840" y="3730752"/>
            <a:ext cx="5669280" cy="551419"/>
          </a:xfrm>
          <a:prstGeom prst="rect">
            <a:avLst/>
          </a:prstGeom>
        </p:spPr>
      </p:pic>
      <p:sp>
        <p:nvSpPr>
          <p:cNvPr id="11" name="TextBox 10"/>
          <p:cNvSpPr txBox="1"/>
          <p:nvPr/>
        </p:nvSpPr>
        <p:spPr>
          <a:xfrm>
            <a:off x="1005840" y="4297680"/>
            <a:ext cx="5760720" cy="274320"/>
          </a:xfrm>
          <a:prstGeom prst="rect">
            <a:avLst/>
          </a:prstGeom>
          <a:noFill/>
        </p:spPr>
        <p:txBody>
          <a:bodyPr wrap="square" lIns="36576" tIns="18288" rIns="36576" bIns="18288" anchor="t">
            <a:spAutoFit/>
          </a:bodyPr>
          <a:lstStyle/>
          <a:p>
            <a:pPr algn="l">
              <a:spcAft>
                <a:spcPts val="200"/>
              </a:spcAft>
            </a:pPr>
            <a:r>
              <a:rPr sz="1050" b="0" i="0">
                <a:solidFill>
                  <a:srgbClr val="5B6676"/>
                </a:solidFill>
              </a:rPr>
              <a:t>airplane · automobile · bird · cat · deer · dog · frog · horse · ship · truck</a:t>
            </a:r>
          </a:p>
        </p:txBody>
      </p:sp>
      <p:sp>
        <p:nvSpPr>
          <p:cNvPr id="12" name="TextBox 11"/>
          <p:cNvSpPr txBox="1"/>
          <p:nvPr/>
        </p:nvSpPr>
        <p:spPr>
          <a:xfrm>
            <a:off x="1005840" y="4572000"/>
            <a:ext cx="5760720" cy="594360"/>
          </a:xfrm>
          <a:prstGeom prst="rect">
            <a:avLst/>
          </a:prstGeom>
          <a:noFill/>
        </p:spPr>
        <p:txBody>
          <a:bodyPr wrap="square" lIns="36576" tIns="18288" rIns="36576" bIns="18288" anchor="t">
            <a:spAutoFit/>
          </a:bodyPr>
          <a:lstStyle/>
          <a:p>
            <a:pPr algn="l">
              <a:spcAft>
                <a:spcPts val="200"/>
              </a:spcAft>
            </a:pPr>
            <a:r>
              <a:rPr sz="1150" b="0" i="0">
                <a:solidFill>
                  <a:srgbClr val="1A1A1A"/>
                </a:solidFill>
              </a:rPr>
              <a:t>60,000 colour photos, 32×32 px, 10 classes. Much harder: small objects, different poses and backgrounds.</a:t>
            </a:r>
          </a:p>
        </p:txBody>
      </p:sp>
      <p:sp>
        <p:nvSpPr>
          <p:cNvPr id="13" name="TextBox 12"/>
          <p:cNvSpPr txBox="1"/>
          <p:nvPr/>
        </p:nvSpPr>
        <p:spPr>
          <a:xfrm>
            <a:off x="7178040" y="1325880"/>
            <a:ext cx="4206240" cy="32004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How CIFAR-10 is split</a:t>
            </a:r>
          </a:p>
        </p:txBody>
      </p:sp>
      <p:sp>
        <p:nvSpPr>
          <p:cNvPr id="14" name="Oval 13"/>
          <p:cNvSpPr/>
          <p:nvPr/>
        </p:nvSpPr>
        <p:spPr>
          <a:xfrm>
            <a:off x="7178040" y="1737360"/>
            <a:ext cx="502920" cy="50292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ayers_w.png"/>
          <p:cNvPicPr>
            <a:picLocks noChangeAspect="1"/>
          </p:cNvPicPr>
          <p:nvPr/>
        </p:nvPicPr>
        <p:blipFill>
          <a:blip r:embed="rId5"/>
          <a:stretch>
            <a:fillRect/>
          </a:stretch>
        </p:blipFill>
        <p:spPr>
          <a:xfrm>
            <a:off x="7298740" y="1858060"/>
            <a:ext cx="261518" cy="261518"/>
          </a:xfrm>
          <a:prstGeom prst="rect">
            <a:avLst/>
          </a:prstGeom>
        </p:spPr>
      </p:pic>
      <p:sp>
        <p:nvSpPr>
          <p:cNvPr id="16" name="Rounded Rectangle 15"/>
          <p:cNvSpPr/>
          <p:nvPr/>
        </p:nvSpPr>
        <p:spPr>
          <a:xfrm>
            <a:off x="7818120" y="1773936"/>
            <a:ext cx="3374136" cy="219456"/>
          </a:xfrm>
          <a:prstGeom prst="roundRect">
            <a:avLst>
              <a:gd name="adj" fmla="val 50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18120" y="1993391"/>
            <a:ext cx="3566160" cy="274320"/>
          </a:xfrm>
          <a:prstGeom prst="rect">
            <a:avLst/>
          </a:prstGeom>
          <a:noFill/>
        </p:spPr>
        <p:txBody>
          <a:bodyPr wrap="square" lIns="36576" tIns="18288" rIns="36576" bIns="18288" anchor="t">
            <a:spAutoFit/>
          </a:bodyPr>
          <a:lstStyle/>
          <a:p>
            <a:pPr algn="l">
              <a:spcAft>
                <a:spcPts val="200"/>
              </a:spcAft>
            </a:pPr>
            <a:r>
              <a:rPr sz="1200" b="1" i="0">
                <a:solidFill>
                  <a:srgbClr val="2A55A1"/>
                </a:solidFill>
              </a:rPr>
              <a:t>Train  45,000</a:t>
            </a:r>
            <a:r>
              <a:rPr sz="1050" b="0" i="0">
                <a:solidFill>
                  <a:srgbClr val="5B6676"/>
                </a:solidFill>
              </a:rPr>
              <a:t>  learns the weights</a:t>
            </a:r>
          </a:p>
        </p:txBody>
      </p:sp>
      <p:sp>
        <p:nvSpPr>
          <p:cNvPr id="18" name="Oval 17"/>
          <p:cNvSpPr/>
          <p:nvPr/>
        </p:nvSpPr>
        <p:spPr>
          <a:xfrm>
            <a:off x="7178040" y="2395728"/>
            <a:ext cx="502920" cy="502920"/>
          </a:xfrm>
          <a:prstGeom prst="ellipse">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liders_w.png"/>
          <p:cNvPicPr>
            <a:picLocks noChangeAspect="1"/>
          </p:cNvPicPr>
          <p:nvPr/>
        </p:nvPicPr>
        <p:blipFill>
          <a:blip r:embed="rId6"/>
          <a:stretch>
            <a:fillRect/>
          </a:stretch>
        </p:blipFill>
        <p:spPr>
          <a:xfrm>
            <a:off x="7298740" y="2516428"/>
            <a:ext cx="261518" cy="261518"/>
          </a:xfrm>
          <a:prstGeom prst="rect">
            <a:avLst/>
          </a:prstGeom>
        </p:spPr>
      </p:pic>
      <p:sp>
        <p:nvSpPr>
          <p:cNvPr id="20" name="Rounded Rectangle 19"/>
          <p:cNvSpPr/>
          <p:nvPr/>
        </p:nvSpPr>
        <p:spPr>
          <a:xfrm>
            <a:off x="7818120" y="2432304"/>
            <a:ext cx="674827" cy="219456"/>
          </a:xfrm>
          <a:prstGeom prst="roundRect">
            <a:avLst>
              <a:gd name="adj" fmla="val 50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18120" y="2651760"/>
            <a:ext cx="3566160" cy="274320"/>
          </a:xfrm>
          <a:prstGeom prst="rect">
            <a:avLst/>
          </a:prstGeom>
          <a:noFill/>
        </p:spPr>
        <p:txBody>
          <a:bodyPr wrap="square" lIns="36576" tIns="18288" rIns="36576" bIns="18288" anchor="t">
            <a:spAutoFit/>
          </a:bodyPr>
          <a:lstStyle/>
          <a:p>
            <a:pPr algn="l">
              <a:spcAft>
                <a:spcPts val="200"/>
              </a:spcAft>
            </a:pPr>
            <a:r>
              <a:rPr sz="1200" b="1" i="0">
                <a:solidFill>
                  <a:srgbClr val="C2570C"/>
                </a:solidFill>
              </a:rPr>
              <a:t>Validation  5,000</a:t>
            </a:r>
            <a:r>
              <a:rPr sz="1050" b="0" i="0">
                <a:solidFill>
                  <a:srgbClr val="5B6676"/>
                </a:solidFill>
              </a:rPr>
              <a:t>  picks best epoch + threshold τ</a:t>
            </a:r>
          </a:p>
        </p:txBody>
      </p:sp>
      <p:sp>
        <p:nvSpPr>
          <p:cNvPr id="22" name="Oval 21"/>
          <p:cNvSpPr/>
          <p:nvPr/>
        </p:nvSpPr>
        <p:spPr>
          <a:xfrm>
            <a:off x="7178040" y="3054096"/>
            <a:ext cx="502920" cy="502920"/>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lock_w.png"/>
          <p:cNvPicPr>
            <a:picLocks noChangeAspect="1"/>
          </p:cNvPicPr>
          <p:nvPr/>
        </p:nvPicPr>
        <p:blipFill>
          <a:blip r:embed="rId7"/>
          <a:stretch>
            <a:fillRect/>
          </a:stretch>
        </p:blipFill>
        <p:spPr>
          <a:xfrm>
            <a:off x="7298740" y="3174796"/>
            <a:ext cx="261518" cy="261518"/>
          </a:xfrm>
          <a:prstGeom prst="rect">
            <a:avLst/>
          </a:prstGeom>
        </p:spPr>
      </p:pic>
      <p:sp>
        <p:nvSpPr>
          <p:cNvPr id="24" name="Rounded Rectangle 23"/>
          <p:cNvSpPr/>
          <p:nvPr/>
        </p:nvSpPr>
        <p:spPr>
          <a:xfrm>
            <a:off x="7818120" y="3090672"/>
            <a:ext cx="1124712" cy="219456"/>
          </a:xfrm>
          <a:prstGeom prst="roundRect">
            <a:avLst>
              <a:gd name="adj" fmla="val 50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18120" y="3310128"/>
            <a:ext cx="3566160" cy="274320"/>
          </a:xfrm>
          <a:prstGeom prst="rect">
            <a:avLst/>
          </a:prstGeom>
          <a:noFill/>
        </p:spPr>
        <p:txBody>
          <a:bodyPr wrap="square" lIns="36576" tIns="18288" rIns="36576" bIns="18288" anchor="t">
            <a:spAutoFit/>
          </a:bodyPr>
          <a:lstStyle/>
          <a:p>
            <a:pPr algn="l">
              <a:spcAft>
                <a:spcPts val="200"/>
              </a:spcAft>
            </a:pPr>
            <a:r>
              <a:rPr sz="1200" b="1" i="0">
                <a:solidFill>
                  <a:srgbClr val="518113"/>
                </a:solidFill>
              </a:rPr>
              <a:t>Test  10,000</a:t>
            </a:r>
            <a:r>
              <a:rPr sz="1050" b="0" i="0">
                <a:solidFill>
                  <a:srgbClr val="5B6676"/>
                </a:solidFill>
              </a:rPr>
              <a:t>  final report only - never for tuning</a:t>
            </a:r>
          </a:p>
        </p:txBody>
      </p:sp>
      <p:sp>
        <p:nvSpPr>
          <p:cNvPr id="26" name="TextBox 25"/>
          <p:cNvSpPr txBox="1"/>
          <p:nvPr/>
        </p:nvSpPr>
        <p:spPr>
          <a:xfrm>
            <a:off x="7178040" y="3730752"/>
            <a:ext cx="4206240" cy="27432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Preparation steps</a:t>
            </a:r>
          </a:p>
        </p:txBody>
      </p:sp>
      <p:sp>
        <p:nvSpPr>
          <p:cNvPr id="27" name="Oval 26"/>
          <p:cNvSpPr/>
          <p:nvPr/>
        </p:nvSpPr>
        <p:spPr>
          <a:xfrm>
            <a:off x="7178040" y="4078224"/>
            <a:ext cx="365760" cy="36576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ruler_w.png"/>
          <p:cNvPicPr>
            <a:picLocks noChangeAspect="1"/>
          </p:cNvPicPr>
          <p:nvPr/>
        </p:nvPicPr>
        <p:blipFill>
          <a:blip r:embed="rId8"/>
          <a:stretch>
            <a:fillRect/>
          </a:stretch>
        </p:blipFill>
        <p:spPr>
          <a:xfrm>
            <a:off x="7265822" y="4166006"/>
            <a:ext cx="190195" cy="190195"/>
          </a:xfrm>
          <a:prstGeom prst="rect">
            <a:avLst/>
          </a:prstGeom>
        </p:spPr>
      </p:pic>
      <p:sp>
        <p:nvSpPr>
          <p:cNvPr id="29" name="TextBox 28"/>
          <p:cNvSpPr txBox="1"/>
          <p:nvPr/>
        </p:nvSpPr>
        <p:spPr>
          <a:xfrm>
            <a:off x="7662672" y="4096511"/>
            <a:ext cx="3657600" cy="365760"/>
          </a:xfrm>
          <a:prstGeom prst="rect">
            <a:avLst/>
          </a:prstGeom>
          <a:noFill/>
        </p:spPr>
        <p:txBody>
          <a:bodyPr wrap="square" lIns="36576" tIns="18288" rIns="36576" bIns="18288" anchor="ctr">
            <a:spAutoFit/>
          </a:bodyPr>
          <a:lstStyle/>
          <a:p>
            <a:pPr algn="l">
              <a:spcAft>
                <a:spcPts val="200"/>
              </a:spcAft>
            </a:pPr>
            <a:r>
              <a:rPr sz="1200" b="1" i="0">
                <a:solidFill>
                  <a:srgbClr val="1A1A1A"/>
                </a:solidFill>
              </a:rPr>
              <a:t>Normalise:  </a:t>
            </a:r>
            <a:r>
              <a:rPr sz="1150" b="0" i="0">
                <a:solidFill>
                  <a:srgbClr val="5B6676"/>
                </a:solidFill>
              </a:rPr>
              <a:t>(x − mean) / std per channel</a:t>
            </a:r>
          </a:p>
        </p:txBody>
      </p:sp>
      <p:sp>
        <p:nvSpPr>
          <p:cNvPr id="30" name="Oval 29"/>
          <p:cNvSpPr/>
          <p:nvPr/>
        </p:nvSpPr>
        <p:spPr>
          <a:xfrm>
            <a:off x="7178040" y="4498848"/>
            <a:ext cx="365760" cy="36576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rop_w.png"/>
          <p:cNvPicPr>
            <a:picLocks noChangeAspect="1"/>
          </p:cNvPicPr>
          <p:nvPr/>
        </p:nvPicPr>
        <p:blipFill>
          <a:blip r:embed="rId9"/>
          <a:stretch>
            <a:fillRect/>
          </a:stretch>
        </p:blipFill>
        <p:spPr>
          <a:xfrm>
            <a:off x="7265822" y="4586630"/>
            <a:ext cx="190195" cy="190195"/>
          </a:xfrm>
          <a:prstGeom prst="rect">
            <a:avLst/>
          </a:prstGeom>
        </p:spPr>
      </p:pic>
      <p:sp>
        <p:nvSpPr>
          <p:cNvPr id="32" name="TextBox 31"/>
          <p:cNvSpPr txBox="1"/>
          <p:nvPr/>
        </p:nvSpPr>
        <p:spPr>
          <a:xfrm>
            <a:off x="7662672" y="4517136"/>
            <a:ext cx="3657600" cy="365760"/>
          </a:xfrm>
          <a:prstGeom prst="rect">
            <a:avLst/>
          </a:prstGeom>
          <a:noFill/>
        </p:spPr>
        <p:txBody>
          <a:bodyPr wrap="square" lIns="36576" tIns="18288" rIns="36576" bIns="18288" anchor="ctr">
            <a:spAutoFit/>
          </a:bodyPr>
          <a:lstStyle/>
          <a:p>
            <a:pPr algn="l">
              <a:spcAft>
                <a:spcPts val="200"/>
              </a:spcAft>
            </a:pPr>
            <a:r>
              <a:rPr sz="1200" b="1" i="0">
                <a:solidFill>
                  <a:srgbClr val="1A1A1A"/>
                </a:solidFill>
              </a:rPr>
              <a:t>Random crop:  </a:t>
            </a:r>
            <a:r>
              <a:rPr sz="1150" b="0" i="0">
                <a:solidFill>
                  <a:srgbClr val="5B6676"/>
                </a:solidFill>
              </a:rPr>
              <a:t>pad 4 px, crop 32×32</a:t>
            </a:r>
          </a:p>
        </p:txBody>
      </p:sp>
      <p:sp>
        <p:nvSpPr>
          <p:cNvPr id="33" name="Oval 32"/>
          <p:cNvSpPr/>
          <p:nvPr/>
        </p:nvSpPr>
        <p:spPr>
          <a:xfrm>
            <a:off x="7178040" y="4919472"/>
            <a:ext cx="365760" cy="36576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flip_w.png"/>
          <p:cNvPicPr>
            <a:picLocks noChangeAspect="1"/>
          </p:cNvPicPr>
          <p:nvPr/>
        </p:nvPicPr>
        <p:blipFill>
          <a:blip r:embed="rId10"/>
          <a:stretch>
            <a:fillRect/>
          </a:stretch>
        </p:blipFill>
        <p:spPr>
          <a:xfrm>
            <a:off x="7265822" y="5007254"/>
            <a:ext cx="190195" cy="190195"/>
          </a:xfrm>
          <a:prstGeom prst="rect">
            <a:avLst/>
          </a:prstGeom>
        </p:spPr>
      </p:pic>
      <p:sp>
        <p:nvSpPr>
          <p:cNvPr id="35" name="TextBox 34"/>
          <p:cNvSpPr txBox="1"/>
          <p:nvPr/>
        </p:nvSpPr>
        <p:spPr>
          <a:xfrm>
            <a:off x="7662672" y="4937759"/>
            <a:ext cx="3657600" cy="365760"/>
          </a:xfrm>
          <a:prstGeom prst="rect">
            <a:avLst/>
          </a:prstGeom>
          <a:noFill/>
        </p:spPr>
        <p:txBody>
          <a:bodyPr wrap="square" lIns="36576" tIns="18288" rIns="36576" bIns="18288" anchor="ctr">
            <a:spAutoFit/>
          </a:bodyPr>
          <a:lstStyle/>
          <a:p>
            <a:pPr algn="l">
              <a:spcAft>
                <a:spcPts val="200"/>
              </a:spcAft>
            </a:pPr>
            <a:r>
              <a:rPr sz="1200" b="1" i="0">
                <a:solidFill>
                  <a:srgbClr val="1A1A1A"/>
                </a:solidFill>
              </a:rPr>
              <a:t>Horizontal flip:  </a:t>
            </a:r>
            <a:r>
              <a:rPr sz="1150" b="0" i="0">
                <a:solidFill>
                  <a:srgbClr val="5B6676"/>
                </a:solidFill>
              </a:rPr>
              <a:t>50% chance, train only</a:t>
            </a:r>
          </a:p>
        </p:txBody>
      </p:sp>
      <p:sp>
        <p:nvSpPr>
          <p:cNvPr id="36" name="Rounded Rectangle 35"/>
          <p:cNvSpPr/>
          <p:nvPr/>
        </p:nvSpPr>
        <p:spPr>
          <a:xfrm>
            <a:off x="841248" y="5349240"/>
            <a:ext cx="10515600" cy="54864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005840" y="5349240"/>
            <a:ext cx="10149840" cy="548640"/>
          </a:xfrm>
          <a:prstGeom prst="rect">
            <a:avLst/>
          </a:prstGeom>
          <a:noFill/>
        </p:spPr>
        <p:txBody>
          <a:bodyPr wrap="square" lIns="36576" tIns="18288" rIns="36576" bIns="18288" anchor="ctr">
            <a:spAutoFit/>
          </a:bodyPr>
          <a:lstStyle/>
          <a:p>
            <a:pPr algn="l">
              <a:spcAft>
                <a:spcPts val="200"/>
              </a:spcAft>
            </a:pPr>
            <a:r>
              <a:rPr sz="1200" b="1" i="0">
                <a:solidFill>
                  <a:srgbClr val="C2570C"/>
                </a:solidFill>
              </a:rPr>
              <a:t>Rule: </a:t>
            </a:r>
            <a:r>
              <a:rPr sz="1200" b="0" i="0">
                <a:solidFill>
                  <a:srgbClr val="1A1A1A"/>
                </a:solidFill>
              </a:rPr>
              <a:t>the validation split is fixed with its own seed (42) for every run; the test set is touched only once, for the final numbers. Augmentation is applied to training images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3 Stages, 3 Exits</a:t>
            </a:r>
          </a:p>
        </p:txBody>
      </p:sp>
      <p:sp>
        <p:nvSpPr>
          <p:cNvPr id="3" name="Slide Number Placeholder 2"/>
          <p:cNvSpPr>
            <a:spLocks noGrp="1"/>
          </p:cNvSpPr>
          <p:nvPr>
            <p:ph type="sldNum" sz="quarter" idx="12"/>
          </p:nvPr>
        </p:nvSpPr>
        <p:spPr/>
        <p:txBody>
          <a:bodyPr/>
          <a:lstStyle/>
          <a:p>
            <a:fld id="{B6F15528-21DE-4FAA-801E-634DDDAF4B2B}" type="slidenum">
              <a:rPr lang="en-US"/>
              <a:t>5</a:t>
            </a:fld>
            <a:endParaRPr lang="en-US"/>
          </a:p>
        </p:txBody>
      </p:sp>
      <p:pic>
        <p:nvPicPr>
          <p:cNvPr id="4" name="Picture 3" descr="arch3d.png"/>
          <p:cNvPicPr>
            <a:picLocks noChangeAspect="1"/>
          </p:cNvPicPr>
          <p:nvPr/>
        </p:nvPicPr>
        <p:blipFill>
          <a:blip r:embed="rId3"/>
          <a:stretch>
            <a:fillRect/>
          </a:stretch>
        </p:blipFill>
        <p:spPr>
          <a:xfrm>
            <a:off x="914400" y="1234440"/>
            <a:ext cx="10332720" cy="3972671"/>
          </a:xfrm>
          <a:prstGeom prst="rect">
            <a:avLst/>
          </a:prstGeom>
        </p:spPr>
      </p:pic>
      <p:sp>
        <p:nvSpPr>
          <p:cNvPr id="5" name="Rounded Rectangle 4"/>
          <p:cNvSpPr/>
          <p:nvPr/>
        </p:nvSpPr>
        <p:spPr>
          <a:xfrm>
            <a:off x="841248" y="5230368"/>
            <a:ext cx="1956816" cy="73152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4400" y="5230368"/>
            <a:ext cx="896112" cy="731520"/>
          </a:xfrm>
          <a:prstGeom prst="rect">
            <a:avLst/>
          </a:prstGeom>
          <a:noFill/>
        </p:spPr>
        <p:txBody>
          <a:bodyPr wrap="square" lIns="36576" tIns="18288" rIns="36576" bIns="18288" anchor="ctr">
            <a:spAutoFit/>
          </a:bodyPr>
          <a:lstStyle/>
          <a:p>
            <a:pPr algn="l">
              <a:spcAft>
                <a:spcPts val="200"/>
              </a:spcAft>
            </a:pPr>
            <a:r>
              <a:rPr sz="1700" b="1" i="0">
                <a:solidFill>
                  <a:srgbClr val="2A55A1"/>
                </a:solidFill>
              </a:rPr>
              <a:t>1.38 M</a:t>
            </a:r>
          </a:p>
        </p:txBody>
      </p:sp>
      <p:sp>
        <p:nvSpPr>
          <p:cNvPr id="7" name="TextBox 6"/>
          <p:cNvSpPr txBox="1"/>
          <p:nvPr/>
        </p:nvSpPr>
        <p:spPr>
          <a:xfrm>
            <a:off x="1755648" y="5230368"/>
            <a:ext cx="1005840" cy="731520"/>
          </a:xfrm>
          <a:prstGeom prst="rect">
            <a:avLst/>
          </a:prstGeom>
          <a:noFill/>
        </p:spPr>
        <p:txBody>
          <a:bodyPr wrap="square" lIns="36576" tIns="18288" rIns="36576" bIns="18288" anchor="ctr">
            <a:spAutoFit/>
          </a:bodyPr>
          <a:lstStyle/>
          <a:p>
            <a:pPr algn="l">
              <a:spcAft>
                <a:spcPts val="200"/>
              </a:spcAft>
            </a:pPr>
            <a:r>
              <a:rPr sz="950" b="0" i="0">
                <a:solidFill>
                  <a:srgbClr val="5B6676"/>
                </a:solidFill>
              </a:rPr>
              <a:t>parameters (multi-exit)</a:t>
            </a:r>
          </a:p>
        </p:txBody>
      </p:sp>
      <p:sp>
        <p:nvSpPr>
          <p:cNvPr id="8" name="Rounded Rectangle 7"/>
          <p:cNvSpPr/>
          <p:nvPr/>
        </p:nvSpPr>
        <p:spPr>
          <a:xfrm>
            <a:off x="2980944" y="5230368"/>
            <a:ext cx="1956816" cy="73152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054096" y="5230368"/>
            <a:ext cx="896112" cy="731520"/>
          </a:xfrm>
          <a:prstGeom prst="rect">
            <a:avLst/>
          </a:prstGeom>
          <a:noFill/>
        </p:spPr>
        <p:txBody>
          <a:bodyPr wrap="square" lIns="36576" tIns="18288" rIns="36576" bIns="18288" anchor="ctr">
            <a:spAutoFit/>
          </a:bodyPr>
          <a:lstStyle/>
          <a:p>
            <a:pPr algn="l">
              <a:spcAft>
                <a:spcPts val="200"/>
              </a:spcAft>
            </a:pPr>
            <a:r>
              <a:rPr sz="1700" b="1" i="0">
                <a:solidFill>
                  <a:srgbClr val="C2570C"/>
                </a:solidFill>
              </a:rPr>
              <a:t>26%</a:t>
            </a:r>
          </a:p>
        </p:txBody>
      </p:sp>
      <p:sp>
        <p:nvSpPr>
          <p:cNvPr id="10" name="TextBox 9"/>
          <p:cNvSpPr txBox="1"/>
          <p:nvPr/>
        </p:nvSpPr>
        <p:spPr>
          <a:xfrm>
            <a:off x="3895344" y="5230368"/>
            <a:ext cx="1005840" cy="731520"/>
          </a:xfrm>
          <a:prstGeom prst="rect">
            <a:avLst/>
          </a:prstGeom>
          <a:noFill/>
        </p:spPr>
        <p:txBody>
          <a:bodyPr wrap="square" lIns="36576" tIns="18288" rIns="36576" bIns="18288" anchor="ctr">
            <a:spAutoFit/>
          </a:bodyPr>
          <a:lstStyle/>
          <a:p>
            <a:pPr algn="l">
              <a:spcAft>
                <a:spcPts val="200"/>
              </a:spcAft>
            </a:pPr>
            <a:r>
              <a:rPr sz="950" b="0" i="0">
                <a:solidFill>
                  <a:srgbClr val="5B6676"/>
                </a:solidFill>
              </a:rPr>
              <a:t>of compute to reach Exit 1</a:t>
            </a:r>
          </a:p>
        </p:txBody>
      </p:sp>
      <p:sp>
        <p:nvSpPr>
          <p:cNvPr id="11" name="Rounded Rectangle 10"/>
          <p:cNvSpPr/>
          <p:nvPr/>
        </p:nvSpPr>
        <p:spPr>
          <a:xfrm>
            <a:off x="5120640" y="5230368"/>
            <a:ext cx="1956816" cy="73152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193792" y="5230368"/>
            <a:ext cx="896112" cy="731520"/>
          </a:xfrm>
          <a:prstGeom prst="rect">
            <a:avLst/>
          </a:prstGeom>
          <a:noFill/>
        </p:spPr>
        <p:txBody>
          <a:bodyPr wrap="square" lIns="36576" tIns="18288" rIns="36576" bIns="18288" anchor="ctr">
            <a:spAutoFit/>
          </a:bodyPr>
          <a:lstStyle/>
          <a:p>
            <a:pPr algn="l">
              <a:spcAft>
                <a:spcPts val="200"/>
              </a:spcAft>
            </a:pPr>
            <a:r>
              <a:rPr sz="1700" b="1" i="0">
                <a:solidFill>
                  <a:srgbClr val="C2570C"/>
                </a:solidFill>
              </a:rPr>
              <a:t>63%</a:t>
            </a:r>
          </a:p>
        </p:txBody>
      </p:sp>
      <p:sp>
        <p:nvSpPr>
          <p:cNvPr id="13" name="TextBox 12"/>
          <p:cNvSpPr txBox="1"/>
          <p:nvPr/>
        </p:nvSpPr>
        <p:spPr>
          <a:xfrm>
            <a:off x="6035040" y="5230368"/>
            <a:ext cx="1005840" cy="731520"/>
          </a:xfrm>
          <a:prstGeom prst="rect">
            <a:avLst/>
          </a:prstGeom>
          <a:noFill/>
        </p:spPr>
        <p:txBody>
          <a:bodyPr wrap="square" lIns="36576" tIns="18288" rIns="36576" bIns="18288" anchor="ctr">
            <a:spAutoFit/>
          </a:bodyPr>
          <a:lstStyle/>
          <a:p>
            <a:pPr algn="l">
              <a:spcAft>
                <a:spcPts val="200"/>
              </a:spcAft>
            </a:pPr>
            <a:r>
              <a:rPr sz="950" b="0" i="0">
                <a:solidFill>
                  <a:srgbClr val="5B6676"/>
                </a:solidFill>
              </a:rPr>
              <a:t>of compute to reach Exit 2</a:t>
            </a:r>
          </a:p>
        </p:txBody>
      </p:sp>
      <p:sp>
        <p:nvSpPr>
          <p:cNvPr id="14" name="Rounded Rectangle 13"/>
          <p:cNvSpPr/>
          <p:nvPr/>
        </p:nvSpPr>
        <p:spPr>
          <a:xfrm>
            <a:off x="7260336" y="5230368"/>
            <a:ext cx="1956816" cy="73152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33488" y="5230368"/>
            <a:ext cx="896112" cy="731520"/>
          </a:xfrm>
          <a:prstGeom prst="rect">
            <a:avLst/>
          </a:prstGeom>
          <a:noFill/>
        </p:spPr>
        <p:txBody>
          <a:bodyPr wrap="square" lIns="36576" tIns="18288" rIns="36576" bIns="18288" anchor="ctr">
            <a:spAutoFit/>
          </a:bodyPr>
          <a:lstStyle/>
          <a:p>
            <a:pPr algn="l">
              <a:spcAft>
                <a:spcPts val="200"/>
              </a:spcAft>
            </a:pPr>
            <a:r>
              <a:rPr sz="1700" b="1" i="0">
                <a:solidFill>
                  <a:srgbClr val="518113"/>
                </a:solidFill>
              </a:rPr>
              <a:t>100%</a:t>
            </a:r>
          </a:p>
        </p:txBody>
      </p:sp>
      <p:sp>
        <p:nvSpPr>
          <p:cNvPr id="16" name="TextBox 15"/>
          <p:cNvSpPr txBox="1"/>
          <p:nvPr/>
        </p:nvSpPr>
        <p:spPr>
          <a:xfrm>
            <a:off x="8174736" y="5230368"/>
            <a:ext cx="1005840" cy="731520"/>
          </a:xfrm>
          <a:prstGeom prst="rect">
            <a:avLst/>
          </a:prstGeom>
          <a:noFill/>
        </p:spPr>
        <p:txBody>
          <a:bodyPr wrap="square" lIns="36576" tIns="18288" rIns="36576" bIns="18288" anchor="ctr">
            <a:spAutoFit/>
          </a:bodyPr>
          <a:lstStyle/>
          <a:p>
            <a:pPr algn="l">
              <a:spcAft>
                <a:spcPts val="200"/>
              </a:spcAft>
            </a:pPr>
            <a:r>
              <a:rPr sz="950" b="0" i="0">
                <a:solidFill>
                  <a:srgbClr val="5B6676"/>
                </a:solidFill>
              </a:rPr>
              <a:t>full network = 153 M MACs</a:t>
            </a:r>
          </a:p>
        </p:txBody>
      </p:sp>
      <p:sp>
        <p:nvSpPr>
          <p:cNvPr id="17" name="Rounded Rectangle 16"/>
          <p:cNvSpPr/>
          <p:nvPr/>
        </p:nvSpPr>
        <p:spPr>
          <a:xfrm>
            <a:off x="9400032" y="5230368"/>
            <a:ext cx="1956816" cy="73152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473184" y="5230368"/>
            <a:ext cx="896112" cy="731520"/>
          </a:xfrm>
          <a:prstGeom prst="rect">
            <a:avLst/>
          </a:prstGeom>
          <a:noFill/>
        </p:spPr>
        <p:txBody>
          <a:bodyPr wrap="square" lIns="36576" tIns="18288" rIns="36576" bIns="18288" anchor="ctr">
            <a:spAutoFit/>
          </a:bodyPr>
          <a:lstStyle/>
          <a:p>
            <a:pPr algn="l">
              <a:spcAft>
                <a:spcPts val="200"/>
              </a:spcAft>
            </a:pPr>
            <a:r>
              <a:rPr sz="1700" b="1" i="0">
                <a:solidFill>
                  <a:srgbClr val="2A55A1"/>
                </a:solidFill>
              </a:rPr>
              <a:t>+0.07%</a:t>
            </a:r>
          </a:p>
        </p:txBody>
      </p:sp>
      <p:sp>
        <p:nvSpPr>
          <p:cNvPr id="19" name="TextBox 18"/>
          <p:cNvSpPr txBox="1"/>
          <p:nvPr/>
        </p:nvSpPr>
        <p:spPr>
          <a:xfrm>
            <a:off x="10314432" y="5230368"/>
            <a:ext cx="1005840" cy="731520"/>
          </a:xfrm>
          <a:prstGeom prst="rect">
            <a:avLst/>
          </a:prstGeom>
          <a:noFill/>
        </p:spPr>
        <p:txBody>
          <a:bodyPr wrap="square" lIns="36576" tIns="18288" rIns="36576" bIns="18288" anchor="ctr">
            <a:spAutoFit/>
          </a:bodyPr>
          <a:lstStyle/>
          <a:p>
            <a:pPr algn="l">
              <a:spcAft>
                <a:spcPts val="200"/>
              </a:spcAft>
            </a:pPr>
            <a:r>
              <a:rPr sz="950" b="0" i="0">
                <a:solidFill>
                  <a:srgbClr val="5B6676"/>
                </a:solidFill>
              </a:rPr>
              <a:t>compute added by the 2 extra heads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One Loss, Three Exits</a:t>
            </a:r>
          </a:p>
        </p:txBody>
      </p:sp>
      <p:sp>
        <p:nvSpPr>
          <p:cNvPr id="3" name="Slide Number Placeholder 2"/>
          <p:cNvSpPr>
            <a:spLocks noGrp="1"/>
          </p:cNvSpPr>
          <p:nvPr>
            <p:ph type="sldNum" sz="quarter" idx="12"/>
          </p:nvPr>
        </p:nvSpPr>
        <p:spPr/>
        <p:txBody>
          <a:bodyPr/>
          <a:lstStyle/>
          <a:p>
            <a:fld id="{B6F15528-21DE-4FAA-801E-634DDDAF4B2B}" type="slidenum">
              <a:rPr lang="en-US"/>
              <a:t>6</a:t>
            </a:fld>
            <a:endParaRPr lang="en-US"/>
          </a:p>
        </p:txBody>
      </p:sp>
      <p:sp>
        <p:nvSpPr>
          <p:cNvPr id="4" name="Rounded Rectangle 3"/>
          <p:cNvSpPr/>
          <p:nvPr/>
        </p:nvSpPr>
        <p:spPr>
          <a:xfrm>
            <a:off x="841248" y="1325880"/>
            <a:ext cx="5486400" cy="1600200"/>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24128" y="1399032"/>
            <a:ext cx="5120640" cy="320040"/>
          </a:xfrm>
          <a:prstGeom prst="rect">
            <a:avLst/>
          </a:prstGeom>
          <a:noFill/>
        </p:spPr>
        <p:txBody>
          <a:bodyPr wrap="square" lIns="36576" tIns="18288" rIns="36576" bIns="18288" anchor="t">
            <a:spAutoFit/>
          </a:bodyPr>
          <a:lstStyle/>
          <a:p>
            <a:pPr algn="l">
              <a:spcAft>
                <a:spcPts val="200"/>
              </a:spcAft>
            </a:pPr>
            <a:r>
              <a:rPr sz="1300" b="1" i="0">
                <a:solidFill>
                  <a:srgbClr val="518113"/>
                </a:solidFill>
              </a:rPr>
              <a:t>Multi-exit loss (all exits learn together)</a:t>
            </a:r>
          </a:p>
        </p:txBody>
      </p:sp>
      <p:sp>
        <p:nvSpPr>
          <p:cNvPr id="6" name="TextBox 5"/>
          <p:cNvSpPr txBox="1"/>
          <p:nvPr/>
        </p:nvSpPr>
        <p:spPr>
          <a:xfrm>
            <a:off x="1024128" y="1737360"/>
            <a:ext cx="5120640" cy="457200"/>
          </a:xfrm>
          <a:prstGeom prst="rect">
            <a:avLst/>
          </a:prstGeom>
          <a:noFill/>
        </p:spPr>
        <p:txBody>
          <a:bodyPr wrap="square" lIns="36576" tIns="18288" rIns="36576" bIns="18288" anchor="t">
            <a:spAutoFit/>
          </a:bodyPr>
          <a:lstStyle/>
          <a:p>
            <a:pPr algn="l">
              <a:spcAft>
                <a:spcPts val="200"/>
              </a:spcAft>
            </a:pPr>
            <a:r>
              <a:rPr sz="1900" b="1" i="0">
                <a:solidFill>
                  <a:srgbClr val="1A1A1A"/>
                </a:solidFill>
                <a:latin typeface="Cambria"/>
              </a:rPr>
              <a:t>L</a:t>
            </a:r>
            <a:r>
              <a:rPr sz="1900" b="1" i="0" baseline="-25000">
                <a:solidFill>
                  <a:srgbClr val="1A1A1A"/>
                </a:solidFill>
                <a:latin typeface="Cambria"/>
              </a:rPr>
              <a:t>total</a:t>
            </a:r>
            <a:r>
              <a:rPr sz="1900" b="0" i="0">
                <a:solidFill>
                  <a:srgbClr val="1A1A1A"/>
                </a:solidFill>
                <a:latin typeface="Cambria"/>
              </a:rPr>
              <a:t>  =  w</a:t>
            </a:r>
            <a:r>
              <a:rPr sz="1900" b="0" i="0" baseline="-25000">
                <a:solidFill>
                  <a:srgbClr val="1A1A1A"/>
                </a:solidFill>
                <a:latin typeface="Cambria"/>
              </a:rPr>
              <a:t>1</a:t>
            </a:r>
            <a:r>
              <a:rPr sz="1900" b="0" i="0">
                <a:solidFill>
                  <a:srgbClr val="1A1A1A"/>
                </a:solidFill>
                <a:latin typeface="Cambria"/>
              </a:rPr>
              <a:t>·L</a:t>
            </a:r>
            <a:r>
              <a:rPr sz="1900" b="0" i="0" baseline="-25000">
                <a:solidFill>
                  <a:srgbClr val="1A1A1A"/>
                </a:solidFill>
                <a:latin typeface="Cambria"/>
              </a:rPr>
              <a:t>exit1</a:t>
            </a:r>
            <a:r>
              <a:rPr sz="1900" b="0" i="0">
                <a:solidFill>
                  <a:srgbClr val="1A1A1A"/>
                </a:solidFill>
                <a:latin typeface="Cambria"/>
              </a:rPr>
              <a:t>  +  w</a:t>
            </a:r>
            <a:r>
              <a:rPr sz="1900" b="0" i="0" baseline="-25000">
                <a:solidFill>
                  <a:srgbClr val="1A1A1A"/>
                </a:solidFill>
                <a:latin typeface="Cambria"/>
              </a:rPr>
              <a:t>2</a:t>
            </a:r>
            <a:r>
              <a:rPr sz="1900" b="0" i="0">
                <a:solidFill>
                  <a:srgbClr val="1A1A1A"/>
                </a:solidFill>
                <a:latin typeface="Cambria"/>
              </a:rPr>
              <a:t>·L</a:t>
            </a:r>
            <a:r>
              <a:rPr sz="1900" b="0" i="0" baseline="-25000">
                <a:solidFill>
                  <a:srgbClr val="1A1A1A"/>
                </a:solidFill>
                <a:latin typeface="Cambria"/>
              </a:rPr>
              <a:t>exit2</a:t>
            </a:r>
            <a:r>
              <a:rPr sz="1900" b="0" i="0">
                <a:solidFill>
                  <a:srgbClr val="1A1A1A"/>
                </a:solidFill>
                <a:latin typeface="Cambria"/>
              </a:rPr>
              <a:t>  +  w</a:t>
            </a:r>
            <a:r>
              <a:rPr sz="1900" b="0" i="0" baseline="-25000">
                <a:solidFill>
                  <a:srgbClr val="1A1A1A"/>
                </a:solidFill>
                <a:latin typeface="Cambria"/>
              </a:rPr>
              <a:t>3</a:t>
            </a:r>
            <a:r>
              <a:rPr sz="1900" b="0" i="0">
                <a:solidFill>
                  <a:srgbClr val="1A1A1A"/>
                </a:solidFill>
                <a:latin typeface="Cambria"/>
              </a:rPr>
              <a:t>·L</a:t>
            </a:r>
            <a:r>
              <a:rPr sz="1900" b="0" i="0" baseline="-25000">
                <a:solidFill>
                  <a:srgbClr val="1A1A1A"/>
                </a:solidFill>
                <a:latin typeface="Cambria"/>
              </a:rPr>
              <a:t>exit3</a:t>
            </a:r>
          </a:p>
        </p:txBody>
      </p:sp>
      <p:sp>
        <p:nvSpPr>
          <p:cNvPr id="7" name="TextBox 6"/>
          <p:cNvSpPr txBox="1"/>
          <p:nvPr/>
        </p:nvSpPr>
        <p:spPr>
          <a:xfrm>
            <a:off x="1024128" y="2240280"/>
            <a:ext cx="5120640" cy="640080"/>
          </a:xfrm>
          <a:prstGeom prst="rect">
            <a:avLst/>
          </a:prstGeom>
          <a:noFill/>
        </p:spPr>
        <p:txBody>
          <a:bodyPr wrap="square" lIns="36576" tIns="18288" rIns="36576" bIns="18288" anchor="t">
            <a:spAutoFit/>
          </a:bodyPr>
          <a:lstStyle/>
          <a:p>
            <a:pPr algn="l">
              <a:spcAft>
                <a:spcPts val="200"/>
              </a:spcAft>
            </a:pPr>
            <a:r>
              <a:rPr sz="1150" b="0" i="0">
                <a:solidFill>
                  <a:srgbClr val="5B6676"/>
                </a:solidFill>
              </a:rPr>
              <a:t>Each L is cross-entropy; weights w = (1, 1, 1). Stage 1 gets feedback from all three heads, Stage 3 only from the final head.</a:t>
            </a:r>
          </a:p>
        </p:txBody>
      </p:sp>
      <p:sp>
        <p:nvSpPr>
          <p:cNvPr id="8" name="Rounded Rectangle 7"/>
          <p:cNvSpPr/>
          <p:nvPr/>
        </p:nvSpPr>
        <p:spPr>
          <a:xfrm>
            <a:off x="841248" y="309067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400" y="309067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Optimizer  </a:t>
            </a:r>
            <a:r>
              <a:rPr sz="1200" b="1" i="0">
                <a:solidFill>
                  <a:srgbClr val="2A55A1"/>
                </a:solidFill>
              </a:rPr>
              <a:t>Adam</a:t>
            </a:r>
          </a:p>
        </p:txBody>
      </p:sp>
      <p:sp>
        <p:nvSpPr>
          <p:cNvPr id="10" name="Rounded Rectangle 9"/>
          <p:cNvSpPr/>
          <p:nvPr/>
        </p:nvSpPr>
        <p:spPr>
          <a:xfrm>
            <a:off x="3639312" y="309067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712463" y="309067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Learning rate  </a:t>
            </a:r>
            <a:r>
              <a:rPr sz="1200" b="1" i="0">
                <a:solidFill>
                  <a:srgbClr val="2A55A1"/>
                </a:solidFill>
              </a:rPr>
              <a:t>0.001</a:t>
            </a:r>
          </a:p>
        </p:txBody>
      </p:sp>
      <p:sp>
        <p:nvSpPr>
          <p:cNvPr id="12" name="Rounded Rectangle 11"/>
          <p:cNvSpPr/>
          <p:nvPr/>
        </p:nvSpPr>
        <p:spPr>
          <a:xfrm>
            <a:off x="841248" y="3593591"/>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14400" y="3593591"/>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LR schedule  </a:t>
            </a:r>
            <a:r>
              <a:rPr sz="1200" b="1" i="0">
                <a:solidFill>
                  <a:srgbClr val="2A55A1"/>
                </a:solidFill>
              </a:rPr>
              <a:t>cosine → 0</a:t>
            </a:r>
          </a:p>
        </p:txBody>
      </p:sp>
      <p:sp>
        <p:nvSpPr>
          <p:cNvPr id="14" name="Rounded Rectangle 13"/>
          <p:cNvSpPr/>
          <p:nvPr/>
        </p:nvSpPr>
        <p:spPr>
          <a:xfrm>
            <a:off x="3639312" y="3593591"/>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12463" y="3593591"/>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Batch size  </a:t>
            </a:r>
            <a:r>
              <a:rPr sz="1200" b="1" i="0">
                <a:solidFill>
                  <a:srgbClr val="2A55A1"/>
                </a:solidFill>
              </a:rPr>
              <a:t>128</a:t>
            </a:r>
          </a:p>
        </p:txBody>
      </p:sp>
      <p:sp>
        <p:nvSpPr>
          <p:cNvPr id="16" name="Rounded Rectangle 15"/>
          <p:cNvSpPr/>
          <p:nvPr/>
        </p:nvSpPr>
        <p:spPr>
          <a:xfrm>
            <a:off x="841248" y="409651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14400" y="409651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Epochs  </a:t>
            </a:r>
            <a:r>
              <a:rPr sz="1200" b="1" i="0">
                <a:solidFill>
                  <a:srgbClr val="2A55A1"/>
                </a:solidFill>
              </a:rPr>
              <a:t>30</a:t>
            </a:r>
          </a:p>
        </p:txBody>
      </p:sp>
      <p:sp>
        <p:nvSpPr>
          <p:cNvPr id="18" name="Rounded Rectangle 17"/>
          <p:cNvSpPr/>
          <p:nvPr/>
        </p:nvSpPr>
        <p:spPr>
          <a:xfrm>
            <a:off x="3639312" y="409651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712463" y="409651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Dropout  </a:t>
            </a:r>
            <a:r>
              <a:rPr sz="1200" b="1" i="0">
                <a:solidFill>
                  <a:srgbClr val="2A55A1"/>
                </a:solidFill>
              </a:rPr>
              <a:t>0.3</a:t>
            </a:r>
          </a:p>
        </p:txBody>
      </p:sp>
      <p:sp>
        <p:nvSpPr>
          <p:cNvPr id="20" name="Rounded Rectangle 19"/>
          <p:cNvSpPr/>
          <p:nvPr/>
        </p:nvSpPr>
        <p:spPr>
          <a:xfrm>
            <a:off x="841248" y="459943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14400" y="459943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Weight decay  </a:t>
            </a:r>
            <a:r>
              <a:rPr sz="1200" b="1" i="0">
                <a:solidFill>
                  <a:srgbClr val="2A55A1"/>
                </a:solidFill>
              </a:rPr>
              <a:t>1e-4</a:t>
            </a:r>
          </a:p>
        </p:txBody>
      </p:sp>
      <p:sp>
        <p:nvSpPr>
          <p:cNvPr id="22" name="Rounded Rectangle 21"/>
          <p:cNvSpPr/>
          <p:nvPr/>
        </p:nvSpPr>
        <p:spPr>
          <a:xfrm>
            <a:off x="3639312" y="4599432"/>
            <a:ext cx="2688336" cy="411480"/>
          </a:xfrm>
          <a:prstGeom prst="roundRect">
            <a:avLst>
              <a:gd name="adj" fmla="val 1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712463" y="4599432"/>
            <a:ext cx="2542032" cy="41148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Seeds  </a:t>
            </a:r>
            <a:r>
              <a:rPr sz="1200" b="1" i="0">
                <a:solidFill>
                  <a:srgbClr val="2A55A1"/>
                </a:solidFill>
              </a:rPr>
              <a:t>0, 1, 2</a:t>
            </a:r>
          </a:p>
        </p:txBody>
      </p:sp>
      <p:sp>
        <p:nvSpPr>
          <p:cNvPr id="24" name="Rounded Rectangle 23"/>
          <p:cNvSpPr/>
          <p:nvPr/>
        </p:nvSpPr>
        <p:spPr>
          <a:xfrm>
            <a:off x="841248" y="5120640"/>
            <a:ext cx="5486400" cy="822960"/>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78408" y="5257800"/>
            <a:ext cx="548640" cy="54864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save_w.png"/>
          <p:cNvPicPr>
            <a:picLocks noChangeAspect="1"/>
          </p:cNvPicPr>
          <p:nvPr/>
        </p:nvPicPr>
        <p:blipFill>
          <a:blip r:embed="rId3"/>
          <a:stretch>
            <a:fillRect/>
          </a:stretch>
        </p:blipFill>
        <p:spPr>
          <a:xfrm>
            <a:off x="1110081" y="5389473"/>
            <a:ext cx="285292" cy="285292"/>
          </a:xfrm>
          <a:prstGeom prst="rect">
            <a:avLst/>
          </a:prstGeom>
        </p:spPr>
      </p:pic>
      <p:sp>
        <p:nvSpPr>
          <p:cNvPr id="27" name="TextBox 26"/>
          <p:cNvSpPr txBox="1"/>
          <p:nvPr/>
        </p:nvSpPr>
        <p:spPr>
          <a:xfrm>
            <a:off x="1645920" y="5138928"/>
            <a:ext cx="4572000" cy="786384"/>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Best checkpoint</a:t>
            </a:r>
            <a:r>
              <a:rPr sz="1150" b="0" i="0">
                <a:solidFill>
                  <a:srgbClr val="5B6676"/>
                </a:solidFill>
              </a:rPr>
              <a:t> = highest Exit-3 validation accuracy (same rule for both models). Trained on RTX 5060: ~6-12 s per epoch, &lt; 1 GB GPU memory.</a:t>
            </a:r>
          </a:p>
        </p:txBody>
      </p:sp>
      <p:graphicFrame>
        <p:nvGraphicFramePr>
          <p:cNvPr id="28" name="Chart 27"/>
          <p:cNvGraphicFramePr>
            <a:graphicFrameLocks noGrp="1"/>
          </p:cNvGraphicFramePr>
          <p:nvPr/>
        </p:nvGraphicFramePr>
        <p:xfrm>
          <a:off x="6537960" y="1280160"/>
          <a:ext cx="4846320" cy="4709160"/>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Box 28"/>
          <p:cNvSpPr txBox="1"/>
          <p:nvPr/>
        </p:nvSpPr>
        <p:spPr>
          <a:xfrm>
            <a:off x="6537960" y="5870448"/>
            <a:ext cx="4846320" cy="228600"/>
          </a:xfrm>
          <a:prstGeom prst="rect">
            <a:avLst/>
          </a:prstGeom>
          <a:noFill/>
        </p:spPr>
        <p:txBody>
          <a:bodyPr wrap="square" lIns="36576" tIns="18288" rIns="36576" bIns="18288" anchor="t">
            <a:spAutoFit/>
          </a:bodyPr>
          <a:lstStyle/>
          <a:p>
            <a:pPr algn="ctr">
              <a:spcAft>
                <a:spcPts val="200"/>
              </a:spcAft>
            </a:pPr>
            <a:r>
              <a:rPr sz="950" b="0" i="0">
                <a:solidFill>
                  <a:srgbClr val="5B6676"/>
                </a:solidFill>
              </a:rPr>
              <a:t>x-axis: epoch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Inference: Think … or Stop?</a:t>
            </a:r>
          </a:p>
        </p:txBody>
      </p:sp>
      <p:sp>
        <p:nvSpPr>
          <p:cNvPr id="3" name="Slide Number Placeholder 2"/>
          <p:cNvSpPr>
            <a:spLocks noGrp="1"/>
          </p:cNvSpPr>
          <p:nvPr>
            <p:ph type="sldNum" sz="quarter" idx="12"/>
          </p:nvPr>
        </p:nvSpPr>
        <p:spPr/>
        <p:txBody>
          <a:bodyPr/>
          <a:lstStyle/>
          <a:p>
            <a:fld id="{B6F15528-21DE-4FAA-801E-634DDDAF4B2B}" type="slidenum">
              <a:rPr lang="en-US"/>
              <a:t>7</a:t>
            </a:fld>
            <a:endParaRPr lang="en-US"/>
          </a:p>
        </p:txBody>
      </p:sp>
      <p:sp>
        <p:nvSpPr>
          <p:cNvPr id="4" name="Rounded Rectangle 3"/>
          <p:cNvSpPr/>
          <p:nvPr/>
        </p:nvSpPr>
        <p:spPr>
          <a:xfrm>
            <a:off x="868680" y="1417320"/>
            <a:ext cx="1234440" cy="64008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1417320"/>
            <a:ext cx="1234440" cy="640080"/>
          </a:xfrm>
          <a:prstGeom prst="rect">
            <a:avLst/>
          </a:prstGeom>
          <a:noFill/>
        </p:spPr>
        <p:txBody>
          <a:bodyPr wrap="square" lIns="36576" tIns="18288" rIns="36576" bIns="18288" anchor="ctr">
            <a:spAutoFit/>
          </a:bodyPr>
          <a:lstStyle/>
          <a:p>
            <a:pPr algn="ctr">
              <a:spcAft>
                <a:spcPts val="200"/>
              </a:spcAft>
            </a:pPr>
            <a:r>
              <a:rPr sz="1200" b="1" i="0">
                <a:solidFill>
                  <a:srgbClr val="FFFFFF"/>
                </a:solidFill>
              </a:rPr>
              <a:t>Stage 1</a:t>
            </a:r>
          </a:p>
        </p:txBody>
      </p:sp>
      <p:cxnSp>
        <p:nvCxnSpPr>
          <p:cNvPr id="6" name="Connector 5"/>
          <p:cNvCxnSpPr/>
          <p:nvPr/>
        </p:nvCxnSpPr>
        <p:spPr>
          <a:xfrm>
            <a:off x="2121408" y="1737360"/>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23160" y="1417320"/>
            <a:ext cx="1600200" cy="640080"/>
          </a:xfrm>
          <a:prstGeom prst="roundRect">
            <a:avLst>
              <a:gd name="adj" fmla="val 15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423160" y="1417320"/>
            <a:ext cx="1600200" cy="640080"/>
          </a:xfrm>
          <a:prstGeom prst="rect">
            <a:avLst/>
          </a:prstGeom>
          <a:noFill/>
        </p:spPr>
        <p:txBody>
          <a:bodyPr wrap="square" lIns="36576" tIns="18288" rIns="36576" bIns="18288" anchor="ctr">
            <a:spAutoFit/>
          </a:bodyPr>
          <a:lstStyle/>
          <a:p>
            <a:pPr algn="ctr">
              <a:spcAft>
                <a:spcPts val="200"/>
              </a:spcAft>
            </a:pPr>
            <a:r>
              <a:rPr sz="1150" b="1" i="0">
                <a:solidFill>
                  <a:srgbClr val="FFFFFF"/>
                </a:solidFill>
              </a:rPr>
              <a:t>Exit 1 + softmax</a:t>
            </a:r>
          </a:p>
        </p:txBody>
      </p:sp>
      <p:cxnSp>
        <p:nvCxnSpPr>
          <p:cNvPr id="9" name="Connector 8"/>
          <p:cNvCxnSpPr/>
          <p:nvPr/>
        </p:nvCxnSpPr>
        <p:spPr>
          <a:xfrm>
            <a:off x="4041648" y="1737360"/>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4343400" y="1307592"/>
            <a:ext cx="1600200" cy="859536"/>
          </a:xfrm>
          <a:prstGeom prst="diamond">
            <a:avLst/>
          </a:prstGeom>
          <a:solidFill>
            <a:srgbClr val="FFFFFF"/>
          </a:solidFill>
          <a:ln w="19050">
            <a:solidFill>
              <a:srgbClr val="C257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1307592"/>
            <a:ext cx="1600200" cy="859536"/>
          </a:xfrm>
          <a:prstGeom prst="rect">
            <a:avLst/>
          </a:prstGeom>
          <a:noFill/>
        </p:spPr>
        <p:txBody>
          <a:bodyPr wrap="square" lIns="36576" tIns="18288" rIns="36576" bIns="18288" anchor="ctr">
            <a:spAutoFit/>
          </a:bodyPr>
          <a:lstStyle/>
          <a:p>
            <a:pPr algn="ctr">
              <a:spcAft>
                <a:spcPts val="200"/>
              </a:spcAft>
            </a:pPr>
            <a:r>
              <a:rPr sz="1200" b="1" i="0">
                <a:solidFill>
                  <a:srgbClr val="C2570C"/>
                </a:solidFill>
              </a:rPr>
              <a:t>conf ≥ τ ?</a:t>
            </a:r>
          </a:p>
        </p:txBody>
      </p:sp>
      <p:cxnSp>
        <p:nvCxnSpPr>
          <p:cNvPr id="12" name="Connector 11"/>
          <p:cNvCxnSpPr/>
          <p:nvPr/>
        </p:nvCxnSpPr>
        <p:spPr>
          <a:xfrm>
            <a:off x="5961888" y="1737360"/>
            <a:ext cx="347472" cy="0"/>
          </a:xfrm>
          <a:prstGeom prst="line">
            <a:avLst/>
          </a:prstGeom>
          <a:ln w="19050">
            <a:solidFill>
              <a:srgbClr val="5181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0" y="1371600"/>
            <a:ext cx="411480" cy="274320"/>
          </a:xfrm>
          <a:prstGeom prst="rect">
            <a:avLst/>
          </a:prstGeom>
          <a:noFill/>
        </p:spPr>
        <p:txBody>
          <a:bodyPr wrap="square" lIns="36576" tIns="18288" rIns="36576" bIns="18288" anchor="t">
            <a:spAutoFit/>
          </a:bodyPr>
          <a:lstStyle/>
          <a:p>
            <a:pPr algn="l">
              <a:spcAft>
                <a:spcPts val="200"/>
              </a:spcAft>
            </a:pPr>
            <a:r>
              <a:rPr sz="950" b="1" i="0">
                <a:solidFill>
                  <a:srgbClr val="518113"/>
                </a:solidFill>
              </a:rPr>
              <a:t>YES</a:t>
            </a:r>
          </a:p>
        </p:txBody>
      </p:sp>
      <p:sp>
        <p:nvSpPr>
          <p:cNvPr id="14" name="Rounded Rectangle 13"/>
          <p:cNvSpPr/>
          <p:nvPr/>
        </p:nvSpPr>
        <p:spPr>
          <a:xfrm>
            <a:off x="6327648" y="1417320"/>
            <a:ext cx="1188720" cy="640080"/>
          </a:xfrm>
          <a:prstGeom prst="roundRect">
            <a:avLst>
              <a:gd name="adj" fmla="val 15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27648" y="1417320"/>
            <a:ext cx="1188720" cy="640080"/>
          </a:xfrm>
          <a:prstGeom prst="rect">
            <a:avLst/>
          </a:prstGeom>
          <a:noFill/>
        </p:spPr>
        <p:txBody>
          <a:bodyPr wrap="square" lIns="36576" tIns="18288" rIns="36576" bIns="18288" anchor="ctr">
            <a:spAutoFit/>
          </a:bodyPr>
          <a:lstStyle/>
          <a:p>
            <a:pPr algn="ctr">
              <a:spcAft>
                <a:spcPts val="200"/>
              </a:spcAft>
            </a:pPr>
            <a:r>
              <a:rPr sz="1100" b="1" i="0">
                <a:solidFill>
                  <a:srgbClr val="FFFFFF"/>
                </a:solidFill>
              </a:rPr>
              <a:t>STOP ✓
answer</a:t>
            </a:r>
          </a:p>
        </p:txBody>
      </p:sp>
      <p:cxnSp>
        <p:nvCxnSpPr>
          <p:cNvPr id="16" name="Connector 15"/>
          <p:cNvCxnSpPr/>
          <p:nvPr/>
        </p:nvCxnSpPr>
        <p:spPr>
          <a:xfrm>
            <a:off x="5138928" y="2167128"/>
            <a:ext cx="0" cy="210312"/>
          </a:xfrm>
          <a:prstGeom prst="line">
            <a:avLst/>
          </a:prstGeom>
          <a:ln w="19050">
            <a:solidFill>
              <a:srgbClr val="C2570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481328" y="2377440"/>
            <a:ext cx="3657600" cy="0"/>
          </a:xfrm>
          <a:prstGeom prst="line">
            <a:avLst/>
          </a:prstGeom>
          <a:ln w="19050">
            <a:solidFill>
              <a:srgbClr val="C2570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81328" y="2377440"/>
            <a:ext cx="0" cy="310896"/>
          </a:xfrm>
          <a:prstGeom prst="line">
            <a:avLst/>
          </a:prstGeom>
          <a:ln w="19050">
            <a:solidFill>
              <a:srgbClr val="C257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0" y="2112264"/>
            <a:ext cx="457200" cy="274320"/>
          </a:xfrm>
          <a:prstGeom prst="rect">
            <a:avLst/>
          </a:prstGeom>
          <a:noFill/>
        </p:spPr>
        <p:txBody>
          <a:bodyPr wrap="square" lIns="36576" tIns="18288" rIns="36576" bIns="18288" anchor="t">
            <a:spAutoFit/>
          </a:bodyPr>
          <a:lstStyle/>
          <a:p>
            <a:pPr algn="l">
              <a:spcAft>
                <a:spcPts val="200"/>
              </a:spcAft>
            </a:pPr>
            <a:r>
              <a:rPr sz="950" b="1" i="0">
                <a:solidFill>
                  <a:srgbClr val="C2570C"/>
                </a:solidFill>
              </a:rPr>
              <a:t>NO</a:t>
            </a:r>
          </a:p>
        </p:txBody>
      </p:sp>
      <p:sp>
        <p:nvSpPr>
          <p:cNvPr id="20" name="Rounded Rectangle 19"/>
          <p:cNvSpPr/>
          <p:nvPr/>
        </p:nvSpPr>
        <p:spPr>
          <a:xfrm>
            <a:off x="868680" y="2697480"/>
            <a:ext cx="1234440" cy="64008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8680" y="2697480"/>
            <a:ext cx="1234440" cy="640080"/>
          </a:xfrm>
          <a:prstGeom prst="rect">
            <a:avLst/>
          </a:prstGeom>
          <a:noFill/>
        </p:spPr>
        <p:txBody>
          <a:bodyPr wrap="square" lIns="36576" tIns="18288" rIns="36576" bIns="18288" anchor="ctr">
            <a:spAutoFit/>
          </a:bodyPr>
          <a:lstStyle/>
          <a:p>
            <a:pPr algn="ctr">
              <a:spcAft>
                <a:spcPts val="200"/>
              </a:spcAft>
            </a:pPr>
            <a:r>
              <a:rPr sz="1200" b="1" i="0">
                <a:solidFill>
                  <a:srgbClr val="FFFFFF"/>
                </a:solidFill>
              </a:rPr>
              <a:t>Stage 2</a:t>
            </a:r>
          </a:p>
        </p:txBody>
      </p:sp>
      <p:cxnSp>
        <p:nvCxnSpPr>
          <p:cNvPr id="22" name="Connector 21"/>
          <p:cNvCxnSpPr/>
          <p:nvPr/>
        </p:nvCxnSpPr>
        <p:spPr>
          <a:xfrm>
            <a:off x="2121408" y="3017520"/>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423160" y="2697480"/>
            <a:ext cx="1600200" cy="640080"/>
          </a:xfrm>
          <a:prstGeom prst="roundRect">
            <a:avLst>
              <a:gd name="adj" fmla="val 15000"/>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423160" y="2697480"/>
            <a:ext cx="1600200" cy="640080"/>
          </a:xfrm>
          <a:prstGeom prst="rect">
            <a:avLst/>
          </a:prstGeom>
          <a:noFill/>
        </p:spPr>
        <p:txBody>
          <a:bodyPr wrap="square" lIns="36576" tIns="18288" rIns="36576" bIns="18288" anchor="ctr">
            <a:spAutoFit/>
          </a:bodyPr>
          <a:lstStyle/>
          <a:p>
            <a:pPr algn="ctr">
              <a:spcAft>
                <a:spcPts val="200"/>
              </a:spcAft>
            </a:pPr>
            <a:r>
              <a:rPr sz="1150" b="1" i="0">
                <a:solidFill>
                  <a:srgbClr val="FFFFFF"/>
                </a:solidFill>
              </a:rPr>
              <a:t>Exit 2 + softmax</a:t>
            </a:r>
          </a:p>
        </p:txBody>
      </p:sp>
      <p:cxnSp>
        <p:nvCxnSpPr>
          <p:cNvPr id="25" name="Connector 24"/>
          <p:cNvCxnSpPr/>
          <p:nvPr/>
        </p:nvCxnSpPr>
        <p:spPr>
          <a:xfrm>
            <a:off x="4041648" y="3017520"/>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Diamond 25"/>
          <p:cNvSpPr/>
          <p:nvPr/>
        </p:nvSpPr>
        <p:spPr>
          <a:xfrm>
            <a:off x="4343400" y="2587752"/>
            <a:ext cx="1600200" cy="859536"/>
          </a:xfrm>
          <a:prstGeom prst="diamond">
            <a:avLst/>
          </a:prstGeom>
          <a:solidFill>
            <a:srgbClr val="FFFFFF"/>
          </a:solidFill>
          <a:ln w="19050">
            <a:solidFill>
              <a:srgbClr val="C257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43400" y="2587752"/>
            <a:ext cx="1600200" cy="859536"/>
          </a:xfrm>
          <a:prstGeom prst="rect">
            <a:avLst/>
          </a:prstGeom>
          <a:noFill/>
        </p:spPr>
        <p:txBody>
          <a:bodyPr wrap="square" lIns="36576" tIns="18288" rIns="36576" bIns="18288" anchor="ctr">
            <a:spAutoFit/>
          </a:bodyPr>
          <a:lstStyle/>
          <a:p>
            <a:pPr algn="ctr">
              <a:spcAft>
                <a:spcPts val="200"/>
              </a:spcAft>
            </a:pPr>
            <a:r>
              <a:rPr sz="1200" b="1" i="0">
                <a:solidFill>
                  <a:srgbClr val="C2570C"/>
                </a:solidFill>
              </a:rPr>
              <a:t>conf ≥ τ ?</a:t>
            </a:r>
          </a:p>
        </p:txBody>
      </p:sp>
      <p:cxnSp>
        <p:nvCxnSpPr>
          <p:cNvPr id="28" name="Connector 27"/>
          <p:cNvCxnSpPr/>
          <p:nvPr/>
        </p:nvCxnSpPr>
        <p:spPr>
          <a:xfrm>
            <a:off x="5961888" y="3017520"/>
            <a:ext cx="347472" cy="0"/>
          </a:xfrm>
          <a:prstGeom prst="line">
            <a:avLst/>
          </a:prstGeom>
          <a:ln w="19050">
            <a:solidFill>
              <a:srgbClr val="5181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3600" y="2651760"/>
            <a:ext cx="411480" cy="274320"/>
          </a:xfrm>
          <a:prstGeom prst="rect">
            <a:avLst/>
          </a:prstGeom>
          <a:noFill/>
        </p:spPr>
        <p:txBody>
          <a:bodyPr wrap="square" lIns="36576" tIns="18288" rIns="36576" bIns="18288" anchor="t">
            <a:spAutoFit/>
          </a:bodyPr>
          <a:lstStyle/>
          <a:p>
            <a:pPr algn="l">
              <a:spcAft>
                <a:spcPts val="200"/>
              </a:spcAft>
            </a:pPr>
            <a:r>
              <a:rPr sz="950" b="1" i="0">
                <a:solidFill>
                  <a:srgbClr val="518113"/>
                </a:solidFill>
              </a:rPr>
              <a:t>YES</a:t>
            </a:r>
          </a:p>
        </p:txBody>
      </p:sp>
      <p:sp>
        <p:nvSpPr>
          <p:cNvPr id="30" name="Rounded Rectangle 29"/>
          <p:cNvSpPr/>
          <p:nvPr/>
        </p:nvSpPr>
        <p:spPr>
          <a:xfrm>
            <a:off x="6327648" y="2697480"/>
            <a:ext cx="1188720" cy="640080"/>
          </a:xfrm>
          <a:prstGeom prst="roundRect">
            <a:avLst>
              <a:gd name="adj" fmla="val 15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27648" y="2697480"/>
            <a:ext cx="1188720" cy="640080"/>
          </a:xfrm>
          <a:prstGeom prst="rect">
            <a:avLst/>
          </a:prstGeom>
          <a:noFill/>
        </p:spPr>
        <p:txBody>
          <a:bodyPr wrap="square" lIns="36576" tIns="18288" rIns="36576" bIns="18288" anchor="ctr">
            <a:spAutoFit/>
          </a:bodyPr>
          <a:lstStyle/>
          <a:p>
            <a:pPr algn="ctr">
              <a:spcAft>
                <a:spcPts val="200"/>
              </a:spcAft>
            </a:pPr>
            <a:r>
              <a:rPr sz="1100" b="1" i="0">
                <a:solidFill>
                  <a:srgbClr val="FFFFFF"/>
                </a:solidFill>
              </a:rPr>
              <a:t>STOP ✓
answer</a:t>
            </a:r>
          </a:p>
        </p:txBody>
      </p:sp>
      <p:cxnSp>
        <p:nvCxnSpPr>
          <p:cNvPr id="32" name="Connector 31"/>
          <p:cNvCxnSpPr/>
          <p:nvPr/>
        </p:nvCxnSpPr>
        <p:spPr>
          <a:xfrm>
            <a:off x="5138928" y="3447288"/>
            <a:ext cx="0" cy="210312"/>
          </a:xfrm>
          <a:prstGeom prst="line">
            <a:avLst/>
          </a:prstGeom>
          <a:ln w="19050">
            <a:solidFill>
              <a:srgbClr val="C2570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481328" y="3657600"/>
            <a:ext cx="3657600" cy="0"/>
          </a:xfrm>
          <a:prstGeom prst="line">
            <a:avLst/>
          </a:prstGeom>
          <a:ln w="19050">
            <a:solidFill>
              <a:srgbClr val="C2570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81328" y="3657600"/>
            <a:ext cx="0" cy="310896"/>
          </a:xfrm>
          <a:prstGeom prst="line">
            <a:avLst/>
          </a:prstGeom>
          <a:ln w="19050">
            <a:solidFill>
              <a:srgbClr val="C257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212080" y="3392424"/>
            <a:ext cx="457200" cy="274320"/>
          </a:xfrm>
          <a:prstGeom prst="rect">
            <a:avLst/>
          </a:prstGeom>
          <a:noFill/>
        </p:spPr>
        <p:txBody>
          <a:bodyPr wrap="square" lIns="36576" tIns="18288" rIns="36576" bIns="18288" anchor="t">
            <a:spAutoFit/>
          </a:bodyPr>
          <a:lstStyle/>
          <a:p>
            <a:pPr algn="l">
              <a:spcAft>
                <a:spcPts val="200"/>
              </a:spcAft>
            </a:pPr>
            <a:r>
              <a:rPr sz="950" b="1" i="0">
                <a:solidFill>
                  <a:srgbClr val="C2570C"/>
                </a:solidFill>
              </a:rPr>
              <a:t>NO</a:t>
            </a:r>
          </a:p>
        </p:txBody>
      </p:sp>
      <p:sp>
        <p:nvSpPr>
          <p:cNvPr id="36" name="Rounded Rectangle 35"/>
          <p:cNvSpPr/>
          <p:nvPr/>
        </p:nvSpPr>
        <p:spPr>
          <a:xfrm>
            <a:off x="868680" y="3977639"/>
            <a:ext cx="1234440" cy="640080"/>
          </a:xfrm>
          <a:prstGeom prst="roundRect">
            <a:avLst>
              <a:gd name="adj" fmla="val 15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68680" y="3977639"/>
            <a:ext cx="1234440" cy="640080"/>
          </a:xfrm>
          <a:prstGeom prst="rect">
            <a:avLst/>
          </a:prstGeom>
          <a:noFill/>
        </p:spPr>
        <p:txBody>
          <a:bodyPr wrap="square" lIns="36576" tIns="18288" rIns="36576" bIns="18288" anchor="ctr">
            <a:spAutoFit/>
          </a:bodyPr>
          <a:lstStyle/>
          <a:p>
            <a:pPr algn="ctr">
              <a:spcAft>
                <a:spcPts val="200"/>
              </a:spcAft>
            </a:pPr>
            <a:r>
              <a:rPr sz="1200" b="1" i="0">
                <a:solidFill>
                  <a:srgbClr val="FFFFFF"/>
                </a:solidFill>
              </a:rPr>
              <a:t>Stage 3</a:t>
            </a:r>
          </a:p>
        </p:txBody>
      </p:sp>
      <p:cxnSp>
        <p:nvCxnSpPr>
          <p:cNvPr id="38" name="Connector 37"/>
          <p:cNvCxnSpPr/>
          <p:nvPr/>
        </p:nvCxnSpPr>
        <p:spPr>
          <a:xfrm>
            <a:off x="2121408" y="4297679"/>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2423160" y="3977639"/>
            <a:ext cx="1600200" cy="640080"/>
          </a:xfrm>
          <a:prstGeom prst="roundRect">
            <a:avLst>
              <a:gd name="adj" fmla="val 15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423160" y="3977639"/>
            <a:ext cx="1600200" cy="640080"/>
          </a:xfrm>
          <a:prstGeom prst="rect">
            <a:avLst/>
          </a:prstGeom>
          <a:noFill/>
        </p:spPr>
        <p:txBody>
          <a:bodyPr wrap="square" lIns="36576" tIns="18288" rIns="36576" bIns="18288" anchor="ctr">
            <a:spAutoFit/>
          </a:bodyPr>
          <a:lstStyle/>
          <a:p>
            <a:pPr algn="ctr">
              <a:spcAft>
                <a:spcPts val="200"/>
              </a:spcAft>
            </a:pPr>
            <a:r>
              <a:rPr sz="1150" b="1" i="0">
                <a:solidFill>
                  <a:srgbClr val="FFFFFF"/>
                </a:solidFill>
              </a:rPr>
              <a:t>Exit 3 + softmax</a:t>
            </a:r>
          </a:p>
        </p:txBody>
      </p:sp>
      <p:cxnSp>
        <p:nvCxnSpPr>
          <p:cNvPr id="41" name="Connector 40"/>
          <p:cNvCxnSpPr/>
          <p:nvPr/>
        </p:nvCxnSpPr>
        <p:spPr>
          <a:xfrm>
            <a:off x="4041648" y="4297679"/>
            <a:ext cx="274320" cy="0"/>
          </a:xfrm>
          <a:prstGeom prst="line">
            <a:avLst/>
          </a:prstGeom>
          <a:ln w="19050">
            <a:solidFill>
              <a:srgbClr val="5B6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343400" y="3977639"/>
            <a:ext cx="3172968" cy="640080"/>
          </a:xfrm>
          <a:prstGeom prst="roundRect">
            <a:avLst>
              <a:gd name="adj" fmla="val 15000"/>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4343400" y="3977639"/>
            <a:ext cx="3172968" cy="640080"/>
          </a:xfrm>
          <a:prstGeom prst="rect">
            <a:avLst/>
          </a:prstGeom>
          <a:noFill/>
        </p:spPr>
        <p:txBody>
          <a:bodyPr wrap="square" lIns="36576" tIns="18288" rIns="36576" bIns="18288" anchor="ctr">
            <a:spAutoFit/>
          </a:bodyPr>
          <a:lstStyle/>
          <a:p>
            <a:pPr algn="ctr">
              <a:spcAft>
                <a:spcPts val="200"/>
              </a:spcAft>
            </a:pPr>
            <a:r>
              <a:rPr sz="1150" b="1" i="0">
                <a:solidFill>
                  <a:srgbClr val="FFFFFF"/>
                </a:solidFill>
              </a:rPr>
              <a:t>Always answers (final exit)</a:t>
            </a:r>
          </a:p>
        </p:txBody>
      </p:sp>
      <p:sp>
        <p:nvSpPr>
          <p:cNvPr id="44" name="Rounded Rectangle 43"/>
          <p:cNvSpPr/>
          <p:nvPr/>
        </p:nvSpPr>
        <p:spPr>
          <a:xfrm>
            <a:off x="841248" y="4919472"/>
            <a:ext cx="6675120" cy="1024128"/>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005840" y="4956048"/>
            <a:ext cx="6400800" cy="960120"/>
          </a:xfrm>
          <a:prstGeom prst="rect">
            <a:avLst/>
          </a:prstGeom>
          <a:noFill/>
        </p:spPr>
        <p:txBody>
          <a:bodyPr wrap="square" lIns="36576" tIns="18288" rIns="36576" bIns="18288" anchor="t">
            <a:spAutoFit/>
          </a:bodyPr>
          <a:lstStyle/>
          <a:p>
            <a:pPr algn="l">
              <a:spcAft>
                <a:spcPts val="200"/>
              </a:spcAft>
            </a:pPr>
            <a:r>
              <a:rPr sz="1150" b="1" i="0">
                <a:solidFill>
                  <a:srgbClr val="2A55A1"/>
                </a:solidFill>
              </a:rPr>
              <a:t>confidence</a:t>
            </a:r>
            <a:r>
              <a:rPr sz="1150" b="0" i="0">
                <a:solidFill>
                  <a:srgbClr val="1A1A1A"/>
                </a:solidFill>
              </a:rPr>
              <a:t> = highest softmax probability (e.g. ship 0.94).  </a:t>
            </a:r>
            <a:r>
              <a:rPr sz="1150" b="1" i="0">
                <a:solidFill>
                  <a:srgbClr val="2A55A1"/>
                </a:solidFill>
              </a:rPr>
              <a:t>τ (tau)</a:t>
            </a:r>
            <a:r>
              <a:rPr sz="1150" b="0" i="0">
                <a:solidFill>
                  <a:srgbClr val="1A1A1A"/>
                </a:solidFill>
              </a:rPr>
              <a:t> = threshold we choose.</a:t>
            </a:r>
          </a:p>
          <a:p>
            <a:pPr algn="l">
              <a:spcAft>
                <a:spcPts val="200"/>
              </a:spcAft>
            </a:pPr>
            <a:r>
              <a:rPr sz="1150" b="1" i="0">
                <a:solidFill>
                  <a:srgbClr val="2A55A1"/>
                </a:solidFill>
              </a:rPr>
              <a:t>Batches: </a:t>
            </a:r>
            <a:r>
              <a:rPr sz="1150" b="0" i="0">
                <a:solidFill>
                  <a:srgbClr val="1A1A1A"/>
                </a:solidFill>
              </a:rPr>
              <a:t>images that stop are removed, so deeper stages only process the rest: 10,000 → 7,317 → 2,597 images (τ = 0.84). Verified: 100% identical to checking images one by one.</a:t>
            </a:r>
          </a:p>
        </p:txBody>
      </p:sp>
      <p:sp>
        <p:nvSpPr>
          <p:cNvPr id="46" name="TextBox 45"/>
          <p:cNvSpPr txBox="1"/>
          <p:nvPr/>
        </p:nvSpPr>
        <p:spPr>
          <a:xfrm>
            <a:off x="7818120" y="1325880"/>
            <a:ext cx="3566160" cy="320040"/>
          </a:xfrm>
          <a:prstGeom prst="rect">
            <a:avLst/>
          </a:prstGeom>
          <a:noFill/>
        </p:spPr>
        <p:txBody>
          <a:bodyPr wrap="square" lIns="36576" tIns="18288" rIns="36576" bIns="18288" anchor="t">
            <a:spAutoFit/>
          </a:bodyPr>
          <a:lstStyle/>
          <a:p>
            <a:pPr algn="l">
              <a:spcAft>
                <a:spcPts val="200"/>
              </a:spcAft>
            </a:pPr>
            <a:r>
              <a:rPr sz="1500" b="1" i="0">
                <a:solidFill>
                  <a:srgbClr val="2A55A1"/>
                </a:solidFill>
              </a:rPr>
              <a:t>Real examples (τ = 0.84)</a:t>
            </a:r>
          </a:p>
        </p:txBody>
      </p:sp>
      <p:sp>
        <p:nvSpPr>
          <p:cNvPr id="47" name="Rounded Rectangle 46"/>
          <p:cNvSpPr/>
          <p:nvPr/>
        </p:nvSpPr>
        <p:spPr>
          <a:xfrm>
            <a:off x="7818120" y="1755648"/>
            <a:ext cx="3538728" cy="1261872"/>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8" name="Picture 47" descr="cifar_ship.png"/>
          <p:cNvPicPr>
            <a:picLocks noChangeAspect="1"/>
          </p:cNvPicPr>
          <p:nvPr/>
        </p:nvPicPr>
        <p:blipFill>
          <a:blip r:embed="rId3"/>
          <a:stretch>
            <a:fillRect/>
          </a:stretch>
        </p:blipFill>
        <p:spPr>
          <a:xfrm>
            <a:off x="7936992" y="1865376"/>
            <a:ext cx="1042415" cy="1042415"/>
          </a:xfrm>
          <a:prstGeom prst="rect">
            <a:avLst/>
          </a:prstGeom>
          <a:ln w="12700">
            <a:solidFill>
              <a:srgbClr val="B9D68E"/>
            </a:solidFill>
          </a:ln>
        </p:spPr>
      </p:pic>
      <p:sp>
        <p:nvSpPr>
          <p:cNvPr id="49" name="TextBox 48"/>
          <p:cNvSpPr txBox="1"/>
          <p:nvPr/>
        </p:nvSpPr>
        <p:spPr>
          <a:xfrm>
            <a:off x="9098280" y="1865376"/>
            <a:ext cx="2194560" cy="320040"/>
          </a:xfrm>
          <a:prstGeom prst="rect">
            <a:avLst/>
          </a:prstGeom>
          <a:noFill/>
        </p:spPr>
        <p:txBody>
          <a:bodyPr wrap="square" lIns="36576" tIns="18288" rIns="36576" bIns="18288" anchor="t">
            <a:spAutoFit/>
          </a:bodyPr>
          <a:lstStyle/>
          <a:p>
            <a:pPr algn="l">
              <a:spcAft>
                <a:spcPts val="200"/>
              </a:spcAft>
            </a:pPr>
            <a:r>
              <a:rPr sz="1350" b="1" i="0">
                <a:solidFill>
                  <a:srgbClr val="518113"/>
                </a:solidFill>
              </a:rPr>
              <a:t>Ship</a:t>
            </a:r>
          </a:p>
        </p:txBody>
      </p:sp>
      <p:sp>
        <p:nvSpPr>
          <p:cNvPr id="50" name="TextBox 49"/>
          <p:cNvSpPr txBox="1"/>
          <p:nvPr/>
        </p:nvSpPr>
        <p:spPr>
          <a:xfrm>
            <a:off x="9098280" y="2194560"/>
            <a:ext cx="2212848" cy="777240"/>
          </a:xfrm>
          <a:prstGeom prst="rect">
            <a:avLst/>
          </a:prstGeom>
          <a:noFill/>
        </p:spPr>
        <p:txBody>
          <a:bodyPr wrap="square" lIns="36576" tIns="18288" rIns="36576" bIns="18288" anchor="t">
            <a:spAutoFit/>
          </a:bodyPr>
          <a:lstStyle/>
          <a:p>
            <a:pPr algn="l">
              <a:spcAft>
                <a:spcPts val="200"/>
              </a:spcAft>
            </a:pPr>
            <a:r>
              <a:rPr sz="1050" b="0" i="0">
                <a:solidFill>
                  <a:srgbClr val="1A1A1A"/>
                </a:solidFill>
              </a:rPr>
              <a:t>Exit 1: ship 94.4% ≥ 0.84</a:t>
            </a:r>
          </a:p>
          <a:p>
            <a:pPr algn="l">
              <a:spcAft>
                <a:spcPts val="200"/>
              </a:spcAft>
            </a:pPr>
            <a:r>
              <a:rPr sz="1050" b="0" i="0">
                <a:solidFill>
                  <a:srgbClr val="1A1A1A"/>
                </a:solidFill>
              </a:rPr>
              <a:t>→ STOP at Exit 1</a:t>
            </a:r>
          </a:p>
        </p:txBody>
      </p:sp>
      <p:sp>
        <p:nvSpPr>
          <p:cNvPr id="51" name="Rounded Rectangle 50"/>
          <p:cNvSpPr/>
          <p:nvPr/>
        </p:nvSpPr>
        <p:spPr>
          <a:xfrm>
            <a:off x="7818120" y="3154680"/>
            <a:ext cx="3538728" cy="1261872"/>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2" name="Picture 51" descr="cifar_ship2.png"/>
          <p:cNvPicPr>
            <a:picLocks noChangeAspect="1"/>
          </p:cNvPicPr>
          <p:nvPr/>
        </p:nvPicPr>
        <p:blipFill>
          <a:blip r:embed="rId4"/>
          <a:stretch>
            <a:fillRect/>
          </a:stretch>
        </p:blipFill>
        <p:spPr>
          <a:xfrm>
            <a:off x="7936992" y="3264408"/>
            <a:ext cx="1042415" cy="1042415"/>
          </a:xfrm>
          <a:prstGeom prst="rect">
            <a:avLst/>
          </a:prstGeom>
          <a:ln w="12700">
            <a:solidFill>
              <a:srgbClr val="F0C098"/>
            </a:solidFill>
          </a:ln>
        </p:spPr>
      </p:pic>
      <p:sp>
        <p:nvSpPr>
          <p:cNvPr id="53" name="TextBox 52"/>
          <p:cNvSpPr txBox="1"/>
          <p:nvPr/>
        </p:nvSpPr>
        <p:spPr>
          <a:xfrm>
            <a:off x="9098280" y="3264408"/>
            <a:ext cx="2194560" cy="320040"/>
          </a:xfrm>
          <a:prstGeom prst="rect">
            <a:avLst/>
          </a:prstGeom>
          <a:noFill/>
        </p:spPr>
        <p:txBody>
          <a:bodyPr wrap="square" lIns="36576" tIns="18288" rIns="36576" bIns="18288" anchor="t">
            <a:spAutoFit/>
          </a:bodyPr>
          <a:lstStyle/>
          <a:p>
            <a:pPr algn="l">
              <a:spcAft>
                <a:spcPts val="200"/>
              </a:spcAft>
            </a:pPr>
            <a:r>
              <a:rPr sz="1350" b="1" i="0">
                <a:solidFill>
                  <a:srgbClr val="C2570C"/>
                </a:solidFill>
              </a:rPr>
              <a:t>Ship</a:t>
            </a:r>
          </a:p>
        </p:txBody>
      </p:sp>
      <p:sp>
        <p:nvSpPr>
          <p:cNvPr id="54" name="TextBox 53"/>
          <p:cNvSpPr txBox="1"/>
          <p:nvPr/>
        </p:nvSpPr>
        <p:spPr>
          <a:xfrm>
            <a:off x="9098280" y="3593592"/>
            <a:ext cx="2212848" cy="777240"/>
          </a:xfrm>
          <a:prstGeom prst="rect">
            <a:avLst/>
          </a:prstGeom>
          <a:noFill/>
        </p:spPr>
        <p:txBody>
          <a:bodyPr wrap="square" lIns="36576" tIns="18288" rIns="36576" bIns="18288" anchor="t">
            <a:spAutoFit/>
          </a:bodyPr>
          <a:lstStyle/>
          <a:p>
            <a:pPr algn="l">
              <a:spcAft>
                <a:spcPts val="200"/>
              </a:spcAft>
            </a:pPr>
            <a:r>
              <a:rPr sz="1050" b="0" i="0">
                <a:solidFill>
                  <a:srgbClr val="1A1A1A"/>
                </a:solidFill>
              </a:rPr>
              <a:t>Exit 1: below 0.84 → continue</a:t>
            </a:r>
          </a:p>
          <a:p>
            <a:pPr algn="l">
              <a:spcAft>
                <a:spcPts val="200"/>
              </a:spcAft>
            </a:pPr>
            <a:r>
              <a:rPr sz="1050" b="0" i="0">
                <a:solidFill>
                  <a:srgbClr val="1A1A1A"/>
                </a:solidFill>
              </a:rPr>
              <a:t>Exit 2: ship 99.8% → STOP</a:t>
            </a:r>
          </a:p>
        </p:txBody>
      </p:sp>
      <p:sp>
        <p:nvSpPr>
          <p:cNvPr id="55" name="Rounded Rectangle 54"/>
          <p:cNvSpPr/>
          <p:nvPr/>
        </p:nvSpPr>
        <p:spPr>
          <a:xfrm>
            <a:off x="7818120" y="4553712"/>
            <a:ext cx="3538728" cy="1261872"/>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6" name="Picture 55" descr="cifar_cat.png"/>
          <p:cNvPicPr>
            <a:picLocks noChangeAspect="1"/>
          </p:cNvPicPr>
          <p:nvPr/>
        </p:nvPicPr>
        <p:blipFill>
          <a:blip r:embed="rId5"/>
          <a:stretch>
            <a:fillRect/>
          </a:stretch>
        </p:blipFill>
        <p:spPr>
          <a:xfrm>
            <a:off x="7936992" y="4663440"/>
            <a:ext cx="1042415" cy="1042415"/>
          </a:xfrm>
          <a:prstGeom prst="rect">
            <a:avLst/>
          </a:prstGeom>
          <a:ln w="12700">
            <a:solidFill>
              <a:srgbClr val="C7D4F5"/>
            </a:solidFill>
          </a:ln>
        </p:spPr>
      </p:pic>
      <p:sp>
        <p:nvSpPr>
          <p:cNvPr id="57" name="TextBox 56"/>
          <p:cNvSpPr txBox="1"/>
          <p:nvPr/>
        </p:nvSpPr>
        <p:spPr>
          <a:xfrm>
            <a:off x="9098280" y="4663440"/>
            <a:ext cx="2194560" cy="320040"/>
          </a:xfrm>
          <a:prstGeom prst="rect">
            <a:avLst/>
          </a:prstGeom>
          <a:noFill/>
        </p:spPr>
        <p:txBody>
          <a:bodyPr wrap="square" lIns="36576" tIns="18288" rIns="36576" bIns="18288" anchor="t">
            <a:spAutoFit/>
          </a:bodyPr>
          <a:lstStyle/>
          <a:p>
            <a:pPr algn="l">
              <a:spcAft>
                <a:spcPts val="200"/>
              </a:spcAft>
            </a:pPr>
            <a:r>
              <a:rPr sz="1350" b="1" i="0">
                <a:solidFill>
                  <a:srgbClr val="2A55A1"/>
                </a:solidFill>
              </a:rPr>
              <a:t>Cat</a:t>
            </a:r>
          </a:p>
        </p:txBody>
      </p:sp>
      <p:sp>
        <p:nvSpPr>
          <p:cNvPr id="58" name="TextBox 57"/>
          <p:cNvSpPr txBox="1"/>
          <p:nvPr/>
        </p:nvSpPr>
        <p:spPr>
          <a:xfrm>
            <a:off x="9098280" y="4992624"/>
            <a:ext cx="2212848" cy="777240"/>
          </a:xfrm>
          <a:prstGeom prst="rect">
            <a:avLst/>
          </a:prstGeom>
          <a:noFill/>
        </p:spPr>
        <p:txBody>
          <a:bodyPr wrap="square" lIns="36576" tIns="18288" rIns="36576" bIns="18288" anchor="t">
            <a:spAutoFit/>
          </a:bodyPr>
          <a:lstStyle/>
          <a:p>
            <a:pPr algn="l">
              <a:spcAft>
                <a:spcPts val="200"/>
              </a:spcAft>
            </a:pPr>
            <a:r>
              <a:rPr sz="1050" b="0" i="0">
                <a:solidFill>
                  <a:srgbClr val="1A1A1A"/>
                </a:solidFill>
              </a:rPr>
              <a:t>Exits 1 and 2: below 0.84</a:t>
            </a:r>
          </a:p>
          <a:p>
            <a:pPr algn="l">
              <a:spcAft>
                <a:spcPts val="200"/>
              </a:spcAft>
            </a:pPr>
            <a:r>
              <a:rPr sz="1050" b="0" i="0">
                <a:solidFill>
                  <a:srgbClr val="1A1A1A"/>
                </a:solidFill>
              </a:rPr>
              <a:t>Exit 3: cat 99.9% (final)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τ Without Cheating</a:t>
            </a:r>
          </a:p>
        </p:txBody>
      </p:sp>
      <p:sp>
        <p:nvSpPr>
          <p:cNvPr id="3" name="Slide Number Placeholder 2"/>
          <p:cNvSpPr>
            <a:spLocks noGrp="1"/>
          </p:cNvSpPr>
          <p:nvPr>
            <p:ph type="sldNum" sz="quarter" idx="12"/>
          </p:nvPr>
        </p:nvSpPr>
        <p:spPr/>
        <p:txBody>
          <a:bodyPr/>
          <a:lstStyle/>
          <a:p>
            <a:fld id="{B6F15528-21DE-4FAA-801E-634DDDAF4B2B}" type="slidenum">
              <a:rPr lang="en-US"/>
              <a:t>8</a:t>
            </a:fld>
            <a:endParaRPr lang="en-US"/>
          </a:p>
        </p:txBody>
      </p:sp>
      <p:sp>
        <p:nvSpPr>
          <p:cNvPr id="4" name="Rounded Rectangle 3"/>
          <p:cNvSpPr/>
          <p:nvPr/>
        </p:nvSpPr>
        <p:spPr>
          <a:xfrm>
            <a:off x="841248" y="1371600"/>
            <a:ext cx="5760720" cy="749808"/>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78408" y="1545336"/>
            <a:ext cx="402336" cy="402336"/>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1</a:t>
            </a:r>
          </a:p>
        </p:txBody>
      </p:sp>
      <p:sp>
        <p:nvSpPr>
          <p:cNvPr id="6" name="TextBox 5"/>
          <p:cNvSpPr txBox="1"/>
          <p:nvPr/>
        </p:nvSpPr>
        <p:spPr>
          <a:xfrm>
            <a:off x="1508760" y="1417320"/>
            <a:ext cx="5029200" cy="658368"/>
          </a:xfrm>
          <a:prstGeom prst="rect">
            <a:avLst/>
          </a:prstGeom>
          <a:noFill/>
        </p:spPr>
        <p:txBody>
          <a:bodyPr wrap="square" lIns="36576" tIns="18288" rIns="36576" bIns="18288" anchor="ctr">
            <a:spAutoFit/>
          </a:bodyPr>
          <a:lstStyle/>
          <a:p>
            <a:pPr algn="l">
              <a:spcAft>
                <a:spcPts val="200"/>
              </a:spcAft>
            </a:pPr>
            <a:r>
              <a:rPr sz="1300" b="1" i="0">
                <a:solidFill>
                  <a:srgbClr val="2A55A1"/>
                </a:solidFill>
              </a:rPr>
              <a:t>Try every τ</a:t>
            </a:r>
          </a:p>
          <a:p>
            <a:pPr algn="l">
              <a:spcAft>
                <a:spcPts val="200"/>
              </a:spcAft>
            </a:pPr>
            <a:r>
              <a:rPr sz="1100" b="0" i="0">
                <a:solidFill>
                  <a:srgbClr val="5B6676"/>
                </a:solidFill>
              </a:rPr>
              <a:t>from 0.00 to 1.00 on the 5,000 validation images (never the test set).</a:t>
            </a:r>
          </a:p>
        </p:txBody>
      </p:sp>
      <p:sp>
        <p:nvSpPr>
          <p:cNvPr id="7" name="Rounded Rectangle 6"/>
          <p:cNvSpPr/>
          <p:nvPr/>
        </p:nvSpPr>
        <p:spPr>
          <a:xfrm>
            <a:off x="841248" y="2240280"/>
            <a:ext cx="5760720" cy="749808"/>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978408" y="2414016"/>
            <a:ext cx="402336" cy="402336"/>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2</a:t>
            </a:r>
          </a:p>
        </p:txBody>
      </p:sp>
      <p:sp>
        <p:nvSpPr>
          <p:cNvPr id="9" name="TextBox 8"/>
          <p:cNvSpPr txBox="1"/>
          <p:nvPr/>
        </p:nvSpPr>
        <p:spPr>
          <a:xfrm>
            <a:off x="1508760" y="2286000"/>
            <a:ext cx="5029200" cy="658368"/>
          </a:xfrm>
          <a:prstGeom prst="rect">
            <a:avLst/>
          </a:prstGeom>
          <a:noFill/>
        </p:spPr>
        <p:txBody>
          <a:bodyPr wrap="square" lIns="36576" tIns="18288" rIns="36576" bIns="18288" anchor="ctr">
            <a:spAutoFit/>
          </a:bodyPr>
          <a:lstStyle/>
          <a:p>
            <a:pPr algn="l">
              <a:spcAft>
                <a:spcPts val="200"/>
              </a:spcAft>
            </a:pPr>
            <a:r>
              <a:rPr sz="1300" b="1" i="0">
                <a:solidFill>
                  <a:srgbClr val="2A55A1"/>
                </a:solidFill>
              </a:rPr>
              <a:t>Keep safe values</a:t>
            </a:r>
          </a:p>
          <a:p>
            <a:pPr algn="l">
              <a:spcAft>
                <a:spcPts val="200"/>
              </a:spcAft>
            </a:pPr>
            <a:r>
              <a:rPr sz="1100" b="0" i="0">
                <a:solidFill>
                  <a:srgbClr val="5B6676"/>
                </a:solidFill>
              </a:rPr>
              <a:t>validation accuracy must stay within 1 point of the full network (relative rule).</a:t>
            </a:r>
          </a:p>
        </p:txBody>
      </p:sp>
      <p:sp>
        <p:nvSpPr>
          <p:cNvPr id="10" name="Rounded Rectangle 9"/>
          <p:cNvSpPr/>
          <p:nvPr/>
        </p:nvSpPr>
        <p:spPr>
          <a:xfrm>
            <a:off x="841248" y="3108960"/>
            <a:ext cx="5760720" cy="749808"/>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978408" y="3282696"/>
            <a:ext cx="402336" cy="402336"/>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3</a:t>
            </a:r>
          </a:p>
        </p:txBody>
      </p:sp>
      <p:sp>
        <p:nvSpPr>
          <p:cNvPr id="12" name="TextBox 11"/>
          <p:cNvSpPr txBox="1"/>
          <p:nvPr/>
        </p:nvSpPr>
        <p:spPr>
          <a:xfrm>
            <a:off x="1508760" y="3154679"/>
            <a:ext cx="5029200" cy="658368"/>
          </a:xfrm>
          <a:prstGeom prst="rect">
            <a:avLst/>
          </a:prstGeom>
          <a:noFill/>
        </p:spPr>
        <p:txBody>
          <a:bodyPr wrap="square" lIns="36576" tIns="18288" rIns="36576" bIns="18288" anchor="ctr">
            <a:spAutoFit/>
          </a:bodyPr>
          <a:lstStyle/>
          <a:p>
            <a:pPr algn="l">
              <a:spcAft>
                <a:spcPts val="200"/>
              </a:spcAft>
            </a:pPr>
            <a:r>
              <a:rPr sz="1300" b="1" i="0">
                <a:solidFill>
                  <a:srgbClr val="2A55A1"/>
                </a:solidFill>
              </a:rPr>
              <a:t>Pick the cheapest</a:t>
            </a:r>
          </a:p>
          <a:p>
            <a:pPr algn="l">
              <a:spcAft>
                <a:spcPts val="200"/>
              </a:spcAft>
            </a:pPr>
            <a:r>
              <a:rPr sz="1100" b="0" i="0">
                <a:solidFill>
                  <a:srgbClr val="5B6676"/>
                </a:solidFill>
              </a:rPr>
              <a:t>among safe values, choose the τ with the lowest average compute (MACs).</a:t>
            </a:r>
          </a:p>
        </p:txBody>
      </p:sp>
      <p:sp>
        <p:nvSpPr>
          <p:cNvPr id="13" name="Rounded Rectangle 12"/>
          <p:cNvSpPr/>
          <p:nvPr/>
        </p:nvSpPr>
        <p:spPr>
          <a:xfrm>
            <a:off x="841248" y="3977639"/>
            <a:ext cx="5760720" cy="749808"/>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978408" y="4151376"/>
            <a:ext cx="402336" cy="402336"/>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4</a:t>
            </a:r>
          </a:p>
        </p:txBody>
      </p:sp>
      <p:sp>
        <p:nvSpPr>
          <p:cNvPr id="15" name="TextBox 14"/>
          <p:cNvSpPr txBox="1"/>
          <p:nvPr/>
        </p:nvSpPr>
        <p:spPr>
          <a:xfrm>
            <a:off x="1508760" y="4023359"/>
            <a:ext cx="5029200" cy="658368"/>
          </a:xfrm>
          <a:prstGeom prst="rect">
            <a:avLst/>
          </a:prstGeom>
          <a:noFill/>
        </p:spPr>
        <p:txBody>
          <a:bodyPr wrap="square" lIns="36576" tIns="18288" rIns="36576" bIns="18288" anchor="ctr">
            <a:spAutoFit/>
          </a:bodyPr>
          <a:lstStyle/>
          <a:p>
            <a:pPr algn="l">
              <a:spcAft>
                <a:spcPts val="200"/>
              </a:spcAft>
            </a:pPr>
            <a:r>
              <a:rPr sz="1300" b="1" i="0">
                <a:solidFill>
                  <a:srgbClr val="518113"/>
                </a:solidFill>
              </a:rPr>
              <a:t>Freeze and test once</a:t>
            </a:r>
          </a:p>
          <a:p>
            <a:pPr algn="l">
              <a:spcAft>
                <a:spcPts val="200"/>
              </a:spcAft>
            </a:pPr>
            <a:r>
              <a:rPr sz="1100" b="0" i="0">
                <a:solidFill>
                  <a:srgbClr val="5B6676"/>
                </a:solidFill>
              </a:rPr>
              <a:t>apply that τ unchanged to the test set and to noisy test images.</a:t>
            </a:r>
          </a:p>
        </p:txBody>
      </p:sp>
      <p:sp>
        <p:nvSpPr>
          <p:cNvPr id="16" name="Rounded Rectangle 15"/>
          <p:cNvSpPr/>
          <p:nvPr/>
        </p:nvSpPr>
        <p:spPr>
          <a:xfrm>
            <a:off x="841248" y="4919472"/>
            <a:ext cx="5760720" cy="1024128"/>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78408" y="5120640"/>
            <a:ext cx="566928" cy="566928"/>
          </a:xfrm>
          <a:prstGeom prst="ellipse">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warn_w.png"/>
          <p:cNvPicPr>
            <a:picLocks noChangeAspect="1"/>
          </p:cNvPicPr>
          <p:nvPr/>
        </p:nvPicPr>
        <p:blipFill>
          <a:blip r:embed="rId3"/>
          <a:stretch>
            <a:fillRect/>
          </a:stretch>
        </p:blipFill>
        <p:spPr>
          <a:xfrm>
            <a:off x="1114470" y="5256702"/>
            <a:ext cx="294802" cy="294802"/>
          </a:xfrm>
          <a:prstGeom prst="rect">
            <a:avLst/>
          </a:prstGeom>
        </p:spPr>
      </p:pic>
      <p:sp>
        <p:nvSpPr>
          <p:cNvPr id="19" name="TextBox 18"/>
          <p:cNvSpPr txBox="1"/>
          <p:nvPr/>
        </p:nvSpPr>
        <p:spPr>
          <a:xfrm>
            <a:off x="1691640" y="4937760"/>
            <a:ext cx="4800600" cy="987552"/>
          </a:xfrm>
          <a:prstGeom prst="rect">
            <a:avLst/>
          </a:prstGeom>
          <a:noFill/>
        </p:spPr>
        <p:txBody>
          <a:bodyPr wrap="square" lIns="36576" tIns="18288" rIns="36576" bIns="18288" anchor="ctr">
            <a:spAutoFit/>
          </a:bodyPr>
          <a:lstStyle/>
          <a:p>
            <a:pPr algn="l">
              <a:spcAft>
                <a:spcPts val="200"/>
              </a:spcAft>
            </a:pPr>
            <a:r>
              <a:rPr sz="1150" b="1" i="0">
                <a:solidFill>
                  <a:srgbClr val="C2570C"/>
                </a:solidFill>
              </a:rPr>
              <a:t>Why not tune on the test set? </a:t>
            </a:r>
            <a:r>
              <a:rPr sz="1150" b="0" i="0">
                <a:solidFill>
                  <a:srgbClr val="1A1A1A"/>
                </a:solidFill>
              </a:rPr>
              <a:t>That leaks test information into the model's settings, so the reported accuracy would look better than it really is (data leakage).</a:t>
            </a:r>
          </a:p>
        </p:txBody>
      </p:sp>
      <p:pic>
        <p:nvPicPr>
          <p:cNvPr id="20" name="Picture 19" descr="exits3d.png"/>
          <p:cNvPicPr>
            <a:picLocks noChangeAspect="1"/>
          </p:cNvPicPr>
          <p:nvPr/>
        </p:nvPicPr>
        <p:blipFill>
          <a:blip r:embed="rId4"/>
          <a:stretch>
            <a:fillRect/>
          </a:stretch>
        </p:blipFill>
        <p:spPr>
          <a:xfrm>
            <a:off x="6949440" y="1234440"/>
            <a:ext cx="4297680" cy="3617723"/>
          </a:xfrm>
          <a:prstGeom prst="rect">
            <a:avLst/>
          </a:prstGeom>
        </p:spPr>
      </p:pic>
      <p:sp>
        <p:nvSpPr>
          <p:cNvPr id="21" name="TextBox 20"/>
          <p:cNvSpPr txBox="1"/>
          <p:nvPr/>
        </p:nvSpPr>
        <p:spPr>
          <a:xfrm>
            <a:off x="6858000" y="4480560"/>
            <a:ext cx="4480560" cy="274320"/>
          </a:xfrm>
          <a:prstGeom prst="rect">
            <a:avLst/>
          </a:prstGeom>
          <a:noFill/>
        </p:spPr>
        <p:txBody>
          <a:bodyPr wrap="square" lIns="36576" tIns="18288" rIns="36576" bIns="18288" anchor="t">
            <a:spAutoFit/>
          </a:bodyPr>
          <a:lstStyle/>
          <a:p>
            <a:pPr algn="ctr">
              <a:spcAft>
                <a:spcPts val="200"/>
              </a:spcAft>
            </a:pPr>
            <a:r>
              <a:rPr sz="1050" b="0" i="0">
                <a:solidFill>
                  <a:srgbClr val="5B6676"/>
                </a:solidFill>
              </a:rPr>
              <a:t>Higher τ → fewer images stop early (validation, seed 0)</a:t>
            </a:r>
          </a:p>
        </p:txBody>
      </p:sp>
      <p:sp>
        <p:nvSpPr>
          <p:cNvPr id="22" name="Rounded Rectangle 21"/>
          <p:cNvSpPr/>
          <p:nvPr/>
        </p:nvSpPr>
        <p:spPr>
          <a:xfrm>
            <a:off x="6858000" y="4846320"/>
            <a:ext cx="1426464" cy="457200"/>
          </a:xfrm>
          <a:prstGeom prst="roundRect">
            <a:avLst>
              <a:gd name="adj" fmla="val 1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931152" y="4846320"/>
            <a:ext cx="1280160" cy="45720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seed 0  </a:t>
            </a:r>
            <a:r>
              <a:rPr sz="1200" b="1" i="0">
                <a:solidFill>
                  <a:srgbClr val="518113"/>
                </a:solidFill>
              </a:rPr>
              <a:t>τ = 0.84</a:t>
            </a:r>
          </a:p>
        </p:txBody>
      </p:sp>
      <p:sp>
        <p:nvSpPr>
          <p:cNvPr id="24" name="Rounded Rectangle 23"/>
          <p:cNvSpPr/>
          <p:nvPr/>
        </p:nvSpPr>
        <p:spPr>
          <a:xfrm>
            <a:off x="8375904" y="4846320"/>
            <a:ext cx="1426464" cy="457200"/>
          </a:xfrm>
          <a:prstGeom prst="roundRect">
            <a:avLst>
              <a:gd name="adj" fmla="val 1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449056" y="4846320"/>
            <a:ext cx="1280160" cy="45720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seed 1  </a:t>
            </a:r>
            <a:r>
              <a:rPr sz="1200" b="1" i="0">
                <a:solidFill>
                  <a:srgbClr val="518113"/>
                </a:solidFill>
              </a:rPr>
              <a:t>τ = 0.86</a:t>
            </a:r>
          </a:p>
        </p:txBody>
      </p:sp>
      <p:sp>
        <p:nvSpPr>
          <p:cNvPr id="26" name="Rounded Rectangle 25"/>
          <p:cNvSpPr/>
          <p:nvPr/>
        </p:nvSpPr>
        <p:spPr>
          <a:xfrm>
            <a:off x="9893808" y="4846320"/>
            <a:ext cx="1426464" cy="457200"/>
          </a:xfrm>
          <a:prstGeom prst="roundRect">
            <a:avLst>
              <a:gd name="adj" fmla="val 1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966960" y="4846320"/>
            <a:ext cx="1280160" cy="457200"/>
          </a:xfrm>
          <a:prstGeom prst="rect">
            <a:avLst/>
          </a:prstGeom>
          <a:noFill/>
        </p:spPr>
        <p:txBody>
          <a:bodyPr wrap="square" lIns="36576" tIns="18288" rIns="36576" bIns="18288" anchor="ctr">
            <a:spAutoFit/>
          </a:bodyPr>
          <a:lstStyle/>
          <a:p>
            <a:pPr algn="ctr">
              <a:spcAft>
                <a:spcPts val="200"/>
              </a:spcAft>
            </a:pPr>
            <a:r>
              <a:rPr sz="1050" b="0" i="0">
                <a:solidFill>
                  <a:srgbClr val="5B6676"/>
                </a:solidFill>
              </a:rPr>
              <a:t>seed 2  </a:t>
            </a:r>
            <a:r>
              <a:rPr sz="1200" b="1" i="0">
                <a:solidFill>
                  <a:srgbClr val="518113"/>
                </a:solidFill>
              </a:rPr>
              <a:t>τ = 0.85</a:t>
            </a:r>
          </a:p>
        </p:txBody>
      </p:sp>
      <p:sp>
        <p:nvSpPr>
          <p:cNvPr id="28" name="TextBox 27"/>
          <p:cNvSpPr txBox="1"/>
          <p:nvPr/>
        </p:nvSpPr>
        <p:spPr>
          <a:xfrm>
            <a:off x="6858000" y="5394960"/>
            <a:ext cx="4526280" cy="548640"/>
          </a:xfrm>
          <a:prstGeom prst="rect">
            <a:avLst/>
          </a:prstGeom>
          <a:noFill/>
        </p:spPr>
        <p:txBody>
          <a:bodyPr wrap="square" lIns="36576" tIns="18288" rIns="36576" bIns="18288" anchor="t">
            <a:spAutoFit/>
          </a:bodyPr>
          <a:lstStyle/>
          <a:p>
            <a:pPr algn="l">
              <a:spcAft>
                <a:spcPts val="200"/>
              </a:spcAft>
            </a:pPr>
            <a:r>
              <a:rPr sz="1100" b="0" i="0">
                <a:solidFill>
                  <a:srgbClr val="5B6676"/>
                </a:solidFill>
              </a:rPr>
              <a:t>Three independently trained models chose almost the same τ → the selection is stable.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Accuracy vs Computation (CIFAR-10)</a:t>
            </a:r>
          </a:p>
        </p:txBody>
      </p:sp>
      <p:sp>
        <p:nvSpPr>
          <p:cNvPr id="3" name="Slide Number Placeholder 2"/>
          <p:cNvSpPr>
            <a:spLocks noGrp="1"/>
          </p:cNvSpPr>
          <p:nvPr>
            <p:ph type="sldNum" sz="quarter" idx="12"/>
          </p:nvPr>
        </p:nvSpPr>
        <p:spPr/>
        <p:txBody>
          <a:bodyPr/>
          <a:lstStyle/>
          <a:p>
            <a:fld id="{B6F15528-21DE-4FAA-801E-634DDDAF4B2B}" type="slidenum">
              <a:rPr lang="en-US"/>
              <a:t>9</a:t>
            </a:fld>
            <a:endParaRPr lang="en-US"/>
          </a:p>
        </p:txBody>
      </p:sp>
      <p:sp>
        <p:nvSpPr>
          <p:cNvPr id="4" name="Rounded Rectangle 3"/>
          <p:cNvSpPr/>
          <p:nvPr/>
        </p:nvSpPr>
        <p:spPr>
          <a:xfrm>
            <a:off x="841248" y="1325880"/>
            <a:ext cx="3383280" cy="109728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78408" y="1325880"/>
            <a:ext cx="1691640" cy="1097280"/>
          </a:xfrm>
          <a:prstGeom prst="rect">
            <a:avLst/>
          </a:prstGeom>
          <a:noFill/>
        </p:spPr>
        <p:txBody>
          <a:bodyPr wrap="square" lIns="36576" tIns="18288" rIns="36576" bIns="18288" anchor="ctr">
            <a:spAutoFit/>
          </a:bodyPr>
          <a:lstStyle/>
          <a:p>
            <a:pPr algn="l">
              <a:spcAft>
                <a:spcPts val="200"/>
              </a:spcAft>
            </a:pPr>
            <a:r>
              <a:rPr sz="2600" b="1" i="0">
                <a:solidFill>
                  <a:srgbClr val="2A55A1"/>
                </a:solidFill>
              </a:rPr>
              <a:t>90.37%</a:t>
            </a:r>
          </a:p>
        </p:txBody>
      </p:sp>
      <p:sp>
        <p:nvSpPr>
          <p:cNvPr id="6" name="TextBox 5"/>
          <p:cNvSpPr txBox="1"/>
          <p:nvPr/>
        </p:nvSpPr>
        <p:spPr>
          <a:xfrm>
            <a:off x="2670048" y="1371600"/>
            <a:ext cx="1508760" cy="1005840"/>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Standard CNN accuracy</a:t>
            </a:r>
          </a:p>
          <a:p>
            <a:pPr algn="l">
              <a:spcAft>
                <a:spcPts val="200"/>
              </a:spcAft>
            </a:pPr>
            <a:r>
              <a:rPr sz="1050" b="0" i="0">
                <a:solidFill>
                  <a:srgbClr val="5B6676"/>
                </a:solidFill>
              </a:rPr>
              <a:t>uses 100% compute</a:t>
            </a:r>
          </a:p>
        </p:txBody>
      </p:sp>
      <p:sp>
        <p:nvSpPr>
          <p:cNvPr id="7" name="Rounded Rectangle 6"/>
          <p:cNvSpPr/>
          <p:nvPr/>
        </p:nvSpPr>
        <p:spPr>
          <a:xfrm>
            <a:off x="4407408" y="1325880"/>
            <a:ext cx="3383280" cy="109728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44568" y="1325880"/>
            <a:ext cx="1691640" cy="1097280"/>
          </a:xfrm>
          <a:prstGeom prst="rect">
            <a:avLst/>
          </a:prstGeom>
          <a:noFill/>
        </p:spPr>
        <p:txBody>
          <a:bodyPr wrap="square" lIns="36576" tIns="18288" rIns="36576" bIns="18288" anchor="ctr">
            <a:spAutoFit/>
          </a:bodyPr>
          <a:lstStyle/>
          <a:p>
            <a:pPr algn="l">
              <a:spcAft>
                <a:spcPts val="200"/>
              </a:spcAft>
            </a:pPr>
            <a:r>
              <a:rPr sz="2600" b="1" i="0">
                <a:solidFill>
                  <a:srgbClr val="518113"/>
                </a:solidFill>
              </a:rPr>
              <a:t>89.28%</a:t>
            </a:r>
          </a:p>
        </p:txBody>
      </p:sp>
      <p:sp>
        <p:nvSpPr>
          <p:cNvPr id="9" name="TextBox 8"/>
          <p:cNvSpPr txBox="1"/>
          <p:nvPr/>
        </p:nvSpPr>
        <p:spPr>
          <a:xfrm>
            <a:off x="6236208" y="1371600"/>
            <a:ext cx="1508760" cy="1005840"/>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Think-or-Stop accuracy</a:t>
            </a:r>
          </a:p>
          <a:p>
            <a:pPr algn="l">
              <a:spcAft>
                <a:spcPts val="200"/>
              </a:spcAft>
            </a:pPr>
            <a:r>
              <a:rPr sz="1050" b="0" i="0">
                <a:solidFill>
                  <a:srgbClr val="5B6676"/>
                </a:solidFill>
              </a:rPr>
              <a:t>uses only 63.5% compute</a:t>
            </a:r>
          </a:p>
        </p:txBody>
      </p:sp>
      <p:sp>
        <p:nvSpPr>
          <p:cNvPr id="10" name="Rounded Rectangle 9"/>
          <p:cNvSpPr/>
          <p:nvPr/>
        </p:nvSpPr>
        <p:spPr>
          <a:xfrm>
            <a:off x="7973568" y="1325880"/>
            <a:ext cx="3383280" cy="109728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110728" y="1325880"/>
            <a:ext cx="1691640" cy="1097280"/>
          </a:xfrm>
          <a:prstGeom prst="rect">
            <a:avLst/>
          </a:prstGeom>
          <a:noFill/>
        </p:spPr>
        <p:txBody>
          <a:bodyPr wrap="square" lIns="36576" tIns="18288" rIns="36576" bIns="18288" anchor="ctr">
            <a:spAutoFit/>
          </a:bodyPr>
          <a:lstStyle/>
          <a:p>
            <a:pPr algn="l">
              <a:spcAft>
                <a:spcPts val="200"/>
              </a:spcAft>
            </a:pPr>
            <a:r>
              <a:rPr sz="2600" b="1" i="0">
                <a:solidFill>
                  <a:srgbClr val="C2570C"/>
                </a:solidFill>
              </a:rPr>
              <a:t>+3.4 pts</a:t>
            </a:r>
          </a:p>
        </p:txBody>
      </p:sp>
      <p:sp>
        <p:nvSpPr>
          <p:cNvPr id="12" name="TextBox 11"/>
          <p:cNvSpPr txBox="1"/>
          <p:nvPr/>
        </p:nvSpPr>
        <p:spPr>
          <a:xfrm>
            <a:off x="9802368" y="1371600"/>
            <a:ext cx="1508760" cy="1005840"/>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vs. always stopping at Exit 2</a:t>
            </a:r>
          </a:p>
          <a:p>
            <a:pPr algn="l">
              <a:spcAft>
                <a:spcPts val="200"/>
              </a:spcAft>
            </a:pPr>
            <a:r>
              <a:rPr sz="1050" b="0" i="0">
                <a:solidFill>
                  <a:srgbClr val="5B6676"/>
                </a:solidFill>
              </a:rPr>
              <a:t>at the same ≈63% compute</a:t>
            </a:r>
          </a:p>
        </p:txBody>
      </p:sp>
      <p:graphicFrame>
        <p:nvGraphicFramePr>
          <p:cNvPr id="13" name="Chart 12"/>
          <p:cNvGraphicFramePr>
            <a:graphicFrameLocks noGrp="1"/>
          </p:cNvGraphicFramePr>
          <p:nvPr/>
        </p:nvGraphicFramePr>
        <p:xfrm>
          <a:off x="841248" y="2606040"/>
          <a:ext cx="585216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13"/>
          <p:cNvGraphicFramePr>
            <a:graphicFrameLocks noGrp="1"/>
          </p:cNvGraphicFramePr>
          <p:nvPr/>
        </p:nvGraphicFramePr>
        <p:xfrm>
          <a:off x="6903720" y="2606040"/>
          <a:ext cx="4453128" cy="283464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04948">
                <a:tc>
                  <a:txBody>
                    <a:bodyPr/>
                    <a:lstStyle/>
                    <a:p>
                      <a:pPr algn="l"/>
                      <a:r>
                        <a:rPr sz="1150" b="1">
                          <a:solidFill>
                            <a:srgbClr val="FFFFFF"/>
                          </a:solidFill>
                        </a:rPr>
                        <a:t>Method</a:t>
                      </a:r>
                    </a:p>
                  </a:txBody>
                  <a:tcPr marL="54864" marR="54864" anchor="ctr">
                    <a:solidFill>
                      <a:srgbClr val="2A55A1"/>
                    </a:solidFill>
                  </a:tcPr>
                </a:tc>
                <a:tc>
                  <a:txBody>
                    <a:bodyPr/>
                    <a:lstStyle/>
                    <a:p>
                      <a:pPr algn="ctr"/>
                      <a:r>
                        <a:rPr sz="1150" b="1">
                          <a:solidFill>
                            <a:srgbClr val="FFFFFF"/>
                          </a:solidFill>
                        </a:rPr>
                        <a:t>Accuracy %</a:t>
                      </a:r>
                    </a:p>
                  </a:txBody>
                  <a:tcPr marL="54864" marR="54864" anchor="ctr">
                    <a:solidFill>
                      <a:srgbClr val="2A55A1"/>
                    </a:solidFill>
                  </a:tcPr>
                </a:tc>
                <a:tc>
                  <a:txBody>
                    <a:bodyPr/>
                    <a:lstStyle/>
                    <a:p>
                      <a:pPr algn="ctr"/>
                      <a:r>
                        <a:rPr sz="1150" b="1">
                          <a:solidFill>
                            <a:srgbClr val="FFFFFF"/>
                          </a:solidFill>
                        </a:rPr>
                        <a:t>Compute %</a:t>
                      </a:r>
                    </a:p>
                  </a:txBody>
                  <a:tcPr marL="54864" marR="54864" anchor="ctr">
                    <a:solidFill>
                      <a:srgbClr val="2A55A1"/>
                    </a:solidFill>
                  </a:tcPr>
                </a:tc>
                <a:extLst>
                  <a:ext uri="{0D108BD9-81ED-4DB2-BD59-A6C34878D82A}">
                    <a16:rowId xmlns:a16="http://schemas.microsoft.com/office/drawing/2014/main" val="10000"/>
                  </a:ext>
                </a:extLst>
              </a:tr>
              <a:tr h="404948">
                <a:tc>
                  <a:txBody>
                    <a:bodyPr/>
                    <a:lstStyle/>
                    <a:p>
                      <a:pPr algn="l"/>
                      <a:r>
                        <a:rPr sz="1100" b="0">
                          <a:solidFill>
                            <a:srgbClr val="1A1A1A"/>
                          </a:solidFill>
                        </a:rPr>
                        <a:t>Standard CNN</a:t>
                      </a:r>
                    </a:p>
                  </a:txBody>
                  <a:tcPr marL="54864" marR="54864" anchor="ctr">
                    <a:solidFill>
                      <a:srgbClr val="FFFFFF"/>
                    </a:solidFill>
                  </a:tcPr>
                </a:tc>
                <a:tc>
                  <a:txBody>
                    <a:bodyPr/>
                    <a:lstStyle/>
                    <a:p>
                      <a:pPr algn="ctr"/>
                      <a:r>
                        <a:rPr sz="1100" b="0">
                          <a:solidFill>
                            <a:srgbClr val="1A1A1A"/>
                          </a:solidFill>
                        </a:rPr>
                        <a:t>90.37 ± 0.10</a:t>
                      </a:r>
                    </a:p>
                  </a:txBody>
                  <a:tcPr marL="54864" marR="54864" anchor="ctr">
                    <a:solidFill>
                      <a:srgbClr val="FFFFFF"/>
                    </a:solidFill>
                  </a:tcPr>
                </a:tc>
                <a:tc>
                  <a:txBody>
                    <a:bodyPr/>
                    <a:lstStyle/>
                    <a:p>
                      <a:pPr algn="ctr"/>
                      <a:r>
                        <a:rPr sz="1100" b="0">
                          <a:solidFill>
                            <a:srgbClr val="1A1A1A"/>
                          </a:solidFill>
                        </a:rPr>
                        <a:t>100.0</a:t>
                      </a:r>
                    </a:p>
                  </a:txBody>
                  <a:tcPr marL="54864" marR="54864" anchor="ctr">
                    <a:solidFill>
                      <a:srgbClr val="FFFFFF"/>
                    </a:solidFill>
                  </a:tcPr>
                </a:tc>
                <a:extLst>
                  <a:ext uri="{0D108BD9-81ED-4DB2-BD59-A6C34878D82A}">
                    <a16:rowId xmlns:a16="http://schemas.microsoft.com/office/drawing/2014/main" val="10001"/>
                  </a:ext>
                </a:extLst>
              </a:tr>
              <a:tr h="404948">
                <a:tc>
                  <a:txBody>
                    <a:bodyPr/>
                    <a:lstStyle/>
                    <a:p>
                      <a:pPr algn="l"/>
                      <a:r>
                        <a:rPr sz="1100" b="0">
                          <a:solidFill>
                            <a:srgbClr val="1A1A1A"/>
                          </a:solidFill>
                        </a:rPr>
                        <a:t>Multi-exit: Exit 3 only</a:t>
                      </a:r>
                    </a:p>
                  </a:txBody>
                  <a:tcPr marL="54864" marR="54864" anchor="ctr">
                    <a:solidFill>
                      <a:srgbClr val="F2F5FB"/>
                    </a:solidFill>
                  </a:tcPr>
                </a:tc>
                <a:tc>
                  <a:txBody>
                    <a:bodyPr/>
                    <a:lstStyle/>
                    <a:p>
                      <a:pPr algn="ctr"/>
                      <a:r>
                        <a:rPr sz="1100" b="0">
                          <a:solidFill>
                            <a:srgbClr val="1A1A1A"/>
                          </a:solidFill>
                        </a:rPr>
                        <a:t>90.11 ± 0.20</a:t>
                      </a:r>
                    </a:p>
                  </a:txBody>
                  <a:tcPr marL="54864" marR="54864" anchor="ctr">
                    <a:solidFill>
                      <a:srgbClr val="F2F5FB"/>
                    </a:solidFill>
                  </a:tcPr>
                </a:tc>
                <a:tc>
                  <a:txBody>
                    <a:bodyPr/>
                    <a:lstStyle/>
                    <a:p>
                      <a:pPr algn="ctr"/>
                      <a:r>
                        <a:rPr sz="1100" b="0">
                          <a:solidFill>
                            <a:srgbClr val="1A1A1A"/>
                          </a:solidFill>
                        </a:rPr>
                        <a:t>100.0</a:t>
                      </a:r>
                    </a:p>
                  </a:txBody>
                  <a:tcPr marL="54864" marR="54864" anchor="ctr">
                    <a:solidFill>
                      <a:srgbClr val="F2F5FB"/>
                    </a:solidFill>
                  </a:tcPr>
                </a:tc>
                <a:extLst>
                  <a:ext uri="{0D108BD9-81ED-4DB2-BD59-A6C34878D82A}">
                    <a16:rowId xmlns:a16="http://schemas.microsoft.com/office/drawing/2014/main" val="10002"/>
                  </a:ext>
                </a:extLst>
              </a:tr>
              <a:tr h="404948">
                <a:tc>
                  <a:txBody>
                    <a:bodyPr/>
                    <a:lstStyle/>
                    <a:p>
                      <a:pPr algn="l"/>
                      <a:r>
                        <a:rPr sz="1100" b="0">
                          <a:solidFill>
                            <a:srgbClr val="1A1A1A"/>
                          </a:solidFill>
                        </a:rPr>
                        <a:t>Multi-exit: Exit 2 only</a:t>
                      </a:r>
                    </a:p>
                  </a:txBody>
                  <a:tcPr marL="54864" marR="54864" anchor="ctr">
                    <a:solidFill>
                      <a:srgbClr val="FFFFFF"/>
                    </a:solidFill>
                  </a:tcPr>
                </a:tc>
                <a:tc>
                  <a:txBody>
                    <a:bodyPr/>
                    <a:lstStyle/>
                    <a:p>
                      <a:pPr algn="ctr"/>
                      <a:r>
                        <a:rPr sz="1100" b="0">
                          <a:solidFill>
                            <a:srgbClr val="1A1A1A"/>
                          </a:solidFill>
                        </a:rPr>
                        <a:t>85.89 ± 0.33</a:t>
                      </a:r>
                    </a:p>
                  </a:txBody>
                  <a:tcPr marL="54864" marR="54864" anchor="ctr">
                    <a:solidFill>
                      <a:srgbClr val="FFFFFF"/>
                    </a:solidFill>
                  </a:tcPr>
                </a:tc>
                <a:tc>
                  <a:txBody>
                    <a:bodyPr/>
                    <a:lstStyle/>
                    <a:p>
                      <a:pPr algn="ctr"/>
                      <a:r>
                        <a:rPr sz="1100" b="0">
                          <a:solidFill>
                            <a:srgbClr val="1A1A1A"/>
                          </a:solidFill>
                        </a:rPr>
                        <a:t>62.9</a:t>
                      </a:r>
                    </a:p>
                  </a:txBody>
                  <a:tcPr marL="54864" marR="54864" anchor="ctr">
                    <a:solidFill>
                      <a:srgbClr val="FFFFFF"/>
                    </a:solidFill>
                  </a:tcPr>
                </a:tc>
                <a:extLst>
                  <a:ext uri="{0D108BD9-81ED-4DB2-BD59-A6C34878D82A}">
                    <a16:rowId xmlns:a16="http://schemas.microsoft.com/office/drawing/2014/main" val="10003"/>
                  </a:ext>
                </a:extLst>
              </a:tr>
              <a:tr h="404948">
                <a:tc>
                  <a:txBody>
                    <a:bodyPr/>
                    <a:lstStyle/>
                    <a:p>
                      <a:pPr algn="l"/>
                      <a:r>
                        <a:rPr sz="1100" b="0">
                          <a:solidFill>
                            <a:srgbClr val="1A1A1A"/>
                          </a:solidFill>
                        </a:rPr>
                        <a:t>Multi-exit: Exit 1 only</a:t>
                      </a:r>
                    </a:p>
                  </a:txBody>
                  <a:tcPr marL="54864" marR="54864" anchor="ctr">
                    <a:solidFill>
                      <a:srgbClr val="F2F5FB"/>
                    </a:solidFill>
                  </a:tcPr>
                </a:tc>
                <a:tc>
                  <a:txBody>
                    <a:bodyPr/>
                    <a:lstStyle/>
                    <a:p>
                      <a:pPr algn="ctr"/>
                      <a:r>
                        <a:rPr sz="1100" b="0">
                          <a:solidFill>
                            <a:srgbClr val="1A1A1A"/>
                          </a:solidFill>
                        </a:rPr>
                        <a:t>67.44 ± 0.14</a:t>
                      </a:r>
                    </a:p>
                  </a:txBody>
                  <a:tcPr marL="54864" marR="54864" anchor="ctr">
                    <a:solidFill>
                      <a:srgbClr val="F2F5FB"/>
                    </a:solidFill>
                  </a:tcPr>
                </a:tc>
                <a:tc>
                  <a:txBody>
                    <a:bodyPr/>
                    <a:lstStyle/>
                    <a:p>
                      <a:pPr algn="ctr"/>
                      <a:r>
                        <a:rPr sz="1100" b="0">
                          <a:solidFill>
                            <a:srgbClr val="1A1A1A"/>
                          </a:solidFill>
                        </a:rPr>
                        <a:t>25.9</a:t>
                      </a:r>
                    </a:p>
                  </a:txBody>
                  <a:tcPr marL="54864" marR="54864" anchor="ctr">
                    <a:solidFill>
                      <a:srgbClr val="F2F5FB"/>
                    </a:solidFill>
                  </a:tcPr>
                </a:tc>
                <a:extLst>
                  <a:ext uri="{0D108BD9-81ED-4DB2-BD59-A6C34878D82A}">
                    <a16:rowId xmlns:a16="http://schemas.microsoft.com/office/drawing/2014/main" val="10004"/>
                  </a:ext>
                </a:extLst>
              </a:tr>
              <a:tr h="404948">
                <a:tc>
                  <a:txBody>
                    <a:bodyPr/>
                    <a:lstStyle/>
                    <a:p>
                      <a:pPr algn="l"/>
                      <a:r>
                        <a:rPr sz="1100" b="0">
                          <a:solidFill>
                            <a:srgbClr val="1A1A1A"/>
                          </a:solidFill>
                        </a:rPr>
                        <a:t>Think-or-Stop, τ = 0.9</a:t>
                      </a:r>
                    </a:p>
                  </a:txBody>
                  <a:tcPr marL="54864" marR="54864" anchor="ctr">
                    <a:solidFill>
                      <a:srgbClr val="FFFFFF"/>
                    </a:solidFill>
                  </a:tcPr>
                </a:tc>
                <a:tc>
                  <a:txBody>
                    <a:bodyPr/>
                    <a:lstStyle/>
                    <a:p>
                      <a:pPr algn="ctr"/>
                      <a:r>
                        <a:rPr sz="1100" b="0">
                          <a:solidFill>
                            <a:srgbClr val="1A1A1A"/>
                          </a:solidFill>
                        </a:rPr>
                        <a:t>89.72 ± 0.30</a:t>
                      </a:r>
                    </a:p>
                  </a:txBody>
                  <a:tcPr marL="54864" marR="54864" anchor="ctr">
                    <a:solidFill>
                      <a:srgbClr val="FFFFFF"/>
                    </a:solidFill>
                  </a:tcPr>
                </a:tc>
                <a:tc>
                  <a:txBody>
                    <a:bodyPr/>
                    <a:lstStyle/>
                    <a:p>
                      <a:pPr algn="ctr"/>
                      <a:r>
                        <a:rPr sz="1100" b="0">
                          <a:solidFill>
                            <a:srgbClr val="1A1A1A"/>
                          </a:solidFill>
                        </a:rPr>
                        <a:t>68.6</a:t>
                      </a:r>
                    </a:p>
                  </a:txBody>
                  <a:tcPr marL="54864" marR="54864" anchor="ctr">
                    <a:solidFill>
                      <a:srgbClr val="FFFFFF"/>
                    </a:solidFill>
                  </a:tcPr>
                </a:tc>
                <a:extLst>
                  <a:ext uri="{0D108BD9-81ED-4DB2-BD59-A6C34878D82A}">
                    <a16:rowId xmlns:a16="http://schemas.microsoft.com/office/drawing/2014/main" val="10005"/>
                  </a:ext>
                </a:extLst>
              </a:tr>
              <a:tr h="404952">
                <a:tc>
                  <a:txBody>
                    <a:bodyPr/>
                    <a:lstStyle/>
                    <a:p>
                      <a:pPr algn="l"/>
                      <a:r>
                        <a:rPr sz="1100" b="1">
                          <a:solidFill>
                            <a:srgbClr val="518113"/>
                          </a:solidFill>
                        </a:rPr>
                        <a:t>Think-or-Stop, val-selected τ</a:t>
                      </a:r>
                    </a:p>
                  </a:txBody>
                  <a:tcPr marL="54864" marR="54864" anchor="ctr">
                    <a:solidFill>
                      <a:srgbClr val="EEF5E4"/>
                    </a:solidFill>
                  </a:tcPr>
                </a:tc>
                <a:tc>
                  <a:txBody>
                    <a:bodyPr/>
                    <a:lstStyle/>
                    <a:p>
                      <a:pPr algn="ctr"/>
                      <a:r>
                        <a:rPr sz="1100" b="1">
                          <a:solidFill>
                            <a:srgbClr val="518113"/>
                          </a:solidFill>
                        </a:rPr>
                        <a:t>89.28 ± 0.24</a:t>
                      </a:r>
                    </a:p>
                  </a:txBody>
                  <a:tcPr marL="54864" marR="54864" anchor="ctr">
                    <a:solidFill>
                      <a:srgbClr val="EEF5E4"/>
                    </a:solidFill>
                  </a:tcPr>
                </a:tc>
                <a:tc>
                  <a:txBody>
                    <a:bodyPr/>
                    <a:lstStyle/>
                    <a:p>
                      <a:pPr algn="ctr"/>
                      <a:r>
                        <a:rPr sz="1100" b="1">
                          <a:solidFill>
                            <a:srgbClr val="518113"/>
                          </a:solidFill>
                        </a:rPr>
                        <a:t>63.5</a:t>
                      </a:r>
                    </a:p>
                  </a:txBody>
                  <a:tcPr marL="54864" marR="54864" anchor="ctr">
                    <a:solidFill>
                      <a:srgbClr val="EEF5E4"/>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6903720" y="5504688"/>
            <a:ext cx="4453128" cy="457200"/>
          </a:xfrm>
          <a:prstGeom prst="rect">
            <a:avLst/>
          </a:prstGeom>
          <a:noFill/>
        </p:spPr>
        <p:txBody>
          <a:bodyPr wrap="square" lIns="36576" tIns="18288" rIns="36576" bIns="18288" anchor="t">
            <a:spAutoFit/>
          </a:bodyPr>
          <a:lstStyle/>
          <a:p>
            <a:pPr algn="l">
              <a:spcAft>
                <a:spcPts val="200"/>
              </a:spcAft>
            </a:pPr>
            <a:r>
              <a:rPr sz="1000" b="0" i="0">
                <a:solidFill>
                  <a:srgbClr val="5B6676"/>
                </a:solidFill>
              </a:rPr>
              <a:t>Mean ± std over 3 seeds, CIFAR-10 test set (10,000 images). No significance test was run.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Is It Faster on the GPU?</a:t>
            </a:r>
          </a:p>
        </p:txBody>
      </p:sp>
      <p:sp>
        <p:nvSpPr>
          <p:cNvPr id="3" name="Slide Number Placeholder 2"/>
          <p:cNvSpPr>
            <a:spLocks noGrp="1"/>
          </p:cNvSpPr>
          <p:nvPr>
            <p:ph type="sldNum" sz="quarter" idx="12"/>
          </p:nvPr>
        </p:nvSpPr>
        <p:spPr/>
        <p:txBody>
          <a:bodyPr/>
          <a:lstStyle/>
          <a:p>
            <a:fld id="{B6F15528-21DE-4FAA-801E-634DDDAF4B2B}" type="slidenum">
              <a:rPr lang="en-US"/>
              <a:t>10</a:t>
            </a:fld>
            <a:endParaRPr lang="en-US"/>
          </a:p>
        </p:txBody>
      </p:sp>
      <p:graphicFrame>
        <p:nvGraphicFramePr>
          <p:cNvPr id="4" name="Chart 3"/>
          <p:cNvGraphicFramePr>
            <a:graphicFrameLocks noGrp="1"/>
          </p:cNvGraphicFramePr>
          <p:nvPr/>
        </p:nvGraphicFramePr>
        <p:xfrm>
          <a:off x="841248" y="1325880"/>
          <a:ext cx="566928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841248" y="5349240"/>
            <a:ext cx="5669280" cy="594360"/>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60120" y="5349240"/>
            <a:ext cx="5486400" cy="594360"/>
          </a:xfrm>
          <a:prstGeom prst="rect">
            <a:avLst/>
          </a:prstGeom>
          <a:noFill/>
        </p:spPr>
        <p:txBody>
          <a:bodyPr wrap="square" lIns="36576" tIns="18288" rIns="36576" bIns="18288" anchor="ctr">
            <a:spAutoFit/>
          </a:bodyPr>
          <a:lstStyle/>
          <a:p>
            <a:pPr algn="l">
              <a:spcAft>
                <a:spcPts val="200"/>
              </a:spcAft>
            </a:pPr>
            <a:r>
              <a:rPr sz="1150" b="1" i="0">
                <a:solidFill>
                  <a:srgbClr val="2A55A1"/>
                </a:solidFill>
              </a:rPr>
              <a:t>Batch 128: </a:t>
            </a:r>
            <a:r>
              <a:rPr sz="1150" b="0" i="0">
                <a:solidFill>
                  <a:srgbClr val="1A1A1A"/>
                </a:solidFill>
              </a:rPr>
              <a:t>21,714 vs 27,725 images/s (Think-or-Stop vs full network: 22% lower).</a:t>
            </a:r>
          </a:p>
        </p:txBody>
      </p:sp>
      <p:sp>
        <p:nvSpPr>
          <p:cNvPr id="7" name="Rounded Rectangle 6"/>
          <p:cNvSpPr/>
          <p:nvPr/>
        </p:nvSpPr>
        <p:spPr>
          <a:xfrm>
            <a:off x="6766560" y="1325880"/>
            <a:ext cx="4590288" cy="68580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03720" y="1325880"/>
            <a:ext cx="4389120" cy="685800"/>
          </a:xfrm>
          <a:prstGeom prst="rect">
            <a:avLst/>
          </a:prstGeom>
          <a:noFill/>
        </p:spPr>
        <p:txBody>
          <a:bodyPr wrap="square" lIns="36576" tIns="18288" rIns="36576" bIns="18288" anchor="ctr">
            <a:spAutoFit/>
          </a:bodyPr>
          <a:lstStyle/>
          <a:p>
            <a:pPr algn="l">
              <a:spcAft>
                <a:spcPts val="200"/>
              </a:spcAft>
            </a:pPr>
            <a:r>
              <a:rPr sz="1250" b="1" i="0">
                <a:solidFill>
                  <a:srgbClr val="C2570C"/>
                </a:solidFill>
              </a:rPr>
              <a:t>Fewer MACs ≠ less time. </a:t>
            </a:r>
            <a:r>
              <a:rPr sz="1250" b="0" i="0">
                <a:solidFill>
                  <a:srgbClr val="1A1A1A"/>
                </a:solidFill>
              </a:rPr>
              <a:t>36% less arithmetic, but ≈58% slower per image.</a:t>
            </a:r>
          </a:p>
        </p:txBody>
      </p:sp>
      <p:sp>
        <p:nvSpPr>
          <p:cNvPr id="9" name="TextBox 8"/>
          <p:cNvSpPr txBox="1"/>
          <p:nvPr/>
        </p:nvSpPr>
        <p:spPr>
          <a:xfrm>
            <a:off x="6766560" y="2148840"/>
            <a:ext cx="4572000" cy="320040"/>
          </a:xfrm>
          <a:prstGeom prst="rect">
            <a:avLst/>
          </a:prstGeom>
          <a:noFill/>
        </p:spPr>
        <p:txBody>
          <a:bodyPr wrap="square" lIns="36576" tIns="18288" rIns="36576" bIns="18288" anchor="t">
            <a:spAutoFit/>
          </a:bodyPr>
          <a:lstStyle/>
          <a:p>
            <a:pPr algn="l">
              <a:spcAft>
                <a:spcPts val="200"/>
              </a:spcAft>
            </a:pPr>
            <a:r>
              <a:rPr sz="1400" b="1" i="0">
                <a:solidFill>
                  <a:srgbClr val="2A55A1"/>
                </a:solidFill>
              </a:rPr>
              <a:t>Why the GPU did not speed up</a:t>
            </a:r>
          </a:p>
        </p:txBody>
      </p:sp>
      <p:sp>
        <p:nvSpPr>
          <p:cNvPr id="10" name="Oval 9"/>
          <p:cNvSpPr/>
          <p:nvPr/>
        </p:nvSpPr>
        <p:spPr>
          <a:xfrm>
            <a:off x="6766560" y="2560320"/>
            <a:ext cx="457200" cy="45720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alc_w.png"/>
          <p:cNvPicPr>
            <a:picLocks noChangeAspect="1"/>
          </p:cNvPicPr>
          <p:nvPr/>
        </p:nvPicPr>
        <p:blipFill>
          <a:blip r:embed="rId4"/>
          <a:stretch>
            <a:fillRect/>
          </a:stretch>
        </p:blipFill>
        <p:spPr>
          <a:xfrm>
            <a:off x="6876288" y="2670048"/>
            <a:ext cx="237744" cy="237744"/>
          </a:xfrm>
          <a:prstGeom prst="rect">
            <a:avLst/>
          </a:prstGeom>
        </p:spPr>
      </p:pic>
      <p:sp>
        <p:nvSpPr>
          <p:cNvPr id="12" name="TextBox 11"/>
          <p:cNvSpPr txBox="1"/>
          <p:nvPr/>
        </p:nvSpPr>
        <p:spPr>
          <a:xfrm>
            <a:off x="7333488" y="2523744"/>
            <a:ext cx="4023360" cy="603504"/>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Extra work: </a:t>
            </a:r>
            <a:r>
              <a:rPr sz="1150" b="0" i="0">
                <a:solidFill>
                  <a:srgbClr val="5B6676"/>
                </a:solidFill>
              </a:rPr>
              <a:t>2 extra heads + softmax + comparison per image.</a:t>
            </a:r>
          </a:p>
        </p:txBody>
      </p:sp>
      <p:sp>
        <p:nvSpPr>
          <p:cNvPr id="13" name="Oval 12"/>
          <p:cNvSpPr/>
          <p:nvPr/>
        </p:nvSpPr>
        <p:spPr>
          <a:xfrm>
            <a:off x="6766560" y="3218687"/>
            <a:ext cx="457200" cy="45720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ync_w.png"/>
          <p:cNvPicPr>
            <a:picLocks noChangeAspect="1"/>
          </p:cNvPicPr>
          <p:nvPr/>
        </p:nvPicPr>
        <p:blipFill>
          <a:blip r:embed="rId5"/>
          <a:stretch>
            <a:fillRect/>
          </a:stretch>
        </p:blipFill>
        <p:spPr>
          <a:xfrm>
            <a:off x="6876288" y="3328415"/>
            <a:ext cx="237744" cy="237744"/>
          </a:xfrm>
          <a:prstGeom prst="rect">
            <a:avLst/>
          </a:prstGeom>
        </p:spPr>
      </p:pic>
      <p:sp>
        <p:nvSpPr>
          <p:cNvPr id="15" name="TextBox 14"/>
          <p:cNvSpPr txBox="1"/>
          <p:nvPr/>
        </p:nvSpPr>
        <p:spPr>
          <a:xfrm>
            <a:off x="7333488" y="3182111"/>
            <a:ext cx="4023360" cy="603504"/>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Waiting (sync): </a:t>
            </a:r>
            <a:r>
              <a:rPr sz="1150" b="0" i="0">
                <a:solidFill>
                  <a:srgbClr val="5B6676"/>
                </a:solidFill>
              </a:rPr>
              <a:t>At each exit the CPU must wait for the GPU to count who stopped.</a:t>
            </a:r>
          </a:p>
        </p:txBody>
      </p:sp>
      <p:sp>
        <p:nvSpPr>
          <p:cNvPr id="16" name="Oval 15"/>
          <p:cNvSpPr/>
          <p:nvPr/>
        </p:nvSpPr>
        <p:spPr>
          <a:xfrm>
            <a:off x="6766560" y="3877056"/>
            <a:ext cx="457200" cy="45720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ayers_w.png"/>
          <p:cNvPicPr>
            <a:picLocks noChangeAspect="1"/>
          </p:cNvPicPr>
          <p:nvPr/>
        </p:nvPicPr>
        <p:blipFill>
          <a:blip r:embed="rId6"/>
          <a:stretch>
            <a:fillRect/>
          </a:stretch>
        </p:blipFill>
        <p:spPr>
          <a:xfrm>
            <a:off x="6876288" y="3986784"/>
            <a:ext cx="237744" cy="237744"/>
          </a:xfrm>
          <a:prstGeom prst="rect">
            <a:avLst/>
          </a:prstGeom>
        </p:spPr>
      </p:pic>
      <p:sp>
        <p:nvSpPr>
          <p:cNvPr id="18" name="TextBox 17"/>
          <p:cNvSpPr txBox="1"/>
          <p:nvPr/>
        </p:nvSpPr>
        <p:spPr>
          <a:xfrm>
            <a:off x="7333488" y="3840480"/>
            <a:ext cx="4023360" cy="603504"/>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Splitting batches: </a:t>
            </a:r>
            <a:r>
              <a:rPr sz="1150" b="0" i="0">
                <a:solidFill>
                  <a:srgbClr val="5B6676"/>
                </a:solidFill>
              </a:rPr>
              <a:t>Copying the remaining images into smaller, less efficient batches.</a:t>
            </a:r>
          </a:p>
        </p:txBody>
      </p:sp>
      <p:sp>
        <p:nvSpPr>
          <p:cNvPr id="19" name="Oval 18"/>
          <p:cNvSpPr/>
          <p:nvPr/>
        </p:nvSpPr>
        <p:spPr>
          <a:xfrm>
            <a:off x="6766560" y="4535424"/>
            <a:ext cx="457200" cy="457200"/>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ip_w.png"/>
          <p:cNvPicPr>
            <a:picLocks noChangeAspect="1"/>
          </p:cNvPicPr>
          <p:nvPr/>
        </p:nvPicPr>
        <p:blipFill>
          <a:blip r:embed="rId7"/>
          <a:stretch>
            <a:fillRect/>
          </a:stretch>
        </p:blipFill>
        <p:spPr>
          <a:xfrm>
            <a:off x="6876288" y="4645152"/>
            <a:ext cx="237744" cy="237744"/>
          </a:xfrm>
          <a:prstGeom prst="rect">
            <a:avLst/>
          </a:prstGeom>
        </p:spPr>
      </p:pic>
      <p:sp>
        <p:nvSpPr>
          <p:cNvPr id="21" name="TextBox 20"/>
          <p:cNvSpPr txBox="1"/>
          <p:nvPr/>
        </p:nvSpPr>
        <p:spPr>
          <a:xfrm>
            <a:off x="7333488" y="4498848"/>
            <a:ext cx="4023360" cy="603504"/>
          </a:xfrm>
          <a:prstGeom prst="rect">
            <a:avLst/>
          </a:prstGeom>
          <a:noFill/>
        </p:spPr>
        <p:txBody>
          <a:bodyPr wrap="square" lIns="36576" tIns="18288" rIns="36576" bIns="18288" anchor="ctr">
            <a:spAutoFit/>
          </a:bodyPr>
          <a:lstStyle/>
          <a:p>
            <a:pPr algn="l">
              <a:spcAft>
                <a:spcPts val="200"/>
              </a:spcAft>
            </a:pPr>
            <a:r>
              <a:rPr sz="1150" b="1" i="0">
                <a:solidFill>
                  <a:srgbClr val="1A1A1A"/>
                </a:solidFill>
              </a:rPr>
              <a:t>Small network: </a:t>
            </a:r>
            <a:r>
              <a:rPr sz="1150" b="0" i="0">
                <a:solidFill>
                  <a:srgbClr val="5B6676"/>
                </a:solidFill>
              </a:rPr>
              <a:t>Each layer is already very fast, so fixed costs dominate.</a:t>
            </a:r>
          </a:p>
        </p:txBody>
      </p:sp>
      <p:sp>
        <p:nvSpPr>
          <p:cNvPr id="22" name="Rounded Rectangle 21"/>
          <p:cNvSpPr/>
          <p:nvPr/>
        </p:nvSpPr>
        <p:spPr>
          <a:xfrm>
            <a:off x="6766560" y="5257800"/>
            <a:ext cx="4590288" cy="685800"/>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903720" y="5257800"/>
            <a:ext cx="4389120" cy="685800"/>
          </a:xfrm>
          <a:prstGeom prst="rect">
            <a:avLst/>
          </a:prstGeom>
          <a:noFill/>
        </p:spPr>
        <p:txBody>
          <a:bodyPr wrap="square" lIns="36576" tIns="18288" rIns="36576" bIns="18288" anchor="ctr">
            <a:spAutoFit/>
          </a:bodyPr>
          <a:lstStyle/>
          <a:p>
            <a:pPr algn="l">
              <a:spcAft>
                <a:spcPts val="200"/>
              </a:spcAft>
            </a:pPr>
            <a:r>
              <a:rPr sz="1100" b="1" i="0">
                <a:solidFill>
                  <a:srgbClr val="518113"/>
                </a:solidFill>
              </a:rPr>
              <a:t>MNIST counter-example: </a:t>
            </a:r>
            <a:r>
              <a:rPr sz="1100" b="0" i="0">
                <a:solidFill>
                  <a:srgbClr val="1A1A1A"/>
                </a:solidFill>
              </a:rPr>
              <a:t>84% of digits stop at Exit 1, and adaptive was slightly faster (0.56 vs 0.62 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Reliability: Calibration and Noisy Images</a:t>
            </a:r>
          </a:p>
        </p:txBody>
      </p:sp>
      <p:sp>
        <p:nvSpPr>
          <p:cNvPr id="3" name="Slide Number Placeholder 2"/>
          <p:cNvSpPr>
            <a:spLocks noGrp="1"/>
          </p:cNvSpPr>
          <p:nvPr>
            <p:ph type="sldNum" sz="quarter" idx="12"/>
          </p:nvPr>
        </p:nvSpPr>
        <p:spPr/>
        <p:txBody>
          <a:bodyPr/>
          <a:lstStyle/>
          <a:p>
            <a:fld id="{B6F15528-21DE-4FAA-801E-634DDDAF4B2B}" type="slidenum">
              <a:rPr lang="en-US"/>
              <a:t>11</a:t>
            </a:fld>
            <a:endParaRPr lang="en-US"/>
          </a:p>
        </p:txBody>
      </p:sp>
      <p:sp>
        <p:nvSpPr>
          <p:cNvPr id="4" name="Rounded Rectangle 3"/>
          <p:cNvSpPr/>
          <p:nvPr/>
        </p:nvSpPr>
        <p:spPr>
          <a:xfrm>
            <a:off x="841248" y="1325880"/>
            <a:ext cx="5212080" cy="914400"/>
          </a:xfrm>
          <a:prstGeom prst="roundRect">
            <a:avLst>
              <a:gd name="adj" fmla="val 8000"/>
            </a:avLst>
          </a:prstGeom>
          <a:solidFill>
            <a:srgbClr val="F2F5FB"/>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87552" y="1344168"/>
            <a:ext cx="4937760" cy="877824"/>
          </a:xfrm>
          <a:prstGeom prst="rect">
            <a:avLst/>
          </a:prstGeom>
          <a:noFill/>
        </p:spPr>
        <p:txBody>
          <a:bodyPr wrap="square" lIns="36576" tIns="18288" rIns="36576" bIns="18288" anchor="ctr">
            <a:spAutoFit/>
          </a:bodyPr>
          <a:lstStyle/>
          <a:p>
            <a:pPr algn="l">
              <a:spcAft>
                <a:spcPts val="200"/>
              </a:spcAft>
            </a:pPr>
            <a:r>
              <a:rPr sz="1150" b="1" i="0">
                <a:solidFill>
                  <a:srgbClr val="2A55A1"/>
                </a:solidFill>
              </a:rPr>
              <a:t>Calibration: </a:t>
            </a:r>
            <a:r>
              <a:rPr sz="1150" b="0" i="0">
                <a:solidFill>
                  <a:srgbClr val="1A1A1A"/>
                </a:solidFill>
              </a:rPr>
              <a:t>is 90% confidence really right 90% of the time? </a:t>
            </a:r>
            <a:r>
              <a:rPr sz="1150" b="1" i="0">
                <a:solidFill>
                  <a:srgbClr val="2A55A1"/>
                </a:solidFill>
              </a:rPr>
              <a:t>ECE</a:t>
            </a:r>
            <a:r>
              <a:rPr sz="1150" b="0" i="0">
                <a:solidFill>
                  <a:srgbClr val="5B6676"/>
                </a:solidFill>
              </a:rPr>
              <a:t> = average gap between confidence and accuracy (lower = more honest).</a:t>
            </a:r>
          </a:p>
        </p:txBody>
      </p:sp>
      <p:sp>
        <p:nvSpPr>
          <p:cNvPr id="6" name="Rounded Rectangle 5"/>
          <p:cNvSpPr/>
          <p:nvPr/>
        </p:nvSpPr>
        <p:spPr>
          <a:xfrm>
            <a:off x="841248" y="2377440"/>
            <a:ext cx="969264" cy="82296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41248" y="2404872"/>
            <a:ext cx="969264" cy="411480"/>
          </a:xfrm>
          <a:prstGeom prst="rect">
            <a:avLst/>
          </a:prstGeom>
          <a:noFill/>
        </p:spPr>
        <p:txBody>
          <a:bodyPr wrap="square" lIns="36576" tIns="18288" rIns="36576" bIns="18288" anchor="t">
            <a:spAutoFit/>
          </a:bodyPr>
          <a:lstStyle/>
          <a:p>
            <a:pPr algn="ctr">
              <a:spcAft>
                <a:spcPts val="200"/>
              </a:spcAft>
            </a:pPr>
            <a:r>
              <a:rPr sz="1600" b="1" i="0">
                <a:solidFill>
                  <a:srgbClr val="2A55A1"/>
                </a:solidFill>
              </a:rPr>
              <a:t>0.019</a:t>
            </a:r>
          </a:p>
        </p:txBody>
      </p:sp>
      <p:sp>
        <p:nvSpPr>
          <p:cNvPr id="8" name="TextBox 7"/>
          <p:cNvSpPr txBox="1"/>
          <p:nvPr/>
        </p:nvSpPr>
        <p:spPr>
          <a:xfrm>
            <a:off x="841248" y="2816352"/>
            <a:ext cx="969264" cy="32004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Exit 1</a:t>
            </a:r>
          </a:p>
        </p:txBody>
      </p:sp>
      <p:sp>
        <p:nvSpPr>
          <p:cNvPr id="9" name="Rounded Rectangle 8"/>
          <p:cNvSpPr/>
          <p:nvPr/>
        </p:nvSpPr>
        <p:spPr>
          <a:xfrm>
            <a:off x="1901952" y="2377440"/>
            <a:ext cx="969264" cy="82296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901952" y="2404872"/>
            <a:ext cx="969264" cy="411480"/>
          </a:xfrm>
          <a:prstGeom prst="rect">
            <a:avLst/>
          </a:prstGeom>
          <a:noFill/>
        </p:spPr>
        <p:txBody>
          <a:bodyPr wrap="square" lIns="36576" tIns="18288" rIns="36576" bIns="18288" anchor="t">
            <a:spAutoFit/>
          </a:bodyPr>
          <a:lstStyle/>
          <a:p>
            <a:pPr algn="ctr">
              <a:spcAft>
                <a:spcPts val="200"/>
              </a:spcAft>
            </a:pPr>
            <a:r>
              <a:rPr sz="1600" b="1" i="0">
                <a:solidFill>
                  <a:srgbClr val="2A55A1"/>
                </a:solidFill>
              </a:rPr>
              <a:t>0.019</a:t>
            </a:r>
          </a:p>
        </p:txBody>
      </p:sp>
      <p:sp>
        <p:nvSpPr>
          <p:cNvPr id="11" name="TextBox 10"/>
          <p:cNvSpPr txBox="1"/>
          <p:nvPr/>
        </p:nvSpPr>
        <p:spPr>
          <a:xfrm>
            <a:off x="1901952" y="2816352"/>
            <a:ext cx="969264" cy="32004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Exit 2</a:t>
            </a:r>
          </a:p>
        </p:txBody>
      </p:sp>
      <p:sp>
        <p:nvSpPr>
          <p:cNvPr id="12" name="Rounded Rectangle 11"/>
          <p:cNvSpPr/>
          <p:nvPr/>
        </p:nvSpPr>
        <p:spPr>
          <a:xfrm>
            <a:off x="2962656" y="2377440"/>
            <a:ext cx="969264" cy="82296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962656" y="2404872"/>
            <a:ext cx="969264" cy="411480"/>
          </a:xfrm>
          <a:prstGeom prst="rect">
            <a:avLst/>
          </a:prstGeom>
          <a:noFill/>
        </p:spPr>
        <p:txBody>
          <a:bodyPr wrap="square" lIns="36576" tIns="18288" rIns="36576" bIns="18288" anchor="t">
            <a:spAutoFit/>
          </a:bodyPr>
          <a:lstStyle/>
          <a:p>
            <a:pPr algn="ctr">
              <a:spcAft>
                <a:spcPts val="200"/>
              </a:spcAft>
            </a:pPr>
            <a:r>
              <a:rPr sz="1600" b="1" i="0">
                <a:solidFill>
                  <a:srgbClr val="2A55A1"/>
                </a:solidFill>
              </a:rPr>
              <a:t>0.041</a:t>
            </a:r>
          </a:p>
        </p:txBody>
      </p:sp>
      <p:sp>
        <p:nvSpPr>
          <p:cNvPr id="14" name="TextBox 13"/>
          <p:cNvSpPr txBox="1"/>
          <p:nvPr/>
        </p:nvSpPr>
        <p:spPr>
          <a:xfrm>
            <a:off x="2962656" y="2816352"/>
            <a:ext cx="969264" cy="32004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Exit 3</a:t>
            </a:r>
          </a:p>
        </p:txBody>
      </p:sp>
      <p:sp>
        <p:nvSpPr>
          <p:cNvPr id="15" name="Rounded Rectangle 14"/>
          <p:cNvSpPr/>
          <p:nvPr/>
        </p:nvSpPr>
        <p:spPr>
          <a:xfrm>
            <a:off x="4023359" y="2377440"/>
            <a:ext cx="969264" cy="82296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023359" y="2404872"/>
            <a:ext cx="969264" cy="411480"/>
          </a:xfrm>
          <a:prstGeom prst="rect">
            <a:avLst/>
          </a:prstGeom>
          <a:noFill/>
        </p:spPr>
        <p:txBody>
          <a:bodyPr wrap="square" lIns="36576" tIns="18288" rIns="36576" bIns="18288" anchor="t">
            <a:spAutoFit/>
          </a:bodyPr>
          <a:lstStyle/>
          <a:p>
            <a:pPr algn="ctr">
              <a:spcAft>
                <a:spcPts val="200"/>
              </a:spcAft>
            </a:pPr>
            <a:r>
              <a:rPr sz="1600" b="1" i="0">
                <a:solidFill>
                  <a:srgbClr val="518113"/>
                </a:solidFill>
              </a:rPr>
              <a:t>0.027</a:t>
            </a:r>
          </a:p>
        </p:txBody>
      </p:sp>
      <p:sp>
        <p:nvSpPr>
          <p:cNvPr id="17" name="TextBox 16"/>
          <p:cNvSpPr txBox="1"/>
          <p:nvPr/>
        </p:nvSpPr>
        <p:spPr>
          <a:xfrm>
            <a:off x="4023359" y="2816352"/>
            <a:ext cx="969264" cy="32004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Adaptive</a:t>
            </a:r>
          </a:p>
        </p:txBody>
      </p:sp>
      <p:sp>
        <p:nvSpPr>
          <p:cNvPr id="18" name="Rounded Rectangle 17"/>
          <p:cNvSpPr/>
          <p:nvPr/>
        </p:nvSpPr>
        <p:spPr>
          <a:xfrm>
            <a:off x="5084064" y="2377440"/>
            <a:ext cx="969264" cy="82296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84064" y="2404872"/>
            <a:ext cx="969264" cy="411480"/>
          </a:xfrm>
          <a:prstGeom prst="rect">
            <a:avLst/>
          </a:prstGeom>
          <a:noFill/>
        </p:spPr>
        <p:txBody>
          <a:bodyPr wrap="square" lIns="36576" tIns="18288" rIns="36576" bIns="18288" anchor="t">
            <a:spAutoFit/>
          </a:bodyPr>
          <a:lstStyle/>
          <a:p>
            <a:pPr algn="ctr">
              <a:spcAft>
                <a:spcPts val="200"/>
              </a:spcAft>
            </a:pPr>
            <a:r>
              <a:rPr sz="1600" b="1" i="0">
                <a:solidFill>
                  <a:srgbClr val="5B6676"/>
                </a:solidFill>
              </a:rPr>
              <a:t>0.045</a:t>
            </a:r>
          </a:p>
        </p:txBody>
      </p:sp>
      <p:sp>
        <p:nvSpPr>
          <p:cNvPr id="20" name="TextBox 19"/>
          <p:cNvSpPr txBox="1"/>
          <p:nvPr/>
        </p:nvSpPr>
        <p:spPr>
          <a:xfrm>
            <a:off x="5084064" y="2816352"/>
            <a:ext cx="969264" cy="32004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Std CNN</a:t>
            </a:r>
          </a:p>
        </p:txBody>
      </p:sp>
      <p:sp>
        <p:nvSpPr>
          <p:cNvPr id="21" name="TextBox 20"/>
          <p:cNvSpPr txBox="1"/>
          <p:nvPr/>
        </p:nvSpPr>
        <p:spPr>
          <a:xfrm>
            <a:off x="841248" y="3246120"/>
            <a:ext cx="5212080" cy="502920"/>
          </a:xfrm>
          <a:prstGeom prst="rect">
            <a:avLst/>
          </a:prstGeom>
          <a:noFill/>
        </p:spPr>
        <p:txBody>
          <a:bodyPr wrap="square" lIns="36576" tIns="18288" rIns="36576" bIns="18288" anchor="t">
            <a:spAutoFit/>
          </a:bodyPr>
          <a:lstStyle/>
          <a:p>
            <a:pPr algn="l">
              <a:spcAft>
                <a:spcPts val="200"/>
              </a:spcAft>
            </a:pPr>
            <a:r>
              <a:rPr sz="1100" b="0" i="0">
                <a:solidFill>
                  <a:srgbClr val="5B6676"/>
                </a:solidFill>
              </a:rPr>
              <a:t>The final exit is over-confident (94% average confidence, 90% accuracy); early exits and the adaptive policy are better calibrated.</a:t>
            </a:r>
          </a:p>
        </p:txBody>
      </p:sp>
      <p:sp>
        <p:nvSpPr>
          <p:cNvPr id="22" name="TextBox 21"/>
          <p:cNvSpPr txBox="1"/>
          <p:nvPr/>
        </p:nvSpPr>
        <p:spPr>
          <a:xfrm>
            <a:off x="841248" y="3794760"/>
            <a:ext cx="5212080" cy="274320"/>
          </a:xfrm>
          <a:prstGeom prst="rect">
            <a:avLst/>
          </a:prstGeom>
          <a:noFill/>
        </p:spPr>
        <p:txBody>
          <a:bodyPr wrap="square" lIns="36576" tIns="18288" rIns="36576" bIns="18288" anchor="t">
            <a:spAutoFit/>
          </a:bodyPr>
          <a:lstStyle/>
          <a:p>
            <a:pPr algn="l">
              <a:spcAft>
                <a:spcPts val="200"/>
              </a:spcAft>
            </a:pPr>
            <a:r>
              <a:rPr sz="1250" b="1" i="0">
                <a:solidFill>
                  <a:srgbClr val="2A55A1"/>
                </a:solidFill>
              </a:rPr>
              <a:t>Synthetic corruptions of the test set (same image)</a:t>
            </a:r>
          </a:p>
        </p:txBody>
      </p:sp>
      <p:pic>
        <p:nvPicPr>
          <p:cNvPr id="23" name="Picture 22" descr="corr_clean.png"/>
          <p:cNvPicPr>
            <a:picLocks noChangeAspect="1"/>
          </p:cNvPicPr>
          <p:nvPr/>
        </p:nvPicPr>
        <p:blipFill>
          <a:blip r:embed="rId3"/>
          <a:stretch>
            <a:fillRect/>
          </a:stretch>
        </p:blipFill>
        <p:spPr>
          <a:xfrm>
            <a:off x="841248" y="4114800"/>
            <a:ext cx="1188720" cy="1188720"/>
          </a:xfrm>
          <a:prstGeom prst="rect">
            <a:avLst/>
          </a:prstGeom>
          <a:ln w="12700">
            <a:solidFill>
              <a:srgbClr val="C7D4F5"/>
            </a:solidFill>
          </a:ln>
        </p:spPr>
      </p:pic>
      <p:sp>
        <p:nvSpPr>
          <p:cNvPr id="24" name="TextBox 23"/>
          <p:cNvSpPr txBox="1"/>
          <p:nvPr/>
        </p:nvSpPr>
        <p:spPr>
          <a:xfrm>
            <a:off x="841248" y="5321808"/>
            <a:ext cx="1188720" cy="27432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clean</a:t>
            </a:r>
          </a:p>
        </p:txBody>
      </p:sp>
      <p:pic>
        <p:nvPicPr>
          <p:cNvPr id="25" name="Picture 24" descr="corr_gaussian_noise_3.png"/>
          <p:cNvPicPr>
            <a:picLocks noChangeAspect="1"/>
          </p:cNvPicPr>
          <p:nvPr/>
        </p:nvPicPr>
        <p:blipFill>
          <a:blip r:embed="rId4"/>
          <a:stretch>
            <a:fillRect/>
          </a:stretch>
        </p:blipFill>
        <p:spPr>
          <a:xfrm>
            <a:off x="2176272" y="4114800"/>
            <a:ext cx="1188720" cy="1188720"/>
          </a:xfrm>
          <a:prstGeom prst="rect">
            <a:avLst/>
          </a:prstGeom>
          <a:ln w="12700">
            <a:solidFill>
              <a:srgbClr val="C7D4F5"/>
            </a:solidFill>
          </a:ln>
        </p:spPr>
      </p:pic>
      <p:sp>
        <p:nvSpPr>
          <p:cNvPr id="26" name="TextBox 25"/>
          <p:cNvSpPr txBox="1"/>
          <p:nvPr/>
        </p:nvSpPr>
        <p:spPr>
          <a:xfrm>
            <a:off x="2176272" y="5321808"/>
            <a:ext cx="1188720" cy="27432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noise σ=0.08</a:t>
            </a:r>
          </a:p>
        </p:txBody>
      </p:sp>
      <p:pic>
        <p:nvPicPr>
          <p:cNvPr id="27" name="Picture 26" descr="corr_gaussian_noise_5.png"/>
          <p:cNvPicPr>
            <a:picLocks noChangeAspect="1"/>
          </p:cNvPicPr>
          <p:nvPr/>
        </p:nvPicPr>
        <p:blipFill>
          <a:blip r:embed="rId5"/>
          <a:stretch>
            <a:fillRect/>
          </a:stretch>
        </p:blipFill>
        <p:spPr>
          <a:xfrm>
            <a:off x="3511296" y="4114800"/>
            <a:ext cx="1188720" cy="1188720"/>
          </a:xfrm>
          <a:prstGeom prst="rect">
            <a:avLst/>
          </a:prstGeom>
          <a:ln w="12700">
            <a:solidFill>
              <a:srgbClr val="C7D4F5"/>
            </a:solidFill>
          </a:ln>
        </p:spPr>
      </p:pic>
      <p:sp>
        <p:nvSpPr>
          <p:cNvPr id="28" name="TextBox 27"/>
          <p:cNvSpPr txBox="1"/>
          <p:nvPr/>
        </p:nvSpPr>
        <p:spPr>
          <a:xfrm>
            <a:off x="3511296" y="5321808"/>
            <a:ext cx="1188720" cy="27432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noise σ=0.10</a:t>
            </a:r>
          </a:p>
        </p:txBody>
      </p:sp>
      <p:pic>
        <p:nvPicPr>
          <p:cNvPr id="29" name="Picture 28" descr="corr_gaussian_blur_5.png"/>
          <p:cNvPicPr>
            <a:picLocks noChangeAspect="1"/>
          </p:cNvPicPr>
          <p:nvPr/>
        </p:nvPicPr>
        <p:blipFill>
          <a:blip r:embed="rId6"/>
          <a:stretch>
            <a:fillRect/>
          </a:stretch>
        </p:blipFill>
        <p:spPr>
          <a:xfrm>
            <a:off x="4846320" y="4114800"/>
            <a:ext cx="1188720" cy="1188720"/>
          </a:xfrm>
          <a:prstGeom prst="rect">
            <a:avLst/>
          </a:prstGeom>
          <a:ln w="12700">
            <a:solidFill>
              <a:srgbClr val="C7D4F5"/>
            </a:solidFill>
          </a:ln>
        </p:spPr>
      </p:pic>
      <p:sp>
        <p:nvSpPr>
          <p:cNvPr id="30" name="TextBox 29"/>
          <p:cNvSpPr txBox="1"/>
          <p:nvPr/>
        </p:nvSpPr>
        <p:spPr>
          <a:xfrm>
            <a:off x="4846320" y="5321808"/>
            <a:ext cx="1188720" cy="274320"/>
          </a:xfrm>
          <a:prstGeom prst="rect">
            <a:avLst/>
          </a:prstGeom>
          <a:noFill/>
        </p:spPr>
        <p:txBody>
          <a:bodyPr wrap="square" lIns="36576" tIns="18288" rIns="36576" bIns="18288" anchor="t">
            <a:spAutoFit/>
          </a:bodyPr>
          <a:lstStyle/>
          <a:p>
            <a:pPr algn="ctr">
              <a:spcAft>
                <a:spcPts val="200"/>
              </a:spcAft>
            </a:pPr>
            <a:r>
              <a:rPr sz="1000" b="0" i="0">
                <a:solidFill>
                  <a:srgbClr val="5B6676"/>
                </a:solidFill>
              </a:rPr>
              <a:t>blur σ=1.0</a:t>
            </a:r>
          </a:p>
        </p:txBody>
      </p:sp>
      <p:graphicFrame>
        <p:nvGraphicFramePr>
          <p:cNvPr id="31" name="Chart 30"/>
          <p:cNvGraphicFramePr>
            <a:graphicFrameLocks noGrp="1"/>
          </p:cNvGraphicFramePr>
          <p:nvPr/>
        </p:nvGraphicFramePr>
        <p:xfrm>
          <a:off x="6263640" y="1280160"/>
          <a:ext cx="5120640" cy="3429000"/>
        </p:xfrm>
        <a:graphic>
          <a:graphicData uri="http://schemas.openxmlformats.org/drawingml/2006/chart">
            <c:chart xmlns:c="http://schemas.openxmlformats.org/drawingml/2006/chart" xmlns:r="http://schemas.openxmlformats.org/officeDocument/2006/relationships" r:id="rId7"/>
          </a:graphicData>
        </a:graphic>
      </p:graphicFrame>
      <p:sp>
        <p:nvSpPr>
          <p:cNvPr id="32" name="Rounded Rectangle 31"/>
          <p:cNvSpPr/>
          <p:nvPr/>
        </p:nvSpPr>
        <p:spPr>
          <a:xfrm>
            <a:off x="6263640" y="4846320"/>
            <a:ext cx="5093208" cy="109728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0" y="4864608"/>
            <a:ext cx="4846320" cy="1060704"/>
          </a:xfrm>
          <a:prstGeom prst="rect">
            <a:avLst/>
          </a:prstGeom>
          <a:noFill/>
        </p:spPr>
        <p:txBody>
          <a:bodyPr wrap="square" lIns="36576" tIns="18288" rIns="36576" bIns="18288" anchor="ctr">
            <a:spAutoFit/>
          </a:bodyPr>
          <a:lstStyle/>
          <a:p>
            <a:pPr algn="l">
              <a:spcAft>
                <a:spcPts val="200"/>
              </a:spcAft>
            </a:pPr>
            <a:r>
              <a:rPr sz="1100" b="1" i="0">
                <a:solidFill>
                  <a:srgbClr val="518113"/>
                </a:solidFill>
              </a:rPr>
              <a:t>Adapts: </a:t>
            </a:r>
            <a:r>
              <a:rPr sz="1100" b="0" i="0">
                <a:solidFill>
                  <a:srgbClr val="1A1A1A"/>
                </a:solidFill>
              </a:rPr>
              <a:t>compute rises 63% → ~81% on heavy noise/blur (fewer confident images).</a:t>
            </a:r>
          </a:p>
          <a:p>
            <a:pPr algn="l">
              <a:spcAft>
                <a:spcPts val="200"/>
              </a:spcAft>
            </a:pPr>
            <a:r>
              <a:rPr sz="1100" b="1" i="0">
                <a:solidFill>
                  <a:srgbClr val="C2570C"/>
                </a:solidFill>
              </a:rPr>
              <a:t>But: </a:t>
            </a:r>
            <a:r>
              <a:rPr sz="1100" b="0" i="0">
                <a:solidFill>
                  <a:srgbClr val="1A1A1A"/>
                </a:solidFill>
              </a:rPr>
              <a:t>confident early exits on corrupted images were wrong ~50% of the time (5% on clean).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Limitations and Next Steps</a:t>
            </a:r>
          </a:p>
        </p:txBody>
      </p:sp>
      <p:sp>
        <p:nvSpPr>
          <p:cNvPr id="3" name="Slide Number Placeholder 2"/>
          <p:cNvSpPr>
            <a:spLocks noGrp="1"/>
          </p:cNvSpPr>
          <p:nvPr>
            <p:ph type="sldNum" sz="quarter" idx="12"/>
          </p:nvPr>
        </p:nvSpPr>
        <p:spPr/>
        <p:txBody>
          <a:bodyPr/>
          <a:lstStyle/>
          <a:p>
            <a:fld id="{B6F15528-21DE-4FAA-801E-634DDDAF4B2B}" type="slidenum">
              <a:rPr lang="en-US"/>
              <a:t>12</a:t>
            </a:fld>
            <a:endParaRPr lang="en-US"/>
          </a:p>
        </p:txBody>
      </p:sp>
      <p:sp>
        <p:nvSpPr>
          <p:cNvPr id="4" name="Rounded Rectangle 3"/>
          <p:cNvSpPr/>
          <p:nvPr/>
        </p:nvSpPr>
        <p:spPr>
          <a:xfrm>
            <a:off x="841248" y="1325880"/>
            <a:ext cx="2514600" cy="1691640"/>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78408" y="1463040"/>
            <a:ext cx="548640" cy="548640"/>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eck_w.png"/>
          <p:cNvPicPr>
            <a:picLocks noChangeAspect="1"/>
          </p:cNvPicPr>
          <p:nvPr/>
        </p:nvPicPr>
        <p:blipFill>
          <a:blip r:embed="rId3"/>
          <a:stretch>
            <a:fillRect/>
          </a:stretch>
        </p:blipFill>
        <p:spPr>
          <a:xfrm>
            <a:off x="1110081" y="1594713"/>
            <a:ext cx="285292" cy="285292"/>
          </a:xfrm>
          <a:prstGeom prst="rect">
            <a:avLst/>
          </a:prstGeom>
        </p:spPr>
      </p:pic>
      <p:sp>
        <p:nvSpPr>
          <p:cNvPr id="7" name="TextBox 6"/>
          <p:cNvSpPr txBox="1"/>
          <p:nvPr/>
        </p:nvSpPr>
        <p:spPr>
          <a:xfrm>
            <a:off x="978408" y="2075688"/>
            <a:ext cx="2286000" cy="347472"/>
          </a:xfrm>
          <a:prstGeom prst="rect">
            <a:avLst/>
          </a:prstGeom>
          <a:noFill/>
        </p:spPr>
        <p:txBody>
          <a:bodyPr wrap="square" lIns="36576" tIns="18288" rIns="36576" bIns="18288" anchor="t">
            <a:spAutoFit/>
          </a:bodyPr>
          <a:lstStyle/>
          <a:p>
            <a:pPr algn="l">
              <a:spcAft>
                <a:spcPts val="200"/>
              </a:spcAft>
            </a:pPr>
            <a:r>
              <a:rPr sz="1300" b="1" i="0">
                <a:solidFill>
                  <a:srgbClr val="518113"/>
                </a:solidFill>
              </a:rPr>
              <a:t>Less computation</a:t>
            </a:r>
          </a:p>
        </p:txBody>
      </p:sp>
      <p:sp>
        <p:nvSpPr>
          <p:cNvPr id="8" name="TextBox 7"/>
          <p:cNvSpPr txBox="1"/>
          <p:nvPr/>
        </p:nvSpPr>
        <p:spPr>
          <a:xfrm>
            <a:off x="978408" y="2414016"/>
            <a:ext cx="2286000" cy="59436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−36% average MACs for only −0.8 points accuracy.</a:t>
            </a:r>
          </a:p>
        </p:txBody>
      </p:sp>
      <p:sp>
        <p:nvSpPr>
          <p:cNvPr id="9" name="Rounded Rectangle 8"/>
          <p:cNvSpPr/>
          <p:nvPr/>
        </p:nvSpPr>
        <p:spPr>
          <a:xfrm>
            <a:off x="3493008" y="1325880"/>
            <a:ext cx="2514600" cy="1691640"/>
          </a:xfrm>
          <a:prstGeom prst="roundRect">
            <a:avLst>
              <a:gd name="adj" fmla="val 8000"/>
            </a:avLst>
          </a:prstGeom>
          <a:solidFill>
            <a:srgbClr val="EEF5E4"/>
          </a:solidFill>
          <a:ln w="12700">
            <a:solidFill>
              <a:srgbClr val="B9D6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630168" y="1463040"/>
            <a:ext cx="548640" cy="548640"/>
          </a:xfrm>
          <a:prstGeom prst="ellipse">
            <a:avLst/>
          </a:prstGeom>
          <a:solidFill>
            <a:srgbClr val="518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heck_w.png"/>
          <p:cNvPicPr>
            <a:picLocks noChangeAspect="1"/>
          </p:cNvPicPr>
          <p:nvPr/>
        </p:nvPicPr>
        <p:blipFill>
          <a:blip r:embed="rId3"/>
          <a:stretch>
            <a:fillRect/>
          </a:stretch>
        </p:blipFill>
        <p:spPr>
          <a:xfrm>
            <a:off x="3761841" y="1594713"/>
            <a:ext cx="285292" cy="285292"/>
          </a:xfrm>
          <a:prstGeom prst="rect">
            <a:avLst/>
          </a:prstGeom>
        </p:spPr>
      </p:pic>
      <p:sp>
        <p:nvSpPr>
          <p:cNvPr id="12" name="TextBox 11"/>
          <p:cNvSpPr txBox="1"/>
          <p:nvPr/>
        </p:nvSpPr>
        <p:spPr>
          <a:xfrm>
            <a:off x="3630168" y="2075688"/>
            <a:ext cx="2286000" cy="347472"/>
          </a:xfrm>
          <a:prstGeom prst="rect">
            <a:avLst/>
          </a:prstGeom>
          <a:noFill/>
        </p:spPr>
        <p:txBody>
          <a:bodyPr wrap="square" lIns="36576" tIns="18288" rIns="36576" bIns="18288" anchor="t">
            <a:spAutoFit/>
          </a:bodyPr>
          <a:lstStyle/>
          <a:p>
            <a:pPr algn="l">
              <a:spcAft>
                <a:spcPts val="200"/>
              </a:spcAft>
            </a:pPr>
            <a:r>
              <a:rPr sz="1300" b="1" i="0">
                <a:solidFill>
                  <a:srgbClr val="518113"/>
                </a:solidFill>
              </a:rPr>
              <a:t>Smarter than a smaller net</a:t>
            </a:r>
          </a:p>
        </p:txBody>
      </p:sp>
      <p:sp>
        <p:nvSpPr>
          <p:cNvPr id="13" name="TextBox 12"/>
          <p:cNvSpPr txBox="1"/>
          <p:nvPr/>
        </p:nvSpPr>
        <p:spPr>
          <a:xfrm>
            <a:off x="3630168" y="2414016"/>
            <a:ext cx="2286000" cy="59436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+3.4 points vs fixed Exit 2 at the same cost.</a:t>
            </a:r>
          </a:p>
        </p:txBody>
      </p:sp>
      <p:sp>
        <p:nvSpPr>
          <p:cNvPr id="14" name="Rounded Rectangle 13"/>
          <p:cNvSpPr/>
          <p:nvPr/>
        </p:nvSpPr>
        <p:spPr>
          <a:xfrm>
            <a:off x="6144768" y="1325880"/>
            <a:ext cx="2514600" cy="169164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281928" y="1463040"/>
            <a:ext cx="548640" cy="548640"/>
          </a:xfrm>
          <a:prstGeom prst="ellipse">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imes_w.png"/>
          <p:cNvPicPr>
            <a:picLocks noChangeAspect="1"/>
          </p:cNvPicPr>
          <p:nvPr/>
        </p:nvPicPr>
        <p:blipFill>
          <a:blip r:embed="rId4"/>
          <a:stretch>
            <a:fillRect/>
          </a:stretch>
        </p:blipFill>
        <p:spPr>
          <a:xfrm>
            <a:off x="6413601" y="1594713"/>
            <a:ext cx="285292" cy="285292"/>
          </a:xfrm>
          <a:prstGeom prst="rect">
            <a:avLst/>
          </a:prstGeom>
        </p:spPr>
      </p:pic>
      <p:sp>
        <p:nvSpPr>
          <p:cNvPr id="17" name="TextBox 16"/>
          <p:cNvSpPr txBox="1"/>
          <p:nvPr/>
        </p:nvSpPr>
        <p:spPr>
          <a:xfrm>
            <a:off x="6281928" y="2075688"/>
            <a:ext cx="2286000" cy="347472"/>
          </a:xfrm>
          <a:prstGeom prst="rect">
            <a:avLst/>
          </a:prstGeom>
          <a:noFill/>
        </p:spPr>
        <p:txBody>
          <a:bodyPr wrap="square" lIns="36576" tIns="18288" rIns="36576" bIns="18288" anchor="t">
            <a:spAutoFit/>
          </a:bodyPr>
          <a:lstStyle/>
          <a:p>
            <a:pPr algn="l">
              <a:spcAft>
                <a:spcPts val="200"/>
              </a:spcAft>
            </a:pPr>
            <a:r>
              <a:rPr sz="1300" b="1" i="0">
                <a:solidFill>
                  <a:srgbClr val="C2570C"/>
                </a:solidFill>
              </a:rPr>
              <a:t>Not faster on this GPU</a:t>
            </a:r>
          </a:p>
        </p:txBody>
      </p:sp>
      <p:sp>
        <p:nvSpPr>
          <p:cNvPr id="18" name="TextBox 17"/>
          <p:cNvSpPr txBox="1"/>
          <p:nvPr/>
        </p:nvSpPr>
        <p:spPr>
          <a:xfrm>
            <a:off x="6281928" y="2414016"/>
            <a:ext cx="2286000" cy="59436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Decision overheads &gt; savings for a small CNN.</a:t>
            </a:r>
          </a:p>
        </p:txBody>
      </p:sp>
      <p:sp>
        <p:nvSpPr>
          <p:cNvPr id="19" name="Rounded Rectangle 18"/>
          <p:cNvSpPr/>
          <p:nvPr/>
        </p:nvSpPr>
        <p:spPr>
          <a:xfrm>
            <a:off x="8796528" y="1325880"/>
            <a:ext cx="2514600" cy="1691640"/>
          </a:xfrm>
          <a:prstGeom prst="roundRect">
            <a:avLst>
              <a:gd name="adj" fmla="val 8000"/>
            </a:avLst>
          </a:prstGeom>
          <a:solidFill>
            <a:srgbClr val="FDF1E7"/>
          </a:solidFill>
          <a:ln w="12700">
            <a:solidFill>
              <a:srgbClr val="F0C09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8933688" y="1463040"/>
            <a:ext cx="548640" cy="548640"/>
          </a:xfrm>
          <a:prstGeom prst="ellipse">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warn_w.png"/>
          <p:cNvPicPr>
            <a:picLocks noChangeAspect="1"/>
          </p:cNvPicPr>
          <p:nvPr/>
        </p:nvPicPr>
        <p:blipFill>
          <a:blip r:embed="rId5"/>
          <a:stretch>
            <a:fillRect/>
          </a:stretch>
        </p:blipFill>
        <p:spPr>
          <a:xfrm>
            <a:off x="9065361" y="1594713"/>
            <a:ext cx="285292" cy="285292"/>
          </a:xfrm>
          <a:prstGeom prst="rect">
            <a:avLst/>
          </a:prstGeom>
        </p:spPr>
      </p:pic>
      <p:sp>
        <p:nvSpPr>
          <p:cNvPr id="22" name="TextBox 21"/>
          <p:cNvSpPr txBox="1"/>
          <p:nvPr/>
        </p:nvSpPr>
        <p:spPr>
          <a:xfrm>
            <a:off x="8933688" y="2075688"/>
            <a:ext cx="2286000" cy="347472"/>
          </a:xfrm>
          <a:prstGeom prst="rect">
            <a:avLst/>
          </a:prstGeom>
          <a:noFill/>
        </p:spPr>
        <p:txBody>
          <a:bodyPr wrap="square" lIns="36576" tIns="18288" rIns="36576" bIns="18288" anchor="t">
            <a:spAutoFit/>
          </a:bodyPr>
          <a:lstStyle/>
          <a:p>
            <a:pPr algn="l">
              <a:spcAft>
                <a:spcPts val="200"/>
              </a:spcAft>
            </a:pPr>
            <a:r>
              <a:rPr sz="1300" b="1" i="0">
                <a:solidFill>
                  <a:srgbClr val="C2570C"/>
                </a:solidFill>
              </a:rPr>
              <a:t>Confidence under noise</a:t>
            </a:r>
          </a:p>
        </p:txBody>
      </p:sp>
      <p:sp>
        <p:nvSpPr>
          <p:cNvPr id="23" name="TextBox 22"/>
          <p:cNvSpPr txBox="1"/>
          <p:nvPr/>
        </p:nvSpPr>
        <p:spPr>
          <a:xfrm>
            <a:off x="8933688" y="2414016"/>
            <a:ext cx="2286000" cy="594360"/>
          </a:xfrm>
          <a:prstGeom prst="rect">
            <a:avLst/>
          </a:prstGeom>
          <a:noFill/>
        </p:spPr>
        <p:txBody>
          <a:bodyPr wrap="square" lIns="36576" tIns="18288" rIns="36576" bIns="18288" anchor="t">
            <a:spAutoFit/>
          </a:bodyPr>
          <a:lstStyle/>
          <a:p>
            <a:pPr algn="l">
              <a:spcAft>
                <a:spcPts val="200"/>
              </a:spcAft>
            </a:pPr>
            <a:r>
              <a:rPr sz="1100" b="0" i="0">
                <a:solidFill>
                  <a:srgbClr val="1A1A1A"/>
                </a:solidFill>
              </a:rPr>
              <a:t>Adapts compute, but confident early answers can be wrong.</a:t>
            </a:r>
          </a:p>
        </p:txBody>
      </p:sp>
      <p:sp>
        <p:nvSpPr>
          <p:cNvPr id="24" name="Rounded Rectangle 23"/>
          <p:cNvSpPr/>
          <p:nvPr/>
        </p:nvSpPr>
        <p:spPr>
          <a:xfrm>
            <a:off x="841248" y="3200400"/>
            <a:ext cx="5166360" cy="192024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78408" y="3310128"/>
            <a:ext cx="438912" cy="438912"/>
          </a:xfrm>
          <a:prstGeom prst="ellipse">
            <a:avLst/>
          </a:prstGeom>
          <a:solidFill>
            <a:srgbClr val="C2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warn_w.png"/>
          <p:cNvPicPr>
            <a:picLocks noChangeAspect="1"/>
          </p:cNvPicPr>
          <p:nvPr/>
        </p:nvPicPr>
        <p:blipFill>
          <a:blip r:embed="rId5"/>
          <a:stretch>
            <a:fillRect/>
          </a:stretch>
        </p:blipFill>
        <p:spPr>
          <a:xfrm>
            <a:off x="1083746" y="3415466"/>
            <a:ext cx="228234" cy="228234"/>
          </a:xfrm>
          <a:prstGeom prst="rect">
            <a:avLst/>
          </a:prstGeom>
        </p:spPr>
      </p:pic>
      <p:sp>
        <p:nvSpPr>
          <p:cNvPr id="27" name="TextBox 26"/>
          <p:cNvSpPr txBox="1"/>
          <p:nvPr/>
        </p:nvSpPr>
        <p:spPr>
          <a:xfrm>
            <a:off x="1527048" y="3310128"/>
            <a:ext cx="4297680" cy="438912"/>
          </a:xfrm>
          <a:prstGeom prst="rect">
            <a:avLst/>
          </a:prstGeom>
          <a:noFill/>
        </p:spPr>
        <p:txBody>
          <a:bodyPr wrap="square" lIns="36576" tIns="18288" rIns="36576" bIns="18288" anchor="ctr">
            <a:spAutoFit/>
          </a:bodyPr>
          <a:lstStyle/>
          <a:p>
            <a:pPr algn="l">
              <a:spcAft>
                <a:spcPts val="200"/>
              </a:spcAft>
            </a:pPr>
            <a:r>
              <a:rPr sz="1400" b="1" i="0">
                <a:solidFill>
                  <a:srgbClr val="C2570C"/>
                </a:solidFill>
              </a:rPr>
              <a:t>Limitations</a:t>
            </a:r>
          </a:p>
        </p:txBody>
      </p:sp>
      <p:sp>
        <p:nvSpPr>
          <p:cNvPr id="28" name="TextBox 27"/>
          <p:cNvSpPr txBox="1"/>
          <p:nvPr/>
        </p:nvSpPr>
        <p:spPr>
          <a:xfrm>
            <a:off x="1024128" y="3822191"/>
            <a:ext cx="4846320" cy="1280160"/>
          </a:xfrm>
          <a:prstGeom prst="rect">
            <a:avLst/>
          </a:prstGeom>
          <a:noFill/>
        </p:spPr>
        <p:txBody>
          <a:bodyPr wrap="square" lIns="36576" tIns="18288" rIns="36576" bIns="18288" anchor="t">
            <a:spAutoFit/>
          </a:bodyPr>
          <a:lstStyle/>
          <a:p>
            <a:pPr marL="228600" indent="-228600" algn="l">
              <a:spcAft>
                <a:spcPts val="200"/>
              </a:spcAft>
              <a:buChar char="•"/>
            </a:pPr>
            <a:r>
              <a:rPr sz="1150" b="0" i="0">
                <a:solidFill>
                  <a:srgbClr val="1A1A1A"/>
                </a:solidFill>
              </a:rPr>
              <a:t>Small CNN, small 32×32 images, one laptop GPU</a:t>
            </a:r>
          </a:p>
          <a:p>
            <a:pPr marL="228600" indent="-228600" algn="l">
              <a:spcAft>
                <a:spcPts val="200"/>
              </a:spcAft>
              <a:buChar char="•"/>
            </a:pPr>
            <a:r>
              <a:rPr sz="1150" b="0" i="0">
                <a:solidFill>
                  <a:srgbClr val="1A1A1A"/>
                </a:solidFill>
              </a:rPr>
              <a:t>3 seeds, no statistical significance test</a:t>
            </a:r>
          </a:p>
          <a:p>
            <a:pPr marL="228600" indent="-228600" algn="l">
              <a:spcAft>
                <a:spcPts val="200"/>
              </a:spcAft>
              <a:buChar char="•"/>
            </a:pPr>
            <a:r>
              <a:rPr sz="1150" b="0" i="0">
                <a:solidFill>
                  <a:srgbClr val="1A1A1A"/>
                </a:solidFill>
              </a:rPr>
              <a:t>One shared threshold; softmax confidence only</a:t>
            </a:r>
          </a:p>
          <a:p>
            <a:pPr marL="228600" indent="-228600" algn="l">
              <a:spcAft>
                <a:spcPts val="200"/>
              </a:spcAft>
              <a:buChar char="•"/>
            </a:pPr>
            <a:r>
              <a:rPr sz="1150" b="0" i="0">
                <a:solidFill>
                  <a:srgbClr val="1A1A1A"/>
                </a:solidFill>
              </a:rPr>
              <a:t>Synthetic noise/blur; real CIFAR-10-C not evaluated</a:t>
            </a:r>
          </a:p>
        </p:txBody>
      </p:sp>
      <p:sp>
        <p:nvSpPr>
          <p:cNvPr id="29" name="Rounded Rectangle 28"/>
          <p:cNvSpPr/>
          <p:nvPr/>
        </p:nvSpPr>
        <p:spPr>
          <a:xfrm>
            <a:off x="6190488" y="3200400"/>
            <a:ext cx="5166360" cy="1920240"/>
          </a:xfrm>
          <a:prstGeom prst="roundRect">
            <a:avLst>
              <a:gd name="adj" fmla="val 8000"/>
            </a:avLst>
          </a:prstGeom>
          <a:solidFill>
            <a:srgbClr val="FFFFFF"/>
          </a:solidFill>
          <a:ln w="12700">
            <a:solidFill>
              <a:srgbClr val="C7D4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6327648" y="3310128"/>
            <a:ext cx="438912" cy="438912"/>
          </a:xfrm>
          <a:prstGeom prst="ellipse">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road_w.png"/>
          <p:cNvPicPr>
            <a:picLocks noChangeAspect="1"/>
          </p:cNvPicPr>
          <p:nvPr/>
        </p:nvPicPr>
        <p:blipFill>
          <a:blip r:embed="rId6"/>
          <a:stretch>
            <a:fillRect/>
          </a:stretch>
        </p:blipFill>
        <p:spPr>
          <a:xfrm>
            <a:off x="6432986" y="3415466"/>
            <a:ext cx="228234" cy="228234"/>
          </a:xfrm>
          <a:prstGeom prst="rect">
            <a:avLst/>
          </a:prstGeom>
        </p:spPr>
      </p:pic>
      <p:sp>
        <p:nvSpPr>
          <p:cNvPr id="32" name="TextBox 31"/>
          <p:cNvSpPr txBox="1"/>
          <p:nvPr/>
        </p:nvSpPr>
        <p:spPr>
          <a:xfrm>
            <a:off x="6876288" y="3310128"/>
            <a:ext cx="4297680" cy="438912"/>
          </a:xfrm>
          <a:prstGeom prst="rect">
            <a:avLst/>
          </a:prstGeom>
          <a:noFill/>
        </p:spPr>
        <p:txBody>
          <a:bodyPr wrap="square" lIns="36576" tIns="18288" rIns="36576" bIns="18288" anchor="ctr">
            <a:spAutoFit/>
          </a:bodyPr>
          <a:lstStyle/>
          <a:p>
            <a:pPr algn="l">
              <a:spcAft>
                <a:spcPts val="200"/>
              </a:spcAft>
            </a:pPr>
            <a:r>
              <a:rPr sz="1400" b="1" i="0">
                <a:solidFill>
                  <a:srgbClr val="2A55A1"/>
                </a:solidFill>
              </a:rPr>
              <a:t>Next steps</a:t>
            </a:r>
          </a:p>
        </p:txBody>
      </p:sp>
      <p:sp>
        <p:nvSpPr>
          <p:cNvPr id="33" name="TextBox 32"/>
          <p:cNvSpPr txBox="1"/>
          <p:nvPr/>
        </p:nvSpPr>
        <p:spPr>
          <a:xfrm>
            <a:off x="6373368" y="3822191"/>
            <a:ext cx="4846320" cy="1280160"/>
          </a:xfrm>
          <a:prstGeom prst="rect">
            <a:avLst/>
          </a:prstGeom>
          <a:noFill/>
        </p:spPr>
        <p:txBody>
          <a:bodyPr wrap="square" lIns="36576" tIns="18288" rIns="36576" bIns="18288" anchor="t">
            <a:spAutoFit/>
          </a:bodyPr>
          <a:lstStyle/>
          <a:p>
            <a:pPr marL="228600" indent="-228600" algn="l">
              <a:spcAft>
                <a:spcPts val="200"/>
              </a:spcAft>
              <a:buChar char="•"/>
            </a:pPr>
            <a:r>
              <a:rPr sz="1150" b="0" i="0">
                <a:solidFill>
                  <a:srgbClr val="1A1A1A"/>
                </a:solidFill>
              </a:rPr>
              <a:t>Measure on CPU / edge devices (Raspberry Pi, Jetson)</a:t>
            </a:r>
          </a:p>
          <a:p>
            <a:pPr marL="228600" indent="-228600" algn="l">
              <a:spcAft>
                <a:spcPts val="200"/>
              </a:spcAft>
              <a:buChar char="•"/>
            </a:pPr>
            <a:r>
              <a:rPr sz="1150" b="0" i="0">
                <a:solidFill>
                  <a:srgbClr val="1A1A1A"/>
                </a:solidFill>
              </a:rPr>
              <a:t>Better confidence: entropy, temperature scaling</a:t>
            </a:r>
          </a:p>
          <a:p>
            <a:pPr marL="228600" indent="-228600" algn="l">
              <a:spcAft>
                <a:spcPts val="200"/>
              </a:spcAft>
              <a:buChar char="•"/>
            </a:pPr>
            <a:r>
              <a:rPr sz="1150" b="0" i="0">
                <a:solidFill>
                  <a:srgbClr val="1A1A1A"/>
                </a:solidFill>
              </a:rPr>
              <a:t>Per-exit thresholds or a learned exit decision</a:t>
            </a:r>
          </a:p>
          <a:p>
            <a:pPr marL="228600" indent="-228600" algn="l">
              <a:spcAft>
                <a:spcPts val="200"/>
              </a:spcAft>
              <a:buChar char="•"/>
            </a:pPr>
            <a:r>
              <a:rPr sz="1150" b="0" i="0">
                <a:solidFill>
                  <a:srgbClr val="1A1A1A"/>
                </a:solidFill>
              </a:rPr>
              <a:t>Train with noise augmentation; test on CIFAR-10-C</a:t>
            </a:r>
          </a:p>
        </p:txBody>
      </p:sp>
      <p:sp>
        <p:nvSpPr>
          <p:cNvPr id="34" name="Rounded Rectangle 33"/>
          <p:cNvSpPr/>
          <p:nvPr/>
        </p:nvSpPr>
        <p:spPr>
          <a:xfrm>
            <a:off x="841248" y="5285232"/>
            <a:ext cx="10515600" cy="658368"/>
          </a:xfrm>
          <a:prstGeom prst="roundRect">
            <a:avLst>
              <a:gd name="adj" fmla="val 8000"/>
            </a:avLst>
          </a:prstGeom>
          <a:solidFill>
            <a:srgbClr val="2A5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51560" y="5285232"/>
            <a:ext cx="10149840" cy="658368"/>
          </a:xfrm>
          <a:prstGeom prst="rect">
            <a:avLst/>
          </a:prstGeom>
          <a:noFill/>
        </p:spPr>
        <p:txBody>
          <a:bodyPr wrap="square" lIns="36576" tIns="18288" rIns="36576" bIns="18288" anchor="ctr">
            <a:spAutoFit/>
          </a:bodyPr>
          <a:lstStyle/>
          <a:p>
            <a:pPr algn="l">
              <a:spcAft>
                <a:spcPts val="200"/>
              </a:spcAft>
            </a:pPr>
            <a:r>
              <a:rPr sz="1800" b="1" i="0">
                <a:solidFill>
                  <a:srgbClr val="FFFFFF"/>
                </a:solidFill>
              </a:rPr>
              <a:t>Thank you!  </a:t>
            </a:r>
            <a:r>
              <a:rPr sz="1300" b="0" i="0">
                <a:solidFill>
                  <a:srgbClr val="FFFFFF"/>
                </a:solidFill>
              </a:rPr>
              <a:t>Early exiting saves arithmetic, but real speed must be measured, not assumed.  Questions?</a:t>
            </a:r>
          </a:p>
        </p:txBody>
      </p:sp>
    </p:spTree>
  </p:cSld>
  <p:clrMapOvr>
    <a:masterClrMapping/>
  </p:clrMapOvr>
</p:sld>
</file>

<file path=ppt/theme/theme1.xml><?xml version="1.0" encoding="utf-8"?>
<a:theme xmlns:a="http://schemas.openxmlformats.org/drawingml/2006/main" name="Without Logo">
  <a:themeElements>
    <a:clrScheme name="Univitt">
      <a:dk1>
        <a:srgbClr val="1A1A1A"/>
      </a:dk1>
      <a:lt1>
        <a:srgbClr val="FFFFFF"/>
      </a:lt1>
      <a:dk2>
        <a:srgbClr val="2A55A1"/>
      </a:dk2>
      <a:lt2>
        <a:srgbClr val="F2F5FB"/>
      </a:lt2>
      <a:accent1>
        <a:srgbClr val="2A55A1"/>
      </a:accent1>
      <a:accent2>
        <a:srgbClr val="518113"/>
      </a:accent2>
      <a:accent3>
        <a:srgbClr val="3A631C"/>
      </a:accent3>
      <a:accent4>
        <a:srgbClr val="6D82C0"/>
      </a:accent4>
      <a:accent5>
        <a:srgbClr val="7BAE28"/>
      </a:accent5>
      <a:accent6>
        <a:srgbClr val="C7D4F5"/>
      </a:accent6>
      <a:hlink>
        <a:srgbClr val="2A55A1"/>
      </a:hlink>
      <a:folHlink>
        <a:srgbClr val="3A387A"/>
      </a:folHlink>
    </a:clrScheme>
    <a:fontScheme name="Univitt">
      <a:majorFont>
        <a:latin typeface="Bahnschrif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ai Logo">
  <a:themeElements>
    <a:clrScheme name="Univitt">
      <a:dk1>
        <a:srgbClr val="1A1A1A"/>
      </a:dk1>
      <a:lt1>
        <a:srgbClr val="FFFFFF"/>
      </a:lt1>
      <a:dk2>
        <a:srgbClr val="2A55A1"/>
      </a:dk2>
      <a:lt2>
        <a:srgbClr val="F2F5FB"/>
      </a:lt2>
      <a:accent1>
        <a:srgbClr val="2A55A1"/>
      </a:accent1>
      <a:accent2>
        <a:srgbClr val="518113"/>
      </a:accent2>
      <a:accent3>
        <a:srgbClr val="3A631C"/>
      </a:accent3>
      <a:accent4>
        <a:srgbClr val="6D82C0"/>
      </a:accent4>
      <a:accent5>
        <a:srgbClr val="7BAE28"/>
      </a:accent5>
      <a:accent6>
        <a:srgbClr val="C7D4F5"/>
      </a:accent6>
      <a:hlink>
        <a:srgbClr val="2A55A1"/>
      </a:hlink>
      <a:folHlink>
        <a:srgbClr val="3A387A"/>
      </a:folHlink>
    </a:clrScheme>
    <a:fontScheme name="Univitt">
      <a:majorFont>
        <a:latin typeface="Bahnschrif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5056</TotalTime>
  <Words>5436</Words>
  <Application>Microsoft Office PowerPoint</Application>
  <PresentationFormat>Widescreen</PresentationFormat>
  <Paragraphs>407</Paragraphs>
  <Slides>12</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Arial</vt:lpstr>
      <vt:lpstr>Bahnschrift</vt:lpstr>
      <vt:lpstr>Calibri</vt:lpstr>
      <vt:lpstr>Cambria</vt:lpstr>
      <vt:lpstr>Segoe UI</vt:lpstr>
      <vt:lpstr>Tw Cen MT</vt:lpstr>
      <vt:lpstr>Without Logo</vt:lpstr>
      <vt:lpstr>Uai Logo</vt:lpstr>
      <vt:lpstr>Think-or-Stop: An Adaptive Early-Exit CNN</vt:lpstr>
      <vt:lpstr>Why Think-or-Stop? The Problem</vt:lpstr>
      <vt:lpstr>Key Terms: Building Blocks of the CNN</vt:lpstr>
      <vt:lpstr>Datasets and Data Preparation</vt:lpstr>
      <vt:lpstr>Architecture: 3 Stages, 3 Exits</vt:lpstr>
      <vt:lpstr>Training: One Loss, Three Exits</vt:lpstr>
      <vt:lpstr>Adaptive Inference: Think … or Stop?</vt:lpstr>
      <vt:lpstr>Choosing τ Without Cheating</vt:lpstr>
      <vt:lpstr>Results: Accuracy vs Computation (CIFAR-10)</vt:lpstr>
      <vt:lpstr>Results: Is It Faster on the GPU?</vt:lpstr>
      <vt:lpstr>Reliability: Calibration and Noisy Images</vt:lpstr>
      <vt:lpstr>Conclusion, Limitations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&amp; Real-Time Communication</dc:title>
  <dc:subject>Advanced Web Technology</dc:subject>
  <dc:creator>Atharva Sarde</dc:creator>
  <cp:lastModifiedBy>Mrudula Gharat</cp:lastModifiedBy>
  <cp:revision>8</cp:revision>
  <dcterms:created xsi:type="dcterms:W3CDTF">2025-12-11T09:40:20Z</dcterms:created>
  <dcterms:modified xsi:type="dcterms:W3CDTF">2026-10-27T12:15:19Z</dcterms:modified>
</cp:coreProperties>
</file>